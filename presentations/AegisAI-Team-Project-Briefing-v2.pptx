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c705b27023e4c31" /><Relationship Type="http://schemas.openxmlformats.org/officeDocument/2006/relationships/extended-properties" Target="/docProps/app.xml" Id="Rce6830d19b85423f" /><Relationship Type="http://schemas.openxmlformats.org/officeDocument/2006/relationships/officeDocument" Target="/ppt/presentation.xml" Id="R3c7eb4c437954dbd" /></Relationships>
</file>

<file path=ppt/presentation.xml><?xml version="1.0" encoding="utf-8"?>
<p:presentation xmlns:p="http://schemas.openxmlformats.org/presentationml/2006/main">
  <p:sldMasterIdLst>
    <p:sldMasterId xmlns:r="http://schemas.openxmlformats.org/officeDocument/2006/relationships" id="2147483648" r:id="Rf1ef79a160504620"/>
  </p:sldMasterIdLst>
  <p:notesMasterIdLst>
    <p:notesMasterId xmlns:r="http://schemas.openxmlformats.org/officeDocument/2006/relationships" r:id="R6737c40e90e943ef"/>
  </p:notesMasterIdLst>
  <p:sldIdLst>
    <p:sldId xmlns:r="http://schemas.openxmlformats.org/officeDocument/2006/relationships" id="256" r:id="R739f152a5a95431c"/>
    <p:sldId xmlns:r="http://schemas.openxmlformats.org/officeDocument/2006/relationships" id="257" r:id="R55f378601cfd4cd9"/>
    <p:sldId xmlns:r="http://schemas.openxmlformats.org/officeDocument/2006/relationships" id="258" r:id="R5b07dcc347ec45f8"/>
    <p:sldId xmlns:r="http://schemas.openxmlformats.org/officeDocument/2006/relationships" id="259" r:id="R4b2e95f6900c465a"/>
    <p:sldId xmlns:r="http://schemas.openxmlformats.org/officeDocument/2006/relationships" id="260" r:id="R9e14ea81fea5461e"/>
    <p:sldId xmlns:r="http://schemas.openxmlformats.org/officeDocument/2006/relationships" id="261" r:id="Raa839e4869d144c2"/>
    <p:sldId xmlns:r="http://schemas.openxmlformats.org/officeDocument/2006/relationships" id="262" r:id="R796be163e82e4252"/>
    <p:sldId xmlns:r="http://schemas.openxmlformats.org/officeDocument/2006/relationships" id="263" r:id="Raf849c794577424c"/>
    <p:sldId xmlns:r="http://schemas.openxmlformats.org/officeDocument/2006/relationships" id="264" r:id="Rc41096aa0a4d456e"/>
    <p:sldId xmlns:r="http://schemas.openxmlformats.org/officeDocument/2006/relationships" id="265" r:id="R582fd5ccfddc420b"/>
    <p:sldId xmlns:r="http://schemas.openxmlformats.org/officeDocument/2006/relationships" id="266" r:id="R29a94e9157dd4310"/>
    <p:sldId xmlns:r="http://schemas.openxmlformats.org/officeDocument/2006/relationships" id="267" r:id="Rbd2bec6cabf74dc5"/>
    <p:sldId xmlns:r="http://schemas.openxmlformats.org/officeDocument/2006/relationships" id="268" r:id="R1d80244ea7fc458a"/>
    <p:sldId xmlns:r="http://schemas.openxmlformats.org/officeDocument/2006/relationships" id="269" r:id="R965c1acb56e7498e"/>
    <p:sldId xmlns:r="http://schemas.openxmlformats.org/officeDocument/2006/relationships" id="270" r:id="R9157daf89e644067"/>
    <p:sldId xmlns:r="http://schemas.openxmlformats.org/officeDocument/2006/relationships" id="271" r:id="R6b6415957db54245"/>
    <p:sldId xmlns:r="http://schemas.openxmlformats.org/officeDocument/2006/relationships" id="272" r:id="R668bbcc05f9c4c4b"/>
    <p:sldId xmlns:r="http://schemas.openxmlformats.org/officeDocument/2006/relationships" id="273" r:id="Rc78f46b5a37245ed"/>
    <p:sldId xmlns:r="http://schemas.openxmlformats.org/officeDocument/2006/relationships" id="274" r:id="R3d29399e55b74900"/>
    <p:sldId xmlns:r="http://schemas.openxmlformats.org/officeDocument/2006/relationships" id="275" r:id="Ra592b44e33924212"/>
    <p:sldId xmlns:r="http://schemas.openxmlformats.org/officeDocument/2006/relationships" id="276" r:id="Rcd79bbca51c84463"/>
    <p:sldId xmlns:r="http://schemas.openxmlformats.org/officeDocument/2006/relationships" id="277" r:id="R51e8f830730b48a4"/>
    <p:sldId xmlns:r="http://schemas.openxmlformats.org/officeDocument/2006/relationships" id="278" r:id="R37eea6fc7db74824"/>
    <p:sldId xmlns:r="http://schemas.openxmlformats.org/officeDocument/2006/relationships" id="279" r:id="Rb1a4ae0f33d04adf"/>
    <p:sldId xmlns:r="http://schemas.openxmlformats.org/officeDocument/2006/relationships" id="280" r:id="Ra66eebef53e04b11"/>
    <p:sldId xmlns:r="http://schemas.openxmlformats.org/officeDocument/2006/relationships" id="281" r:id="R112eb0b7a2304800"/>
    <p:sldId xmlns:r="http://schemas.openxmlformats.org/officeDocument/2006/relationships" id="282" r:id="R1509a87233794599"/>
    <p:sldId xmlns:r="http://schemas.openxmlformats.org/officeDocument/2006/relationships" id="283" r:id="R4f5cd6ea86f74aac"/>
    <p:sldId xmlns:r="http://schemas.openxmlformats.org/officeDocument/2006/relationships" id="284" r:id="R64881130634c49ab"/>
    <p:sldId xmlns:r="http://schemas.openxmlformats.org/officeDocument/2006/relationships" id="285" r:id="R9df17af2225348c5"/>
    <p:sldId xmlns:r="http://schemas.openxmlformats.org/officeDocument/2006/relationships" id="286" r:id="R2f0a31a905984010"/>
    <p:sldId xmlns:r="http://schemas.openxmlformats.org/officeDocument/2006/relationships" id="287" r:id="Rfaa517c83de64d18"/>
    <p:sldId xmlns:r="http://schemas.openxmlformats.org/officeDocument/2006/relationships" id="288" r:id="Rbc1292da12df4b1b"/>
    <p:sldId xmlns:r="http://schemas.openxmlformats.org/officeDocument/2006/relationships" id="289" r:id="Rde93b31526d14e22"/>
    <p:sldId xmlns:r="http://schemas.openxmlformats.org/officeDocument/2006/relationships" id="290" r:id="R0a4ad2d52c954c77"/>
    <p:sldId xmlns:r="http://schemas.openxmlformats.org/officeDocument/2006/relationships" id="291" r:id="R6071c7ab71c242a2"/>
    <p:sldId xmlns:r="http://schemas.openxmlformats.org/officeDocument/2006/relationships" id="292" r:id="R60648346654d4d57"/>
    <p:sldId xmlns:r="http://schemas.openxmlformats.org/officeDocument/2006/relationships" id="293" r:id="R3f19d00f5d4c4f45"/>
    <p:sldId xmlns:r="http://schemas.openxmlformats.org/officeDocument/2006/relationships" id="294" r:id="R437bc54908b5455b"/>
    <p:sldId xmlns:r="http://schemas.openxmlformats.org/officeDocument/2006/relationships" id="295" r:id="Rf983b55fb324488a"/>
    <p:sldId xmlns:r="http://schemas.openxmlformats.org/officeDocument/2006/relationships" id="296" r:id="R17f7d58316a248cd"/>
    <p:sldId xmlns:r="http://schemas.openxmlformats.org/officeDocument/2006/relationships" id="297" r:id="R16114cc2796147a7"/>
    <p:sldId xmlns:r="http://schemas.openxmlformats.org/officeDocument/2006/relationships" id="298" r:id="Ra55f47a18c694f55"/>
    <p:sldId xmlns:r="http://schemas.openxmlformats.org/officeDocument/2006/relationships" id="299" r:id="R4759d12373634f5a"/>
    <p:sldId xmlns:r="http://schemas.openxmlformats.org/officeDocument/2006/relationships" id="300" r:id="R36491109912a4d45"/>
    <p:sldId xmlns:r="http://schemas.openxmlformats.org/officeDocument/2006/relationships" id="301" r:id="R7d76b9a1413d46ca"/>
    <p:sldId xmlns:r="http://schemas.openxmlformats.org/officeDocument/2006/relationships" id="302" r:id="Rd9815d2b7a894d93"/>
    <p:sldId xmlns:r="http://schemas.openxmlformats.org/officeDocument/2006/relationships" id="303" r:id="R5792f9fe519c4350"/>
    <p:sldId xmlns:r="http://schemas.openxmlformats.org/officeDocument/2006/relationships" id="304" r:id="R93e22f8f5a694277"/>
    <p:sldId xmlns:r="http://schemas.openxmlformats.org/officeDocument/2006/relationships" id="305" r:id="R0bb9ac9674d14863"/>
    <p:sldId xmlns:r="http://schemas.openxmlformats.org/officeDocument/2006/relationships" id="306" r:id="Rab9dee6a837948da"/>
    <p:sldId xmlns:r="http://schemas.openxmlformats.org/officeDocument/2006/relationships" id="307" r:id="Ra885a0b0b1544644"/>
    <p:sldId xmlns:r="http://schemas.openxmlformats.org/officeDocument/2006/relationships" id="308" r:id="Rbb68af8536414221"/>
    <p:sldId xmlns:r="http://schemas.openxmlformats.org/officeDocument/2006/relationships" id="309" r:id="R90af59230394444a"/>
    <p:sldId xmlns:r="http://schemas.openxmlformats.org/officeDocument/2006/relationships" id="310" r:id="Rcb04d89ada28454c"/>
    <p:sldId xmlns:r="http://schemas.openxmlformats.org/officeDocument/2006/relationships" id="311" r:id="Rd6bc98206c104b7e"/>
    <p:sldId xmlns:r="http://schemas.openxmlformats.org/officeDocument/2006/relationships" id="312" r:id="Rcb06471507154c58"/>
    <p:sldId xmlns:r="http://schemas.openxmlformats.org/officeDocument/2006/relationships" id="313" r:id="Rd04370fb46c14941"/>
    <p:sldId xmlns:r="http://schemas.openxmlformats.org/officeDocument/2006/relationships" id="314" r:id="Rfd9a9fe680504532"/>
    <p:sldId xmlns:r="http://schemas.openxmlformats.org/officeDocument/2006/relationships" id="315" r:id="R4a9ce5bbf1ab4668"/>
    <p:sldId xmlns:r="http://schemas.openxmlformats.org/officeDocument/2006/relationships" id="316" r:id="R5ec67de63cdb4392"/>
    <p:sldId xmlns:r="http://schemas.openxmlformats.org/officeDocument/2006/relationships" id="317" r:id="R8309d942441c4b80"/>
    <p:sldId xmlns:r="http://schemas.openxmlformats.org/officeDocument/2006/relationships" id="318" r:id="R20fb4db297544b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b97212c3d842cd" /><Relationship Type="http://schemas.openxmlformats.org/officeDocument/2006/relationships/slideMaster" Target="/ppt/slideMasters/slideMaster1.xml" Id="Rf1ef79a160504620" /><Relationship Type="http://schemas.openxmlformats.org/officeDocument/2006/relationships/notesMaster" Target="/ppt/notesMasters/notesMaster1.xml" Id="R6737c40e90e943ef" /><Relationship Type="http://schemas.openxmlformats.org/officeDocument/2006/relationships/presProps" Target="/ppt/presProps.xml" Id="Rdc6386ecb4174330" /><Relationship Type="http://schemas.openxmlformats.org/officeDocument/2006/relationships/tableStyles" Target="/ppt/tableStyles.xml" Id="Rad1d34daff264ea6" /><Relationship Type="http://schemas.openxmlformats.org/officeDocument/2006/relationships/slide" Target="/ppt/slides/slide1.xml" Id="R739f152a5a95431c" /><Relationship Type="http://schemas.openxmlformats.org/officeDocument/2006/relationships/slide" Target="/ppt/slides/slide2.xml" Id="R55f378601cfd4cd9" /><Relationship Type="http://schemas.openxmlformats.org/officeDocument/2006/relationships/slide" Target="/ppt/slides/slide3.xml" Id="R5b07dcc347ec45f8" /><Relationship Type="http://schemas.openxmlformats.org/officeDocument/2006/relationships/slide" Target="/ppt/slides/slide4.xml" Id="R4b2e95f6900c465a" /><Relationship Type="http://schemas.openxmlformats.org/officeDocument/2006/relationships/slide" Target="/ppt/slides/slide5.xml" Id="R9e14ea81fea5461e" /><Relationship Type="http://schemas.openxmlformats.org/officeDocument/2006/relationships/slide" Target="/ppt/slides/slide6.xml" Id="Raa839e4869d144c2" /><Relationship Type="http://schemas.openxmlformats.org/officeDocument/2006/relationships/slide" Target="/ppt/slides/slide7.xml" Id="R796be163e82e4252" /><Relationship Type="http://schemas.openxmlformats.org/officeDocument/2006/relationships/slide" Target="/ppt/slides/slide8.xml" Id="Raf849c794577424c" /><Relationship Type="http://schemas.openxmlformats.org/officeDocument/2006/relationships/slide" Target="/ppt/slides/slide9.xml" Id="Rc41096aa0a4d456e" /><Relationship Type="http://schemas.openxmlformats.org/officeDocument/2006/relationships/slide" Target="/ppt/slides/slide10.xml" Id="R582fd5ccfddc420b" /><Relationship Type="http://schemas.openxmlformats.org/officeDocument/2006/relationships/slide" Target="/ppt/slides/slide11.xml" Id="R29a94e9157dd4310" /><Relationship Type="http://schemas.openxmlformats.org/officeDocument/2006/relationships/slide" Target="/ppt/slides/slide12.xml" Id="Rbd2bec6cabf74dc5" /><Relationship Type="http://schemas.openxmlformats.org/officeDocument/2006/relationships/slide" Target="/ppt/slides/slide13.xml" Id="R1d80244ea7fc458a" /><Relationship Type="http://schemas.openxmlformats.org/officeDocument/2006/relationships/slide" Target="/ppt/slides/slide14.xml" Id="R965c1acb56e7498e" /><Relationship Type="http://schemas.openxmlformats.org/officeDocument/2006/relationships/slide" Target="/ppt/slides/slide15.xml" Id="R9157daf89e644067" /><Relationship Type="http://schemas.openxmlformats.org/officeDocument/2006/relationships/slide" Target="/ppt/slides/slide16.xml" Id="R6b6415957db54245" /><Relationship Type="http://schemas.openxmlformats.org/officeDocument/2006/relationships/slide" Target="/ppt/slides/slide17.xml" Id="R668bbcc05f9c4c4b" /><Relationship Type="http://schemas.openxmlformats.org/officeDocument/2006/relationships/slide" Target="/ppt/slides/slide18.xml" Id="Rc78f46b5a37245ed" /><Relationship Type="http://schemas.openxmlformats.org/officeDocument/2006/relationships/slide" Target="/ppt/slides/slide19.xml" Id="R3d29399e55b74900" /><Relationship Type="http://schemas.openxmlformats.org/officeDocument/2006/relationships/slide" Target="/ppt/slides/slide20.xml" Id="Ra592b44e33924212" /><Relationship Type="http://schemas.openxmlformats.org/officeDocument/2006/relationships/slide" Target="/ppt/slides/slide21.xml" Id="Rcd79bbca51c84463" /><Relationship Type="http://schemas.openxmlformats.org/officeDocument/2006/relationships/slide" Target="/ppt/slides/slide22.xml" Id="R51e8f830730b48a4" /><Relationship Type="http://schemas.openxmlformats.org/officeDocument/2006/relationships/slide" Target="/ppt/slides/slide23.xml" Id="R37eea6fc7db74824" /><Relationship Type="http://schemas.openxmlformats.org/officeDocument/2006/relationships/slide" Target="/ppt/slides/slide24.xml" Id="Rb1a4ae0f33d04adf" /><Relationship Type="http://schemas.openxmlformats.org/officeDocument/2006/relationships/slide" Target="/ppt/slides/slide25.xml" Id="Ra66eebef53e04b11" /><Relationship Type="http://schemas.openxmlformats.org/officeDocument/2006/relationships/slide" Target="/ppt/slides/slide26.xml" Id="R112eb0b7a2304800" /><Relationship Type="http://schemas.openxmlformats.org/officeDocument/2006/relationships/slide" Target="/ppt/slides/slide27.xml" Id="R1509a87233794599" /><Relationship Type="http://schemas.openxmlformats.org/officeDocument/2006/relationships/slide" Target="/ppt/slides/slide28.xml" Id="R4f5cd6ea86f74aac" /><Relationship Type="http://schemas.openxmlformats.org/officeDocument/2006/relationships/slide" Target="/ppt/slides/slide29.xml" Id="R64881130634c49ab" /><Relationship Type="http://schemas.openxmlformats.org/officeDocument/2006/relationships/slide" Target="/ppt/slides/slide30.xml" Id="R9df17af2225348c5" /><Relationship Type="http://schemas.openxmlformats.org/officeDocument/2006/relationships/slide" Target="/ppt/slides/slide31.xml" Id="R2f0a31a905984010" /><Relationship Type="http://schemas.openxmlformats.org/officeDocument/2006/relationships/slide" Target="/ppt/slides/slide32.xml" Id="Rfaa517c83de64d18" /><Relationship Type="http://schemas.openxmlformats.org/officeDocument/2006/relationships/slide" Target="/ppt/slides/slide33.xml" Id="Rbc1292da12df4b1b" /><Relationship Type="http://schemas.openxmlformats.org/officeDocument/2006/relationships/slide" Target="/ppt/slides/slide34.xml" Id="Rde93b31526d14e22" /><Relationship Type="http://schemas.openxmlformats.org/officeDocument/2006/relationships/slide" Target="/ppt/slides/slide35.xml" Id="R0a4ad2d52c954c77" /><Relationship Type="http://schemas.openxmlformats.org/officeDocument/2006/relationships/slide" Target="/ppt/slides/slide36.xml" Id="R6071c7ab71c242a2" /><Relationship Type="http://schemas.openxmlformats.org/officeDocument/2006/relationships/slide" Target="/ppt/slides/slide37.xml" Id="R60648346654d4d57" /><Relationship Type="http://schemas.openxmlformats.org/officeDocument/2006/relationships/slide" Target="/ppt/slides/slide38.xml" Id="R3f19d00f5d4c4f45" /><Relationship Type="http://schemas.openxmlformats.org/officeDocument/2006/relationships/slide" Target="/ppt/slides/slide39.xml" Id="R437bc54908b5455b" /><Relationship Type="http://schemas.openxmlformats.org/officeDocument/2006/relationships/slide" Target="/ppt/slides/slide40.xml" Id="Rf983b55fb324488a" /><Relationship Type="http://schemas.openxmlformats.org/officeDocument/2006/relationships/slide" Target="/ppt/slides/slide41.xml" Id="R17f7d58316a248cd" /><Relationship Type="http://schemas.openxmlformats.org/officeDocument/2006/relationships/slide" Target="/ppt/slides/slide42.xml" Id="R16114cc2796147a7" /><Relationship Type="http://schemas.openxmlformats.org/officeDocument/2006/relationships/slide" Target="/ppt/slides/slide43.xml" Id="Ra55f47a18c694f55" /><Relationship Type="http://schemas.openxmlformats.org/officeDocument/2006/relationships/slide" Target="/ppt/slides/slide44.xml" Id="R4759d12373634f5a" /><Relationship Type="http://schemas.openxmlformats.org/officeDocument/2006/relationships/slide" Target="/ppt/slides/slide45.xml" Id="R36491109912a4d45" /><Relationship Type="http://schemas.openxmlformats.org/officeDocument/2006/relationships/slide" Target="/ppt/slides/slide46.xml" Id="R7d76b9a1413d46ca" /><Relationship Type="http://schemas.openxmlformats.org/officeDocument/2006/relationships/slide" Target="/ppt/slides/slide47.xml" Id="Rd9815d2b7a894d93" /><Relationship Type="http://schemas.openxmlformats.org/officeDocument/2006/relationships/slide" Target="/ppt/slides/slide48.xml" Id="R5792f9fe519c4350" /><Relationship Type="http://schemas.openxmlformats.org/officeDocument/2006/relationships/slide" Target="/ppt/slides/slide49.xml" Id="R93e22f8f5a694277" /><Relationship Type="http://schemas.openxmlformats.org/officeDocument/2006/relationships/slide" Target="/ppt/slides/slide50.xml" Id="R0bb9ac9674d14863" /><Relationship Type="http://schemas.openxmlformats.org/officeDocument/2006/relationships/slide" Target="/ppt/slides/slide51.xml" Id="Rab9dee6a837948da" /><Relationship Type="http://schemas.openxmlformats.org/officeDocument/2006/relationships/slide" Target="/ppt/slides/slide52.xml" Id="Ra885a0b0b1544644" /><Relationship Type="http://schemas.openxmlformats.org/officeDocument/2006/relationships/slide" Target="/ppt/slides/slide53.xml" Id="Rbb68af8536414221" /><Relationship Type="http://schemas.openxmlformats.org/officeDocument/2006/relationships/slide" Target="/ppt/slides/slide54.xml" Id="R90af59230394444a" /><Relationship Type="http://schemas.openxmlformats.org/officeDocument/2006/relationships/slide" Target="/ppt/slides/slide55.xml" Id="Rcb04d89ada28454c" /><Relationship Type="http://schemas.openxmlformats.org/officeDocument/2006/relationships/slide" Target="/ppt/slides/slide56.xml" Id="Rd6bc98206c104b7e" /><Relationship Type="http://schemas.openxmlformats.org/officeDocument/2006/relationships/slide" Target="/ppt/slides/slide57.xml" Id="Rcb06471507154c58" /><Relationship Type="http://schemas.openxmlformats.org/officeDocument/2006/relationships/slide" Target="/ppt/slides/slide58.xml" Id="Rd04370fb46c14941" /><Relationship Type="http://schemas.openxmlformats.org/officeDocument/2006/relationships/slide" Target="/ppt/slides/slide59.xml" Id="Rfd9a9fe680504532" /><Relationship Type="http://schemas.openxmlformats.org/officeDocument/2006/relationships/slide" Target="/ppt/slides/slide60.xml" Id="R4a9ce5bbf1ab4668" /><Relationship Type="http://schemas.openxmlformats.org/officeDocument/2006/relationships/slide" Target="/ppt/slides/slide61.xml" Id="R5ec67de63cdb4392" /><Relationship Type="http://schemas.openxmlformats.org/officeDocument/2006/relationships/slide" Target="/ppt/slides/slide62.xml" Id="R8309d942441c4b80" /><Relationship Type="http://schemas.openxmlformats.org/officeDocument/2006/relationships/slide" Target="/ppt/slides/slide63.xml" Id="R20fb4db297544b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08ebbef935462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48c01e034c4635" /><Relationship Type="http://schemas.openxmlformats.org/officeDocument/2006/relationships/notesMaster" Target="/ppt/notesMasters/notesMaster1.xml" Id="Rc3e5bca8796e4d73"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416c265d824f4a" /><Relationship Type="http://schemas.openxmlformats.org/officeDocument/2006/relationships/notesMaster" Target="/ppt/notesMasters/notesMaster1.xml" Id="R28356b17f7854721"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0da788658440ca" /><Relationship Type="http://schemas.openxmlformats.org/officeDocument/2006/relationships/notesMaster" Target="/ppt/notesMasters/notesMaster1.xml" Id="Rbdc84d0a45664f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809894a95ae94e5a" /><Relationship Type="http://schemas.openxmlformats.org/officeDocument/2006/relationships/notesMaster" Target="/ppt/notesMasters/notesMaster1.xml" Id="R93c531c246584b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a551635c5e54f0a" /><Relationship Type="http://schemas.openxmlformats.org/officeDocument/2006/relationships/notesMaster" Target="/ppt/notesMasters/notesMaster1.xml" Id="R2585044508284ba1"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198e9d0cf34e72" /><Relationship Type="http://schemas.openxmlformats.org/officeDocument/2006/relationships/notesMaster" Target="/ppt/notesMasters/notesMaster1.xml" Id="R1746b4802beb4c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ae3acf85cb064106" /><Relationship Type="http://schemas.openxmlformats.org/officeDocument/2006/relationships/notesMaster" Target="/ppt/notesMasters/notesMaster1.xml" Id="R1c27de68289f42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d82fb36e8544fc" /><Relationship Type="http://schemas.openxmlformats.org/officeDocument/2006/relationships/notesMaster" Target="/ppt/notesMasters/notesMaster1.xml" Id="R5db9c01a0ce741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b5c177d852743cf" /><Relationship Type="http://schemas.openxmlformats.org/officeDocument/2006/relationships/notesMaster" Target="/ppt/notesMasters/notesMaster1.xml" Id="R8635a87dec76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9def48d11ee47a5" /><Relationship Type="http://schemas.openxmlformats.org/officeDocument/2006/relationships/notesMaster" Target="/ppt/notesMasters/notesMaster1.xml" Id="R473d15b3315d4d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af1f2f270d4657" /><Relationship Type="http://schemas.openxmlformats.org/officeDocument/2006/relationships/notesMaster" Target="/ppt/notesMasters/notesMaster1.xml" Id="Rf98c68f219a2404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fd1e6290694d16" /><Relationship Type="http://schemas.openxmlformats.org/officeDocument/2006/relationships/notesMaster" Target="/ppt/notesMasters/notesMaster1.xml" Id="R18d06791962f4ba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1716c2bef5449ad" /><Relationship Type="http://schemas.openxmlformats.org/officeDocument/2006/relationships/notesMaster" Target="/ppt/notesMasters/notesMaster1.xml" Id="R4ec0b89b66114e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73d69cbd4447a3" /><Relationship Type="http://schemas.openxmlformats.org/officeDocument/2006/relationships/notesMaster" Target="/ppt/notesMasters/notesMaster1.xml" Id="R8eee6a37c634447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35ffc38d754c23" /><Relationship Type="http://schemas.openxmlformats.org/officeDocument/2006/relationships/notesMaster" Target="/ppt/notesMasters/notesMaster1.xml" Id="R0837b1f4d1ce43a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be2bd0d2a274aa0" /><Relationship Type="http://schemas.openxmlformats.org/officeDocument/2006/relationships/notesMaster" Target="/ppt/notesMasters/notesMaster1.xml" Id="Rb95e9d42ed8e4ef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6cb1e4846154a1f" /><Relationship Type="http://schemas.openxmlformats.org/officeDocument/2006/relationships/notesMaster" Target="/ppt/notesMasters/notesMaster1.xml" Id="Rdbb39b24678b427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3141f2286494075" /><Relationship Type="http://schemas.openxmlformats.org/officeDocument/2006/relationships/notesMaster" Target="/ppt/notesMasters/notesMaster1.xml" Id="R1ee8bde7bc5f42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09522292a545b6" /><Relationship Type="http://schemas.openxmlformats.org/officeDocument/2006/relationships/notesMaster" Target="/ppt/notesMasters/notesMaster1.xml" Id="Rc24187e5bc15420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407b171e44d4130" /><Relationship Type="http://schemas.openxmlformats.org/officeDocument/2006/relationships/notesMaster" Target="/ppt/notesMasters/notesMaster1.xml" Id="Rc1220870b55e422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9a052a0a83744e2" /><Relationship Type="http://schemas.openxmlformats.org/officeDocument/2006/relationships/notesMaster" Target="/ppt/notesMasters/notesMaster1.xml" Id="Rdcef51edf2254e2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29960ab6f9c4e43" /><Relationship Type="http://schemas.openxmlformats.org/officeDocument/2006/relationships/notesMaster" Target="/ppt/notesMasters/notesMaster1.xml" Id="R7be8a3078f52473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a7f799c1c3b47f7" /><Relationship Type="http://schemas.openxmlformats.org/officeDocument/2006/relationships/notesMaster" Target="/ppt/notesMasters/notesMaster1.xml" Id="R49adec73f7dc448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b4b80efd8df4a6e" /><Relationship Type="http://schemas.openxmlformats.org/officeDocument/2006/relationships/notesMaster" Target="/ppt/notesMasters/notesMaster1.xml" Id="R2be382eafed4450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9f4f44a42c4a32" /><Relationship Type="http://schemas.openxmlformats.org/officeDocument/2006/relationships/notesMaster" Target="/ppt/notesMasters/notesMaster1.xml" Id="R2a89a54d4419401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4c44aa79e3f4a69" /><Relationship Type="http://schemas.openxmlformats.org/officeDocument/2006/relationships/notesMaster" Target="/ppt/notesMasters/notesMaster1.xml" Id="Re0d80cb7e0e04ec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b3c202926ef4e7f" /><Relationship Type="http://schemas.openxmlformats.org/officeDocument/2006/relationships/notesMaster" Target="/ppt/notesMasters/notesMaster1.xml" Id="Rdcbff8ec06cd490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f98941712124341" /><Relationship Type="http://schemas.openxmlformats.org/officeDocument/2006/relationships/notesMaster" Target="/ppt/notesMasters/notesMaster1.xml" Id="R401bf45a99624d2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731dba35c72041bc" /><Relationship Type="http://schemas.openxmlformats.org/officeDocument/2006/relationships/notesMaster" Target="/ppt/notesMasters/notesMaster1.xml" Id="Rea70386460874ef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f4fcbcafd6604d1f" /><Relationship Type="http://schemas.openxmlformats.org/officeDocument/2006/relationships/notesMaster" Target="/ppt/notesMasters/notesMaster1.xml" Id="R808b844a8c924df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cd177bf21804c1b" /><Relationship Type="http://schemas.openxmlformats.org/officeDocument/2006/relationships/notesMaster" Target="/ppt/notesMasters/notesMaster1.xml" Id="R2ce4c55fc944427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0f39fc3f16142ba" /><Relationship Type="http://schemas.openxmlformats.org/officeDocument/2006/relationships/notesMaster" Target="/ppt/notesMasters/notesMaster1.xml" Id="Rd3261a569e38476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43ee8bdacbe4191" /><Relationship Type="http://schemas.openxmlformats.org/officeDocument/2006/relationships/notesMaster" Target="/ppt/notesMasters/notesMaster1.xml" Id="R8d229990516d4b3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2fa1245492a4816" /><Relationship Type="http://schemas.openxmlformats.org/officeDocument/2006/relationships/notesMaster" Target="/ppt/notesMasters/notesMaster1.xml" Id="Ra0a81a40b3f6466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6620982850dc4e87" /><Relationship Type="http://schemas.openxmlformats.org/officeDocument/2006/relationships/notesMaster" Target="/ppt/notesMasters/notesMaster1.xml" Id="R547ecda94f7e46fe"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303e309d3d8d4bc1" /><Relationship Type="http://schemas.openxmlformats.org/officeDocument/2006/relationships/notesMaster" Target="/ppt/notesMasters/notesMaster1.xml" Id="Rdabea5fcac2a498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ef5677681384e72" /><Relationship Type="http://schemas.openxmlformats.org/officeDocument/2006/relationships/notesMaster" Target="/ppt/notesMasters/notesMaster1.xml" Id="R531618c408624ce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69b855173c94049" /><Relationship Type="http://schemas.openxmlformats.org/officeDocument/2006/relationships/notesMaster" Target="/ppt/notesMasters/notesMaster1.xml" Id="R7b6d042472314bc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acea95f263a4ec6" /><Relationship Type="http://schemas.openxmlformats.org/officeDocument/2006/relationships/notesMaster" Target="/ppt/notesMasters/notesMaster1.xml" Id="R510b45e1aa3f463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9205cf3ffdd4723" /><Relationship Type="http://schemas.openxmlformats.org/officeDocument/2006/relationships/notesMaster" Target="/ppt/notesMasters/notesMaster1.xml" Id="Rb2a715f117e7494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6135da5104c4d6c" /><Relationship Type="http://schemas.openxmlformats.org/officeDocument/2006/relationships/notesMaster" Target="/ppt/notesMasters/notesMaster1.xml" Id="R026732b855ba492b"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edc2d18a2084aec" /><Relationship Type="http://schemas.openxmlformats.org/officeDocument/2006/relationships/notesMaster" Target="/ppt/notesMasters/notesMaster1.xml" Id="Ra1798b506dda44bb"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2b9e499fa074c99" /><Relationship Type="http://schemas.openxmlformats.org/officeDocument/2006/relationships/notesMaster" Target="/ppt/notesMasters/notesMaster1.xml" Id="R3d223d8e8c1c48a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5fdb6d175ee04178" /><Relationship Type="http://schemas.openxmlformats.org/officeDocument/2006/relationships/notesMaster" Target="/ppt/notesMasters/notesMaster1.xml" Id="R96d0650db956457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a37f29ecd5c1478c" /><Relationship Type="http://schemas.openxmlformats.org/officeDocument/2006/relationships/notesMaster" Target="/ppt/notesMasters/notesMaster1.xml" Id="R4f063eb03e26452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f4aa951a92d4fe0" /><Relationship Type="http://schemas.openxmlformats.org/officeDocument/2006/relationships/notesMaster" Target="/ppt/notesMasters/notesMaster1.xml" Id="Reb386e4e0ff34b2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6a27f802a7c4bbe" /><Relationship Type="http://schemas.openxmlformats.org/officeDocument/2006/relationships/notesMaster" Target="/ppt/notesMasters/notesMaster1.xml" Id="R1c71d1f181e9407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20677f2880145a0" /><Relationship Type="http://schemas.openxmlformats.org/officeDocument/2006/relationships/notesMaster" Target="/ppt/notesMasters/notesMaster1.xml" Id="R97d13c6a0ff3469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315cee1a95724f06" /><Relationship Type="http://schemas.openxmlformats.org/officeDocument/2006/relationships/notesMaster" Target="/ppt/notesMasters/notesMaster1.xml" Id="R53eb11f7af7046eb"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66f793dea3f4579" /><Relationship Type="http://schemas.openxmlformats.org/officeDocument/2006/relationships/notesMaster" Target="/ppt/notesMasters/notesMaster1.xml" Id="R3c6fe4c2d80e4426"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153a84793684e35" /><Relationship Type="http://schemas.openxmlformats.org/officeDocument/2006/relationships/notesMaster" Target="/ppt/notesMasters/notesMaster1.xml" Id="Rabcf4466a62d4e25"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ab64ff74bde0499c" /><Relationship Type="http://schemas.openxmlformats.org/officeDocument/2006/relationships/notesMaster" Target="/ppt/notesMasters/notesMaster1.xml" Id="Rf071d65bbe8645fd"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92ede8a636774a37" /><Relationship Type="http://schemas.openxmlformats.org/officeDocument/2006/relationships/notesMaster" Target="/ppt/notesMasters/notesMaster1.xml" Id="Ra43e68731d9946b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0a6f1b6ef294157" /><Relationship Type="http://schemas.openxmlformats.org/officeDocument/2006/relationships/notesMaster" Target="/ppt/notesMasters/notesMaster1.xml" Id="R0b4defab591d4f8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449dec1908242eb" /><Relationship Type="http://schemas.openxmlformats.org/officeDocument/2006/relationships/notesMaster" Target="/ppt/notesMasters/notesMaster1.xml" Id="Rf4758f5396bd42b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4a4a170a257245e8" /><Relationship Type="http://schemas.openxmlformats.org/officeDocument/2006/relationships/notesMaster" Target="/ppt/notesMasters/notesMaster1.xml" Id="R522baa07023a4e34"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15cb311a0da4d7f" /><Relationship Type="http://schemas.openxmlformats.org/officeDocument/2006/relationships/notesMaster" Target="/ppt/notesMasters/notesMaster1.xml" Id="R9f46a1988be246f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f9dc5c74a8d41dc" /><Relationship Type="http://schemas.openxmlformats.org/officeDocument/2006/relationships/notesMaster" Target="/ppt/notesMasters/notesMaster1.xml" Id="R46d5191c756b43d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005a07daf5724d35" /><Relationship Type="http://schemas.openxmlformats.org/officeDocument/2006/relationships/notesMaster" Target="/ppt/notesMasters/notesMaster1.xml" Id="R37117cf09de645b5"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3e7a21755b94554" /><Relationship Type="http://schemas.openxmlformats.org/officeDocument/2006/relationships/notesMaster" Target="/ppt/notesMasters/notesMaster1.xml" Id="R9ce3bd394da34e9a"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e2bc93c011d4a57" /><Relationship Type="http://schemas.openxmlformats.org/officeDocument/2006/relationships/notesMaster" Target="/ppt/notesMasters/notesMaster1.xml" Id="R6b8e7d5446ae406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2893e0b3451344b8" /><Relationship Type="http://schemas.openxmlformats.org/officeDocument/2006/relationships/notesMaster" Target="/ppt/notesMasters/notesMaster1.xml" Id="Rb006dd13d2164acf"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44c94eb6d0b44201" /><Relationship Type="http://schemas.openxmlformats.org/officeDocument/2006/relationships/notesMaster" Target="/ppt/notesMasters/notesMaster1.xml" Id="Rcfba611a721741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AegisAI</a:t>
            </a:r>
          </a:p>
          <a:p xmlns:a="http://schemas.openxmlformats.org/drawingml/2006/main">
            <a:r>
              <a:t/>
            </a:r>
          </a:p>
          <a:p xmlns:a="http://schemas.openxmlformats.org/drawingml/2006/main">
            <a:r>
              <a:t>Product portfolio and research programme</a:t>
            </a:r>
          </a:p>
          <a:p xmlns:a="http://schemas.openxmlformats.org/drawingml/2006/main">
            <a:r>
              <a:t/>
            </a:r>
          </a:p>
          <a:p xmlns:a="http://schemas.openxmlformats.org/drawingml/2006/main">
            <a:r>
              <a:t/>
            </a:r>
          </a:p>
          <a:p xmlns:a="http://schemas.openxmlformats.org/drawingml/2006/main">
            <a:r>
              <a:t/>
            </a:r>
          </a:p>
          <a:p xmlns:a="http://schemas.openxmlformats.org/drawingml/2006/main">
            <a:r>
              <a:t>Project documentation: implementation-plan/README.md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direction and current status</a:t>
            </a:r>
          </a:p>
          <a:p xmlns:a="http://schemas.openxmlformats.org/drawingml/2006/main">
            <a:r>
              <a:t/>
            </a:r>
          </a:p>
          <a:p xmlns:a="http://schemas.openxmlformats.org/drawingml/2006/main">
            <a:r>
              <a:t>Four independently usable products share one platform.</a:t>
            </a:r>
          </a:p>
          <a:p xmlns:a="http://schemas.openxmlformats.org/drawingml/2006/main">
            <a:r>
              <a:t/>
            </a:r>
          </a:p>
          <a:p xmlns:a="http://schemas.openxmlformats.org/drawingml/2006/main">
            <a:r>
              <a:t>Own products: AegisAI owns the workflows, evidence model, customer experience and operations.</a:t>
            </a:r>
          </a:p>
          <a:p xmlns:a="http://schemas.openxmlformats.org/drawingml/2006/main">
            <a:r>
              <a:t/>
            </a:r>
          </a:p>
          <a:p xmlns:a="http://schemas.openxmlformats.org/drawingml/2006/main">
            <a:r>
              <a:t>First delivery: Human Firewall reaches its first production release within months 3–6.</a:t>
            </a:r>
          </a:p>
          <a:p xmlns:a="http://schemas.openxmlformats.org/drawingml/2006/main">
            <a:r>
              <a:t/>
            </a:r>
          </a:p>
          <a:p xmlns:a="http://schemas.openxmlformats.org/drawingml/2006/main">
            <a:r>
              <a:t>Implementation status: The documentation defines planned work. Product releases and customer validation remain ahead.</a:t>
            </a:r>
          </a:p>
          <a:p xmlns:a="http://schemas.openxmlformats.org/drawingml/2006/main">
            <a:r>
              <a:t/>
            </a:r>
          </a:p>
          <a:p xmlns:a="http://schemas.openxmlformats.org/drawingml/2006/main">
            <a:r>
              <a:t>Planning basis: A lean team of 2–4 contributors runs one primary product stream.</a:t>
            </a:r>
          </a:p>
          <a:p xmlns:a="http://schemas.openxmlformats.org/drawingml/2006/main">
            <a:r>
              <a:t/>
            </a:r>
          </a:p>
          <a:p xmlns:a="http://schemas.openxmlformats.org/drawingml/2006/main">
            <a:r>
              <a:t>Project documentation: implementation-plan/01-portfolio-strategy.md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Portfolio strategy</a:t>
            </a:r>
          </a:p>
          <a:p xmlns:a="http://schemas.openxmlformats.org/drawingml/2006/main">
            <a:r>
              <a:t/>
            </a:r>
          </a:p>
          <a:p xmlns:a="http://schemas.openxmlformats.org/drawingml/2006/main">
            <a:r>
              <a:t>[Index](README.md) · Design baseline, 18 September 2026 · Owner: Product Lead</a:t>
            </a:r>
          </a:p>
          <a:p xmlns:a="http://schemas.openxmlformats.org/drawingml/2006/main">
            <a:r>
              <a:t/>
            </a:r>
          </a:p>
          <a:p xmlns:a="http://schemas.openxmlformats.org/drawingml/2006/main">
            <a:r>
              <a:t>## Customer and promise</a:t>
            </a:r>
          </a:p>
          <a:p xmlns:a="http://schemas.openxmlformats.org/drawingml/2006/main">
            <a:r>
              <a:t/>
            </a:r>
          </a:p>
          <a:p xmlns:a="http://schemas.openxmlformats.org/drawingml/2006/main">
            <a:r>
              <a:t>Initial customer hypothesis: Portuguese SMEs with 20–200 employees, a small IT team or outsourced IT, and a named owner willing to run a measured pilot. This size range is a planning assumption to test, not a verified market conclusion. Prioritise professional services and technology-enabled SMEs for early discovery; avoid safety-critical production environments in the first releases.</a:t>
            </a:r>
          </a:p>
          <a:p xmlns:a="http://schemas.openxmlformats.org/drawingml/2006/main">
            <a:r>
              <a:t/>
            </a:r>
          </a:p>
          <a:p xmlns:a="http://schemas.openxmlformats.org/drawingml/2006/main">
            <a:r>
              <a:t>Offer usable security workflows, understandable evidence, Portuguese support, and privacy-conscious operation. Do not advertise an autonomous SOC, guaranteed incident prevention, automatic compliance, or a proven training efficacy improvement before supporting evidence exists.</a:t>
            </a:r>
          </a:p>
          <a:p xmlns:a="http://schemas.openxmlformats.org/drawingml/2006/main">
            <a:r>
              <a:t/>
            </a:r>
          </a:p>
          <a:p xmlns:a="http://schemas.openxmlformats.org/drawingml/2006/main">
            <a:r>
              <a:t>The initial paid product is Human Firewall. Optional secure connectivity supports deployment; it is no longer a mandatory bundled VPN offer. This supersedes the earlier combined access-and-training proposal.</a:t>
            </a:r>
          </a:p>
          <a:p xmlns:a="http://schemas.openxmlformats.org/drawingml/2006/main">
            <a:r>
              <a:t/>
            </a:r>
          </a:p>
          <a:p xmlns:a="http://schemas.openxmlformats.org/drawingml/2006/main">
            <a:r>
              <a:t>## Portfolio outcomes</a:t>
            </a:r>
          </a:p>
          <a:p xmlns:a="http://schemas.openxmlformats.org/drawingml/2006/main">
            <a:r>
              <a:t/>
            </a:r>
          </a:p>
          <a:p xmlns:a="http://schemas.openxmlformats.org/drawingml/2006/main">
            <a:r>
              <a:t>| Product | Buyer and user | Own-product differentiation hypothesis | Principal business measure |</a:t>
            </a:r>
          </a:p>
          <a:p xmlns:a="http://schemas.openxmlformats.org/drawingml/2006/main">
            <a:r>
              <a:t>|---|---|---|---|</a:t>
            </a:r>
          </a:p>
          <a:p xmlns:a="http://schemas.openxmlformats.org/drawingml/2006/main">
            <a:r>
              <a:t>| Human Firewall | SME owner/IT administrator; employees | Practical Portuguese scenarios, transparent adaptation, respectful feedback and simple administration | Paid renewal, usable learning outcomes, administration time |</a:t>
            </a:r>
          </a:p>
          <a:p xmlns:a="http://schemas.openxmlformats.org/drawingml/2006/main">
            <a:r>
              <a:t>| Security Operations | IT owner or service partner; investigator | One evidence chain from asset/software exposure to finding and reviewed remediation | Useful findings per investigation hour and renewal |</a:t>
            </a:r>
          </a:p>
          <a:p xmlns:a="http://schemas.openxmlformats.org/drawingml/2006/main">
            <a:r>
              <a:t>| Defense Box and Validation | IT provider or local infrastructure owner | Locally processed monitoring plus scoped, repeatable validation and remediation retests | Supportable deployments and verified remediation |</a:t>
            </a:r>
          </a:p>
          <a:p xmlns:a="http://schemas.openxmlformats.org/drawingml/2006/main">
            <a:r>
              <a:t>| Agent Security | Engineering/security lead; agent operators | Application-level tool authority and execution evidence connected to identity and model policy | Prevented policy violations with acceptable task success/cost |</a:t>
            </a:r>
          </a:p>
          <a:p xmlns:a="http://schemas.openxmlformats.org/drawingml/2006/main">
            <a:r>
              <a:t/>
            </a:r>
          </a:p>
          <a:p xmlns:a="http://schemas.openxmlformats.org/drawingml/2006/main">
            <a:r>
              <a:t>Each product can be purchased, enabled, and removed independently. Shared identity, audit and deployment are platform capabilities, not compulsory cross-selling of other modules.</a:t>
            </a:r>
          </a:p>
          <a:p xmlns:a="http://schemas.openxmlformats.org/drawingml/2006/main">
            <a:r>
              <a:t/>
            </a:r>
          </a:p>
          <a:p xmlns:a="http://schemas.openxmlformats.org/drawingml/2006/main">
            <a:r>
              <a:t>## Scope and operating principles</a:t>
            </a:r>
          </a:p>
          <a:p xmlns:a="http://schemas.openxmlformats.org/drawingml/2006/main">
            <a:r>
              <a:t/>
            </a:r>
          </a:p>
          <a:p xmlns:a="http://schemas.openxmlformats.org/drawingml/2006/main">
            <a:r>
              <a:t>- One primary product stream; research prototypes cannot quietly become additional supported products.</a:t>
            </a:r>
          </a:p>
          <a:p xmlns:a="http://schemas.openxmlformats.org/drawingml/2006/main">
            <a:r>
              <a:t>- EU-managed isolated customer stacks first; edge processing for sensitive telemetry. On-premise commercial support follows repeatable packaging and demonstrated demand.</a:t>
            </a:r>
          </a:p>
          <a:p xmlns:a="http://schemas.openxmlformats.org/drawingml/2006/main">
            <a:r>
              <a:t>- Build product-specific intelligence, workflows, UX, integrations and evidence. Reuse cryptography, identity standards, scanners, sensors and execution runtimes where appropriate.</a:t>
            </a:r>
          </a:p>
          <a:p xmlns:a="http://schemas.openxmlformats.org/drawingml/2006/main">
            <a:r>
              <a:t>- Use validated rules as initial baselines. Promote ML or agentic behaviour only when it improves a measured outcome at acceptable cost and risk.</a:t>
            </a:r>
          </a:p>
          <a:p xmlns:a="http://schemas.openxmlformats.org/drawingml/2006/main">
            <a:r>
              <a:t>- Learning profiles are not employee risk rankings. No biometric emotion inference or personality-based access decisions in client products.</a:t>
            </a:r>
          </a:p>
          <a:p xmlns:a="http://schemas.openxmlformats.org/drawingml/2006/main">
            <a:r>
              <a:t>- Guided response precedes approved automation. Models propose; deterministic policy and authorised people control consequential actions.</a:t>
            </a:r>
          </a:p>
          <a:p xmlns:a="http://schemas.openxmlformats.org/drawingml/2006/main">
            <a:r>
              <a:t>- Open-source deliverables must be useful and reproducible. Paid offerings fund operation, enterprise administration, integrations and support.</a:t>
            </a:r>
          </a:p>
          <a:p xmlns:a="http://schemas.openxmlformats.org/drawingml/2006/main">
            <a:r>
              <a:t/>
            </a:r>
          </a:p>
          <a:p xmlns:a="http://schemas.openxmlformats.org/drawingml/2006/main">
            <a:r>
              <a:t>## Wider vision preserved</a:t>
            </a:r>
          </a:p>
          <a:p xmlns:a="http://schemas.openxmlformats.org/drawingml/2006/main">
            <a:r>
              <a:t/>
            </a:r>
          </a:p>
          <a:p xmlns:a="http://schemas.openxmlformats.org/drawingml/2006/main">
            <a:r>
              <a:t>The longer-term portfolio retains UEBA/graph research, local AI, explainability, controlled adversarial testing, federation, industrial/IoT monitoring, recovery exercises, insurer evidence export, and national-framework mappings. Industrial pilots and international expansion require partner readiness and capacity after the core releases. They are not commitments to launch additional products inside the same lean-team budget.</a:t>
            </a:r>
          </a:p>
          <a:p xmlns:a="http://schemas.openxmlformats.org/drawingml/2006/main">
            <a:r>
              <a:t/>
            </a:r>
          </a:p>
          <a:p xmlns:a="http://schemas.openxmlformats.org/drawingml/2006/main">
            <a:r>
              <a:t>## Capacity and authority</a:t>
            </a:r>
          </a:p>
          <a:p xmlns:a="http://schemas.openxmlformats.org/drawingml/2006/main">
            <a:r>
              <a:t/>
            </a:r>
          </a:p>
          <a:p xmlns:a="http://schemas.openxmlformats.org/drawingml/2006/main">
            <a:r>
              <a:t>Roles: Product Lead (PL), Platform/Security Lead (PS), Application Engineer (AE), Research Lead (RL). People may hold multiple roles; production-impacting changes still require a second reviewer. Independent assessment is contracted for each materially new product surface before general availability.</a:t>
            </a:r>
          </a:p>
          <a:p xmlns:a="http://schemas.openxmlformats.org/drawingml/2006/main">
            <a:r>
              <a:t/>
            </a:r>
          </a:p>
          <a:p xmlns:a="http://schemas.openxmlformats.org/drawingml/2006/main">
            <a:r>
              <a:t>Planning baseline: three full-time equivalents, approximately 60% primary product, 20% research/discovery, 20% maintenance/support. This is 1.8 product FTE, not three full parallel teams. At two contributors, reduce scope or extend dependent milestones; at four, add reliability/customer integration capacity before parallel product launches. If support exceeds 20% for two consecutive sprints, pause feature expansion and remediate the operating burden.</a:t>
            </a:r>
          </a:p>
          <a:p xmlns:a="http://schemas.openxmlformats.org/drawingml/2006/main">
            <a:r>
              <a:t/>
            </a:r>
          </a:p>
          <a:p xmlns:a="http://schemas.openxmlformats.org/drawingml/2006/main">
            <a:r>
              <a:t>The Product Lead owns scope and pricing; PS owns technical release approval; RL owns research claims. Legal applicability and upstream commercial terms require qualified external confirmation before the relevant commitment. These checks do not block unrelated engineering.</a:t>
            </a:r>
          </a:p>
          <a:p xmlns:a="http://schemas.openxmlformats.org/drawingml/2006/main">
            <a:r>
              <a:t/>
            </a:r>
          </a:p>
          <a:p xmlns:a="http://schemas.openxmlformats.org/drawingml/2006/main">
            <a:r>
              <a:t>## Decision criteria</a:t>
            </a:r>
          </a:p>
          <a:p xmlns:a="http://schemas.openxmlformats.org/drawingml/2006/main">
            <a:r>
              <a:t/>
            </a:r>
          </a:p>
          <a:p xmlns:a="http://schemas.openxmlformats.org/drawingml/2006/main">
            <a:r>
              <a:t>At every release gate assess customer use, repeatable delivery, security evidence, operating cost and research honesty. Recruitment, conversion, and effectiveness targets are hypotheses. Failed commercial validation triggers packaging/scope revision; failed safety or isolation tests block release. [Roadmap](08-roadmap-backlog.md) defines sequencing and [production handbook](12-production-handbook.md) defines evidence.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01  Products: Customer outcomes and release boundaries</a:t>
            </a:r>
          </a:p>
          <a:p xmlns:a="http://schemas.openxmlformats.org/drawingml/2006/main">
            <a:r>
              <a:t/>
            </a:r>
          </a:p>
          <a:p xmlns:a="http://schemas.openxmlformats.org/drawingml/2006/main">
            <a:r>
              <a:t>02  Platform: Architecture, NetBird and interfaces</a:t>
            </a:r>
          </a:p>
          <a:p xmlns:a="http://schemas.openxmlformats.org/drawingml/2006/main">
            <a:r>
              <a:t/>
            </a:r>
          </a:p>
          <a:p xmlns:a="http://schemas.openxmlformats.org/drawingml/2006/main">
            <a:r>
              <a:t>03  Research: Experiments, agent workspace and evidence</a:t>
            </a:r>
          </a:p>
          <a:p xmlns:a="http://schemas.openxmlformats.org/drawingml/2006/main">
            <a:r>
              <a:t/>
            </a:r>
          </a:p>
          <a:p xmlns:a="http://schemas.openxmlformats.org/drawingml/2006/main">
            <a:r>
              <a:t>04  Delivery: Roadmap, owners, business model and release gates</a:t>
            </a:r>
          </a:p>
          <a:p xmlns:a="http://schemas.openxmlformats.org/drawingml/2006/main">
            <a:r>
              <a:t/>
            </a:r>
          </a:p>
          <a:p xmlns:a="http://schemas.openxmlformats.org/drawingml/2006/main">
            <a:r>
              <a:t>Project documentation: implementation-plan/README.md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vision remains broader than training</a:t>
            </a:r>
          </a:p>
          <a:p xmlns:a="http://schemas.openxmlformats.org/drawingml/2006/main">
            <a:r>
              <a:t/>
            </a:r>
          </a:p>
          <a:p xmlns:a="http://schemas.openxmlformats.org/drawingml/2006/main">
            <a:r>
              <a:t/>
            </a:r>
          </a:p>
          <a:p xmlns:a="http://schemas.openxmlformats.org/drawingml/2006/main">
            <a:r>
              <a:t/>
            </a:r>
          </a:p>
          <a:p xmlns:a="http://schemas.openxmlformats.org/drawingml/2006/main">
            <a:r>
              <a:t>Govern and identify / Evidence mapping, assets, software dependencies and data governance</a:t>
            </a:r>
          </a:p>
          <a:p xmlns:a="http://schemas.openxmlformats.org/drawingml/2006/main">
            <a:r>
              <a:t>Protect and detect / Learning, access recommendations, local monitoring and UEBA research</a:t>
            </a:r>
          </a:p>
          <a:p xmlns:a="http://schemas.openxmlformats.org/drawingml/2006/main">
            <a:r>
              <a:t>Respond and recover / Guided remediation, approved actions and recovery exercises</a:t>
            </a:r>
          </a:p>
          <a:p xmlns:a="http://schemas.openxmlformats.org/drawingml/2006/main">
            <a:r>
              <a:t>Longer-term development / Federation, industrial monitoring, insurance evidence and new markets</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Decisions that reshape the earlier plans</a:t>
            </a:r>
          </a:p>
          <a:p xmlns:a="http://schemas.openxmlformats.org/drawingml/2006/main">
            <a:r>
              <a:t/>
            </a:r>
          </a:p>
          <a:p xmlns:a="http://schemas.openxmlformats.org/drawingml/2006/main">
            <a:r>
              <a:t/>
            </a:r>
          </a:p>
          <a:p xmlns:a="http://schemas.openxmlformats.org/drawingml/2006/main">
            <a:r>
              <a:t/>
            </a:r>
          </a:p>
          <a:p xmlns:a="http://schemas.openxmlformats.org/drawingml/2006/main">
            <a:r>
              <a:t>Shorter first product: Gamification has a 3–6-month delivery window, followed by capped maintenance.</a:t>
            </a:r>
          </a:p>
          <a:p xmlns:a="http://schemas.openxmlformats.org/drawingml/2006/main">
            <a:r>
              <a:t/>
            </a:r>
          </a:p>
          <a:p xmlns:a="http://schemas.openxmlformats.org/drawingml/2006/main">
            <a:r>
              <a:t>Earlier engineering foundations: Identity, deployment, observability and recovery start before the first pilot.</a:t>
            </a:r>
          </a:p>
          <a:p xmlns:a="http://schemas.openxmlformats.org/drawingml/2006/main">
            <a:r>
              <a:t/>
            </a:r>
          </a:p>
          <a:p xmlns:a="http://schemas.openxmlformats.org/drawingml/2006/main">
            <a:r>
              <a:t>Evidence before claims: Synthetic demonstrations and research prototypes stay distinct from customer results.</a:t>
            </a:r>
          </a:p>
          <a:p xmlns:a="http://schemas.openxmlformats.org/drawingml/2006/main">
            <a:r>
              <a:t/>
            </a:r>
          </a:p>
          <a:p xmlns:a="http://schemas.openxmlformats.org/drawingml/2006/main">
            <a:r>
              <a:t>Selective upstream reuse: NetBird informs architecture and business design. Its use stays optional.</a:t>
            </a:r>
          </a:p>
          <a:p xmlns:a="http://schemas.openxmlformats.org/drawingml/2006/main">
            <a:r>
              <a:t/>
            </a:r>
          </a:p>
          <a:p xmlns:a="http://schemas.openxmlformats.org/drawingml/2006/main">
            <a:r>
              <a:t>Project documentation: implementation-plan/14-decisions.md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Architecture and product decision register</a:t>
            </a:r>
          </a:p>
          <a:p xmlns:a="http://schemas.openxmlformats.org/drawingml/2006/main">
            <a:r>
              <a:t/>
            </a:r>
          </a:p>
          <a:p xmlns:a="http://schemas.openxmlformats.org/drawingml/2006/main">
            <a:r>
              <a:t>[Index](README.md) · Baseline established 18 September 2026</a:t>
            </a:r>
          </a:p>
          <a:p xmlns:a="http://schemas.openxmlformats.org/drawingml/2006/main">
            <a:r>
              <a:t/>
            </a:r>
          </a:p>
          <a:p xmlns:a="http://schemas.openxmlformats.org/drawingml/2006/main">
            <a:r>
              <a:t>“Accepted” means the planning direction is selected; it does not mean implemented or legally validated. Product names are working labels. Actual staffing, customer contracts and infrastructure purchases are not established by this pack.</a:t>
            </a:r>
          </a:p>
          <a:p xmlns:a="http://schemas.openxmlformats.org/drawingml/2006/main">
            <a:r>
              <a:t/>
            </a:r>
          </a:p>
          <a:p xmlns:a="http://schemas.openxmlformats.org/drawingml/2006/main">
            <a:r>
              <a:t>| ADR | Decision / status | Rationale | Revisit trigger / owner |</a:t>
            </a:r>
          </a:p>
          <a:p xmlns:a="http://schemas.openxmlformats.org/drawingml/2006/main">
            <a:r>
              <a:t>|---|---|---|---|</a:t>
            </a:r>
          </a:p>
          <a:p xmlns:a="http://schemas.openxmlformats.org/drawingml/2006/main">
            <a:r>
              <a:t>| ADR-01 | Accepted: own four-product portfolio, one primary stream | Preserve breadth with lean-team execution | Capacity/customer evidence; PL |</a:t>
            </a:r>
          </a:p>
          <a:p xmlns:a="http://schemas.openxmlformats.org/drawingml/2006/main">
            <a:r>
              <a:t>| ADR-02 | Accepted: training delivered in M3–6 | First commercial learning cycle; prevent indefinite gamification focus | Gate failure changes breadth, not silent quality reduction; PL |</a:t>
            </a:r>
          </a:p>
          <a:p xmlns:a="http://schemas.openxmlformats.org/drawingml/2006/main">
            <a:r>
              <a:t>| ADR-03 | Accepted: Operations → Defense Box → Agent Security | User-selected priority order | Explicit portfolio review/user direction; PL |</a:t>
            </a:r>
          </a:p>
          <a:p xmlns:a="http://schemas.openxmlformats.org/drawingml/2006/main">
            <a:r>
              <a:t>| ADR-04 | Accepted: relative 24-month roadmap | Discard old project dates | Record kickoff and capacity changes; PL |</a:t>
            </a:r>
          </a:p>
          <a:p xmlns:a="http://schemas.openxmlformats.org/drawingml/2006/main">
            <a:r>
              <a:t>| ADR-05 | Accepted: NetBird reference/optional adapter, no initial fork | Own product/IP while reusing mature connectivity | Documented unmet requirement and funded maintenance; PS |</a:t>
            </a:r>
          </a:p>
          <a:p xmlns:a="http://schemas.openxmlformats.org/drawingml/2006/main">
            <a:r>
              <a:t>| ADR-06 | Accepted: isolated EU-managed customer stacks | Simple initial trust and operational boundary | Measured fleet cost and funded multi-tenancy security work; PS |</a:t>
            </a:r>
          </a:p>
          <a:p xmlns:a="http://schemas.openxmlformats.org/drawingml/2006/main">
            <a:r>
              <a:t>| ADR-07 | Accepted: modular API/workers/PostgreSQL | Minimise early infrastructure overhead | Measured throughput/durability need; PS |</a:t>
            </a:r>
          </a:p>
          <a:p xmlns:a="http://schemas.openxmlformats.org/drawingml/2006/main">
            <a:r>
              <a:t>| ADR-08 | Accepted: web-first, software appliance before hardware | Reduce supported surface and inventory risk | Offline/install requirements or partner-funded hardware need; PL/PS |</a:t>
            </a:r>
          </a:p>
          <a:p xmlns:a="http://schemas.openxmlformats.org/drawingml/2006/main">
            <a:r>
              <a:t>| ADR-09 | Accepted: local raw telemetry/minimised central evidence | Resolve data-lake versus privacy conflict | Purpose-based customer review; PS |</a:t>
            </a:r>
          </a:p>
          <a:p xmlns:a="http://schemas.openxmlformats.org/drawingml/2006/main">
            <a:r>
              <a:t>| ADR-10 | Accepted: learning/security purpose separation | Avoid employee ranking and unintended access consequences | No automatic expansion; PL/legal reviewer |</a:t>
            </a:r>
          </a:p>
          <a:p xmlns:a="http://schemas.openxmlformats.org/drawingml/2006/main">
            <a:r>
              <a:t>| ADR-11 | Accepted: deterministic approval/tool policy outside models | Model output is not authority | Stronger verified policy mechanism; PS |</a:t>
            </a:r>
          </a:p>
          <a:p xmlns:a="http://schemas.openxmlformats.org/drawingml/2006/main">
            <a:r>
              <a:t>| ADR-12 | Accepted: internal agent workspace first | Learn from bounded real tasks before commercialisation | R6/customer evidence; RL |</a:t>
            </a:r>
          </a:p>
          <a:p xmlns:a="http://schemas.openxmlformats.org/drawingml/2006/main">
            <a:r>
              <a:t>| ADR-13 | Accepted: research baseline before feature promotion | Prevent synthetic metrics becoming production claims | R0–R6 promotion evidence; RL/PS |</a:t>
            </a:r>
          </a:p>
          <a:p xmlns:a="http://schemas.openxmlformats.org/drawingml/2006/main">
            <a:r>
              <a:t>| ADR-14 | Default: Apache-2.0 for original community components | Useful adoption and research reuse | IP/upstream compatibility review before publication; PL |</a:t>
            </a:r>
          </a:p>
          <a:p xmlns:a="http://schemas.openxmlformats.org/drawingml/2006/main">
            <a:r>
              <a:t>| ADR-15 | Accepted: GA assessed at every product release | Production maturity cannot wait for final integration | No waiver of critical controls; PS |</a:t>
            </a:r>
          </a:p>
          <a:p xmlns:a="http://schemas.openxmlformats.org/drawingml/2006/main">
            <a:r>
              <a:t>| ADR-16 | Accepted: source documents and portal preserved | Maintain history and avoid unrequested migration | Separate authorised portal import; PL |</a:t>
            </a:r>
          </a:p>
          <a:p xmlns:a="http://schemas.openxmlformats.org/drawingml/2006/main">
            <a:r>
              <a:t/>
            </a:r>
          </a:p>
          <a:p xmlns:a="http://schemas.openxmlformats.org/drawingml/2006/main">
            <a:r>
              <a:t>## External validations, with safe defaults</a:t>
            </a:r>
          </a:p>
          <a:p xmlns:a="http://schemas.openxmlformats.org/drawingml/2006/main">
            <a:r>
              <a:t/>
            </a:r>
          </a:p>
          <a:p xmlns:a="http://schemas.openxmlformats.org/drawingml/2006/main">
            <a:r>
              <a:t>| Item | Owner and deadline | Default until resolved |</a:t>
            </a:r>
          </a:p>
          <a:p xmlns:a="http://schemas.openxmlformats.org/drawingml/2006/main">
            <a:r>
              <a:t>|---|---|---|</a:t>
            </a:r>
          </a:p>
          <a:p xmlns:a="http://schemas.openxmlformats.org/drawingml/2006/main">
            <a:r>
              <a:t>| Named team and kickoff | PL, before first sprint | Relative schedule; no claims about current capacity |</a:t>
            </a:r>
          </a:p>
          <a:p xmlns:a="http://schemas.openxmlformats.org/drawingml/2006/main">
            <a:r>
              <a:t>| Pilot identity provider and event access | PS/PL, before customer integration | OIDC-capable staging IdP and synthetic/exported fixtures; no live access assumed |</a:t>
            </a:r>
          </a:p>
          <a:p xmlns:a="http://schemas.openxmlformats.org/drawingml/2006/main">
            <a:r>
              <a:t>| EU host, region, processing terms and cost | PS, before provisioning | No provider purchase; specified isolated architecture |</a:t>
            </a:r>
          </a:p>
          <a:p xmlns:a="http://schemas.openxmlformats.org/drawingml/2006/main">
            <a:r>
              <a:t>| NetBird commercial terms where needed | PL, before paid upstream capability is sold | Community lab only; no HA/SCIM/traffic-streaming promise |</a:t>
            </a:r>
          </a:p>
          <a:p xmlns:a="http://schemas.openxmlformats.org/drawingml/2006/main">
            <a:r>
              <a:t>| DPIA/legal role and product applicability | PL, before affected processing/shipment | Minimise data and exclude uncertain high-impact feature |</a:t>
            </a:r>
          </a:p>
          <a:p xmlns:a="http://schemas.openxmlformats.org/drawingml/2006/main">
            <a:r>
              <a:t>| Model licence/hardware | RL, before adoption | Benchmark candidates on permitted data; no GPU purchase |</a:t>
            </a:r>
          </a:p>
          <a:p xmlns:a="http://schemas.openxmlformats.org/drawingml/2006/main">
            <a:r>
              <a:t>| Community/proprietary licence boundary | PL, before publication | Keep original ownership/notices; publish nothing automatically |</a:t>
            </a:r>
          </a:p>
          <a:p xmlns:a="http://schemas.openxmlformats.org/drawingml/2006/main">
            <a:r>
              <a:t>| Independent assessment provider | PS, before GA | Gate remains pending until assessment/retests complete |</a:t>
            </a:r>
          </a:p>
          <a:p xmlns:a="http://schemas.openxmlformats.org/drawingml/2006/main">
            <a:r>
              <a:t/>
            </a:r>
          </a:p>
          <a:p xmlns:a="http://schemas.openxmlformats.org/drawingml/2006/main">
            <a:r>
              <a:t>## Updating decisions</a:t>
            </a:r>
          </a:p>
          <a:p xmlns:a="http://schemas.openxmlformats.org/drawingml/2006/main">
            <a:r>
              <a:t/>
            </a:r>
          </a:p>
          <a:p xmlns:a="http://schemas.openxmlformats.org/drawingml/2006/main">
            <a:r>
              <a:t>A change records the problem, evidence, considered alternatives, selected approach, owner, date, consequences, migration plan and affected contracts/gates. Preserve superseded entries. Changes in framework fashion or model rankings alone do not justify a platform migration.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Four products and their release windows</a:t>
            </a:r>
          </a:p>
          <a:p xmlns:a="http://schemas.openxmlformats.org/drawingml/2006/main">
            <a:r>
              <a:t/>
            </a:r>
          </a:p>
          <a:p xmlns:a="http://schemas.openxmlformats.org/drawingml/2006/main">
            <a:r>
              <a:t/>
            </a:r>
          </a:p>
          <a:p xmlns:a="http://schemas.openxmlformats.org/drawingml/2006/main">
            <a:r>
              <a:t/>
            </a:r>
          </a:p>
          <a:p xmlns:a="http://schemas.openxmlformats.org/drawingml/2006/main">
            <a:r>
              <a:t>Human Firewall / Months 3–6 / Learning and reporting behaviour</a:t>
            </a:r>
          </a:p>
          <a:p xmlns:a="http://schemas.openxmlformats.org/drawingml/2006/main">
            <a:r>
              <a:t>Security Operations / Months 10–12 / Exposure, findings and guided response</a:t>
            </a:r>
          </a:p>
          <a:p xmlns:a="http://schemas.openxmlformats.org/drawingml/2006/main">
            <a:r>
              <a:t>Defense Box and Validation / Months 16–18 / Local monitoring and repeatable checks</a:t>
            </a:r>
          </a:p>
          <a:p xmlns:a="http://schemas.openxmlformats.org/drawingml/2006/main">
            <a:r>
              <a:t>Agent Security / Months 22–24 / Agent authority and execution evidence</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Customers and product buyers</a:t>
            </a:r>
          </a:p>
          <a:p xmlns:a="http://schemas.openxmlformats.org/drawingml/2006/main">
            <a:r>
              <a:t/>
            </a:r>
          </a:p>
          <a:p xmlns:a="http://schemas.openxmlformats.org/drawingml/2006/main">
            <a:r>
              <a:t/>
            </a:r>
          </a:p>
          <a:p xmlns:a="http://schemas.openxmlformats.org/drawingml/2006/main">
            <a:r>
              <a:t/>
            </a:r>
          </a:p>
          <a:p xmlns:a="http://schemas.openxmlformats.org/drawingml/2006/main">
            <a:r>
              <a:t>Human Firewall / SME owner or IT administrator / Employees and training administrator</a:t>
            </a:r>
          </a:p>
          <a:p xmlns:a="http://schemas.openxmlformats.org/drawingml/2006/main">
            <a:r>
              <a:t>Security Operations / IT owner or service partner / Investigator and operator</a:t>
            </a:r>
          </a:p>
          <a:p xmlns:a="http://schemas.openxmlformats.org/drawingml/2006/main">
            <a:r>
              <a:t>Defense Box / Infrastructure owner or IT provider / Local infrastructure operator</a:t>
            </a:r>
          </a:p>
          <a:p xmlns:a="http://schemas.openxmlformats.org/drawingml/2006/main">
            <a:r>
              <a:t>Agent Security / Engineering or security lead / Developers and agent operators</a:t>
            </a:r>
          </a:p>
          <a:p xmlns:a="http://schemas.openxmlformats.org/drawingml/2006/main">
            <a:r>
              <a:t/>
            </a:r>
          </a:p>
          <a:p xmlns:a="http://schemas.openxmlformats.org/drawingml/2006/main">
            <a:r>
              <a:t>Project documentation: implementation-plan/01-portfolio-strategy.md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success means</a:t>
            </a:r>
          </a:p>
          <a:p xmlns:a="http://schemas.openxmlformats.org/drawingml/2006/main">
            <a:r>
              <a:t/>
            </a:r>
          </a:p>
          <a:p xmlns:a="http://schemas.openxmlformats.org/drawingml/2006/main">
            <a:r>
              <a:t/>
            </a:r>
          </a:p>
          <a:p xmlns:a="http://schemas.openxmlformats.org/drawingml/2006/main">
            <a:r>
              <a:t/>
            </a:r>
          </a:p>
          <a:p xmlns:a="http://schemas.openxmlformats.org/drawingml/2006/main">
            <a:r>
              <a:t>Customer value: Users complete the intended workflow and buyers see enough value to renew.</a:t>
            </a:r>
          </a:p>
          <a:p xmlns:a="http://schemas.openxmlformats.org/drawingml/2006/main">
            <a:r>
              <a:t/>
            </a:r>
          </a:p>
          <a:p xmlns:a="http://schemas.openxmlformats.org/drawingml/2006/main">
            <a:r>
              <a:t>Operational reliability: The team can deploy, support, upgrade and restore each supported product.</a:t>
            </a:r>
          </a:p>
          <a:p xmlns:a="http://schemas.openxmlformats.org/drawingml/2006/main">
            <a:r>
              <a:t/>
            </a:r>
          </a:p>
          <a:p xmlns:a="http://schemas.openxmlformats.org/drawingml/2006/main">
            <a:r>
              <a:t>Research quality: Claims trace to datasets, methods and reproducible results.</a:t>
            </a:r>
          </a:p>
          <a:p xmlns:a="http://schemas.openxmlformats.org/drawingml/2006/main">
            <a:r>
              <a:t/>
            </a:r>
          </a:p>
          <a:p xmlns:a="http://schemas.openxmlformats.org/drawingml/2006/main">
            <a:r>
              <a:t>Sustainable delivery: Measured support and infrastructure costs fit the commercial offer.</a:t>
            </a:r>
          </a:p>
          <a:p xmlns:a="http://schemas.openxmlformats.org/drawingml/2006/main">
            <a:r>
              <a:t/>
            </a:r>
          </a:p>
          <a:p xmlns:a="http://schemas.openxmlformats.org/drawingml/2006/main">
            <a:r>
              <a:t>Project documentation: implementation-plan/01-portfolio-strategy.md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Firewall</a:t>
            </a:r>
          </a:p>
          <a:p xmlns:a="http://schemas.openxmlformats.org/drawingml/2006/main">
            <a:r>
              <a:t/>
            </a:r>
          </a:p>
          <a:p xmlns:a="http://schemas.openxmlformats.org/drawingml/2006/main">
            <a:r>
              <a:t>A short learning cycle with clear feedback and useful reporting.</a:t>
            </a:r>
          </a:p>
          <a:p xmlns:a="http://schemas.openxmlformats.org/drawingml/2006/main">
            <a:r>
              <a:t/>
            </a:r>
          </a:p>
          <a:p xmlns:a="http://schemas.openxmlformats.org/drawingml/2006/main">
            <a:r>
              <a:t>Administrator: Assign a role-relevant programme and review completion evidence.</a:t>
            </a:r>
          </a:p>
          <a:p xmlns:a="http://schemas.openxmlformats.org/drawingml/2006/main">
            <a:r>
              <a:t/>
            </a:r>
          </a:p>
          <a:p xmlns:a="http://schemas.openxmlformats.org/drawingml/2006/main">
            <a:r>
              <a:t>Learner: Complete a scenario, understand the answer and optionally give feedback.</a:t>
            </a:r>
          </a:p>
          <a:p xmlns:a="http://schemas.openxmlformats.org/drawingml/2006/main">
            <a:r>
              <a:t/>
            </a:r>
          </a:p>
          <a:p xmlns:a="http://schemas.openxmlformats.org/drawingml/2006/main">
            <a:r>
              <a:t>Recommendation: Use transparent rules based on skills and stated difficulty or relevance.</a:t>
            </a:r>
          </a:p>
          <a:p xmlns:a="http://schemas.openxmlformats.org/drawingml/2006/main">
            <a:r>
              <a:t/>
            </a:r>
          </a:p>
          <a:p xmlns:a="http://schemas.openxmlformats.org/drawingml/2006/main">
            <a:r>
              <a:t>Delivery: Responsive Portuguese web experience with resumable progress.</a:t>
            </a:r>
          </a:p>
          <a:p xmlns:a="http://schemas.openxmlformats.org/drawingml/2006/main">
            <a:r>
              <a:t/>
            </a:r>
          </a:p>
          <a:p xmlns:a="http://schemas.openxmlformats.org/drawingml/2006/main">
            <a:r>
              <a:t>Project documentation: implementation-plan/products/01-human-firewall.md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 1: Human Firewall</a:t>
            </a:r>
          </a:p>
          <a:p xmlns:a="http://schemas.openxmlformats.org/drawingml/2006/main">
            <a:r>
              <a:t/>
            </a:r>
          </a:p>
          <a:p xmlns:a="http://schemas.openxmlformats.org/drawingml/2006/main">
            <a:r>
              <a:t>[Index](../README.md) · Owner: Application Engineer; accountable: Product Lead · Target: pilot by month 3, production in months 4–6</a:t>
            </a:r>
          </a:p>
          <a:p xmlns:a="http://schemas.openxmlformats.org/drawingml/2006/main">
            <a:r>
              <a:t/>
            </a:r>
          </a:p>
          <a:p xmlns:a="http://schemas.openxmlformats.org/drawingml/2006/main">
            <a:r>
              <a:t>## Purpose and customer journey</a:t>
            </a:r>
          </a:p>
          <a:p xmlns:a="http://schemas.openxmlformats.org/drawingml/2006/main">
            <a:r>
              <a:t/>
            </a:r>
          </a:p>
          <a:p xmlns:a="http://schemas.openxmlformats.org/drawingml/2006/main">
            <a:r>
              <a:t>An SME administrator invites learners, selects a role-relevant programme, reviews aggregate progress and exports evidence. A learner completes a short scenario, receives an explanation, optionally reports difficulty or relevance, and receives a transparent next recommendation. The product remains usable when model services are unavailable.</a:t>
            </a:r>
          </a:p>
          <a:p xmlns:a="http://schemas.openxmlformats.org/drawingml/2006/main">
            <a:r>
              <a:t/>
            </a:r>
          </a:p>
          <a:p xmlns:a="http://schemas.openxmlformats.org/drawingml/2006/main">
            <a:r>
              <a:t>Initial content covers phishing/reporting, MFA and account protection, safe information handling, and incident reporting. Deliver at least 12 reviewed Portuguese scenarios, including three interactive scenarios in the pilot baseline. Use a responsive web interface with keyboard navigation, readable feedback, resumable progress and no mandatory 3D/native application.</a:t>
            </a:r>
          </a:p>
          <a:p xmlns:a="http://schemas.openxmlformats.org/drawingml/2006/main">
            <a:r>
              <a:t/>
            </a:r>
          </a:p>
          <a:p xmlns:a="http://schemas.openxmlformats.org/drawingml/2006/main">
            <a:r>
              <a:t>## Release scope</a:t>
            </a:r>
          </a:p>
          <a:p xmlns:a="http://schemas.openxmlformats.org/drawingml/2006/main">
            <a:r>
              <a:t/>
            </a:r>
          </a:p>
          <a:p xmlns:a="http://schemas.openxmlformats.org/drawingml/2006/main">
            <a:r>
              <a:t>- Organisation roles: administrator, content reviewer and learner; scoped service-operator support access.</a:t>
            </a:r>
          </a:p>
          <a:p xmlns:a="http://schemas.openxmlformats.org/drawingml/2006/main">
            <a:r>
              <a:t>- Versioned content and assignments, progress, knowledge checks, completion records and report export.</a:t>
            </a:r>
          </a:p>
          <a:p xmlns:a="http://schemas.openxmlformats.org/drawingml/2006/main">
            <a:r>
              <a:t>- Supportive achievements and personal progress; no public individual risk leaderboard, punitive streak or personality scoring.</a:t>
            </a:r>
          </a:p>
          <a:p xmlns:a="http://schemas.openxmlformats.org/drawingml/2006/main">
            <a:r>
              <a:t>- Rule-based recommendation from demonstrated skills and explicit feedback, with a visible reason and manual reassignment.</a:t>
            </a:r>
          </a:p>
          <a:p xmlns:a="http://schemas.openxmlformats.org/drawingml/2006/main">
            <a:r>
              <a:t>- Aggregate reporting and individual assignment completion for authorised administrators; detailed feedback restricted by purpose.</a:t>
            </a:r>
          </a:p>
          <a:p xmlns:a="http://schemas.openxmlformats.org/drawingml/2006/main">
            <a:r>
              <a:t>- Pilot assessment and optional benign phishing exercises only under a separate agreed scope; ordinary training is the default.</a:t>
            </a:r>
          </a:p>
          <a:p xmlns:a="http://schemas.openxmlformats.org/drawingml/2006/main">
            <a:r>
              <a:t/>
            </a:r>
          </a:p>
          <a:p xmlns:a="http://schemas.openxmlformats.org/drawingml/2006/main">
            <a:r>
              <a:t>Training outcomes never automatically change network access. Models may draft content, but a reviewer approves it before publication. No unrestricted live-generated lessons or instructions are sent to employees.</a:t>
            </a:r>
          </a:p>
          <a:p xmlns:a="http://schemas.openxmlformats.org/drawingml/2006/main">
            <a:r>
              <a:t/>
            </a:r>
          </a:p>
          <a:p xmlns:a="http://schemas.openxmlformats.org/drawingml/2006/main">
            <a:r>
              <a:t>## Implementation backlog</a:t>
            </a:r>
          </a:p>
          <a:p xmlns:a="http://schemas.openxmlformats.org/drawingml/2006/main">
            <a:r>
              <a:t/>
            </a:r>
          </a:p>
          <a:p xmlns:a="http://schemas.openxmlformats.org/drawingml/2006/main">
            <a:r>
              <a:t>| ID | Deliverable | Dependency | Acceptance evidence |</a:t>
            </a:r>
          </a:p>
          <a:p xmlns:a="http://schemas.openxmlformats.org/drawingml/2006/main">
            <a:r>
              <a:t>|---|---|---|---|</a:t>
            </a:r>
          </a:p>
          <a:p xmlns:a="http://schemas.openxmlformats.org/drawingml/2006/main">
            <a:r>
              <a:t>| HF-01 | Content taxonomy and first three scenarios | PL interviews, WP3 | Reviewed Portuguese content; clear learning objective and answer rationale |</a:t>
            </a:r>
          </a:p>
          <a:p xmlns:a="http://schemas.openxmlformats.org/drawingml/2006/main">
            <a:r>
              <a:t>| HF-02 | Learner/admin journeys and accessible UI | CORE-01, HF-01 | End-to-end assign → learn → feedback → report test |</a:t>
            </a:r>
          </a:p>
          <a:p xmlns:a="http://schemas.openxmlformats.org/drawingml/2006/main">
            <a:r>
              <a:t>| HF-03 | Content/assignment versioning and outcome schema | CORE-02 | Historical completion remains linked to the content actually seen |</a:t>
            </a:r>
          </a:p>
          <a:p xmlns:a="http://schemas.openxmlformats.org/drawingml/2006/main">
            <a:r>
              <a:t>| HF-04 | Transparent recommendation rules | HF-03, R1 protocol | Same valid inputs produce an explained recommendation; missing data falls back to baseline |</a:t>
            </a:r>
          </a:p>
          <a:p xmlns:a="http://schemas.openxmlformats.org/drawingml/2006/main">
            <a:r>
              <a:t>| HF-05 | Reporting/export and privacy controls | CORE-01/02 | Tenant isolation, authorised completion view, small-group disclosure review |</a:t>
            </a:r>
          </a:p>
          <a:p xmlns:a="http://schemas.openxmlformats.org/drawingml/2006/main">
            <a:r>
              <a:t>| HF-06 | Twelve-scenario programme and pilot onboarding | HF-01/02 | Content/security review and administrator walkthrough |</a:t>
            </a:r>
          </a:p>
          <a:p xmlns:a="http://schemas.openxmlformats.org/drawingml/2006/main">
            <a:r>
              <a:t>| HF-07 | Production hardening and evidence pack | HF-02–06, CORE-03–05 | G2 criteria and customer support runbooks passed |</a:t>
            </a:r>
          </a:p>
          <a:p xmlns:a="http://schemas.openxmlformats.org/drawingml/2006/main">
            <a:r>
              <a:t/>
            </a:r>
          </a:p>
          <a:p xmlns:a="http://schemas.openxmlformats.org/drawingml/2006/main">
            <a:r>
              <a:t>## Evaluation and release</a:t>
            </a:r>
          </a:p>
          <a:p xmlns:a="http://schemas.openxmlformats.org/drawingml/2006/main">
            <a:r>
              <a:t/>
            </a:r>
          </a:p>
          <a:p xmlns:a="http://schemas.openxmlformats.org/drawingml/2006/main">
            <a:r>
              <a:t>Pilot with 3–5 recruited organisations as a target, not an assumption of existing customers. Use R1 to compare static versus adapted recommendations. Primary learning endpoint is delayed knowledge retention; operational measures include reporting behaviour, completion and administrator effort. Record missing follow-up and participant burden. Do not infer causal efficacy from a small uncontrolled pilot.</a:t>
            </a:r>
          </a:p>
          <a:p xmlns:a="http://schemas.openxmlformats.org/drawingml/2006/main">
            <a:r>
              <a:t/>
            </a:r>
          </a:p>
          <a:p xmlns:a="http://schemas.openxmlformats.org/drawingml/2006/main">
            <a:r>
              <a:t>G1: complete journeys, correct assignment isolation, usable content, recoverable database, monitoring and pilot privacy terms. G2: independent security review, critical/high findings resolved, restore/upgrade evidence, accessible principal workflows, all scenarios reviewed, and support ownership. Pricing/renewal evidence is assessed separately from technical readiness.</a:t>
            </a:r>
          </a:p>
          <a:p xmlns:a="http://schemas.openxmlformats.org/drawingml/2006/main">
            <a:r>
              <a:t/>
            </a:r>
          </a:p>
          <a:p xmlns:a="http://schemas.openxmlformats.org/drawingml/2006/main">
            <a:r>
              <a:t>After G2, allocate maintenance/content updates within the portfolio support allowance; do not extend the primary development stream indefinitely. New adaptive ML requires the same evidence gate as other research features.</a:t>
            </a:r>
          </a:p>
          <a:p xmlns:a="http://schemas.openxmlformats.org/drawingml/2006/main">
            <a:r>
              <a:t/>
            </a:r>
          </a:p>
          <a:p xmlns:a="http://schemas.openxmlformats.org/drawingml/2006/main">
            <a:r>
              <a:t>## Research context</a:t>
            </a:r>
          </a:p>
          <a:p xmlns:a="http://schemas.openxmlformats.org/drawingml/2006/main">
            <a:r>
              <a:t/>
            </a:r>
          </a:p>
          <a:p xmlns:a="http://schemas.openxmlformats.org/drawingml/2006/main">
            <a:r>
              <a:t>Large field evidence finds limited benefit from some common training formats, supporting measured comparison rather than an assumed risk-reduction percentage. [Original phishing-training study](https://www.sysnet.ucsd.edu/~voelker/pubs/phishtrain-oakland25.pdf). The product's initial promise is usable learning and reporting workflows; demonstrated efficacy is a research outcome to establish.</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Firewall release scope</a:t>
            </a:r>
          </a:p>
          <a:p xmlns:a="http://schemas.openxmlformats.org/drawingml/2006/main">
            <a:r>
              <a:t/>
            </a:r>
          </a:p>
          <a:p xmlns:a="http://schemas.openxmlformats.org/drawingml/2006/main">
            <a:r>
              <a:t/>
            </a:r>
          </a:p>
          <a:p xmlns:a="http://schemas.openxmlformats.org/drawingml/2006/main">
            <a:r>
              <a:t/>
            </a:r>
          </a:p>
          <a:p xmlns:a="http://schemas.openxmlformats.org/drawingml/2006/main">
            <a:r>
              <a:t>12 reviewed Portuguese scenarios / Three interactive scenarios support the pilot baseline</a:t>
            </a:r>
          </a:p>
          <a:p xmlns:a="http://schemas.openxmlformats.org/drawingml/2006/main">
            <a:r>
              <a:t>Assignments, outcomes and reports / Content versions stay linked to historical completion</a:t>
            </a:r>
          </a:p>
          <a:p xmlns:a="http://schemas.openxmlformats.org/drawingml/2006/main">
            <a:r>
              <a:t>Personal progress and achievements / No public individual risk leaderboard or personality scoring</a:t>
            </a:r>
          </a:p>
          <a:p xmlns:a="http://schemas.openxmlformats.org/drawingml/2006/main">
            <a:r>
              <a:t>Rule-based adaptation / Learning results never automatically change network access</a:t>
            </a:r>
          </a:p>
          <a:p xmlns:a="http://schemas.openxmlformats.org/drawingml/2006/main">
            <a:r>
              <a:t/>
            </a:r>
          </a:p>
          <a:p xmlns:a="http://schemas.openxmlformats.org/drawingml/2006/main">
            <a:r>
              <a:t>Project documentation: implementation-plan/products/01-human-firewall.md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Human Firewall implementation sequence</a:t>
            </a:r>
          </a:p>
          <a:p xmlns:a="http://schemas.openxmlformats.org/drawingml/2006/main">
            <a:r>
              <a:t/>
            </a:r>
          </a:p>
          <a:p xmlns:a="http://schemas.openxmlformats.org/drawingml/2006/main">
            <a:r>
              <a:t/>
            </a:r>
          </a:p>
          <a:p xmlns:a="http://schemas.openxmlformats.org/drawingml/2006/main">
            <a:r>
              <a:t/>
            </a:r>
          </a:p>
          <a:p xmlns:a="http://schemas.openxmlformats.org/drawingml/2006/main">
            <a:r>
              <a:t>Content and learner journey / HF-01–03 / Reviewed scenarios and complete assignment flow</a:t>
            </a:r>
          </a:p>
          <a:p xmlns:a="http://schemas.openxmlformats.org/drawingml/2006/main">
            <a:r>
              <a:t>Adaptation and reports / HF-04–05 / Explained recommendations and authorised exports</a:t>
            </a:r>
          </a:p>
          <a:p xmlns:a="http://schemas.openxmlformats.org/drawingml/2006/main">
            <a:r>
              <a:t>Pilot onboarding / HF-06 / Reviewed programme and administrator walkthrough</a:t>
            </a:r>
          </a:p>
          <a:p xmlns:a="http://schemas.openxmlformats.org/drawingml/2006/main">
            <a:r>
              <a:t>Production hardening / HF-07 / Security, recovery and support requirements pass</a:t>
            </a:r>
          </a:p>
          <a:p xmlns:a="http://schemas.openxmlformats.org/drawingml/2006/main">
            <a:r>
              <a:t/>
            </a:r>
          </a:p>
          <a:p xmlns:a="http://schemas.openxmlformats.org/drawingml/2006/main">
            <a:r>
              <a:t>Project documentation: implementation-plan/products/01-human-firewall.md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Operations</a:t>
            </a:r>
          </a:p>
          <a:p xmlns:a="http://schemas.openxmlformats.org/drawingml/2006/main">
            <a:r>
              <a:t/>
            </a:r>
          </a:p>
          <a:p xmlns:a="http://schemas.openxmlformats.org/drawingml/2006/main">
            <a:r>
              <a:t>A traceable investigation connects exposure to remediation.</a:t>
            </a:r>
          </a:p>
          <a:p xmlns:a="http://schemas.openxmlformats.org/drawingml/2006/main">
            <a:r>
              <a:t/>
            </a:r>
          </a:p>
          <a:p xmlns:a="http://schemas.openxmlformats.org/drawingml/2006/main">
            <a:r>
              <a:t>Observe: Import assets, software components and selected security events.</a:t>
            </a:r>
          </a:p>
          <a:p xmlns:a="http://schemas.openxmlformats.org/drawingml/2006/main">
            <a:r>
              <a:t/>
            </a:r>
          </a:p>
          <a:p xmlns:a="http://schemas.openxmlformats.org/drawingml/2006/main">
            <a:r>
              <a:t>Prioritise: Show exposure context, source freshness and the basis for each finding.</a:t>
            </a:r>
          </a:p>
          <a:p xmlns:a="http://schemas.openxmlformats.org/drawingml/2006/main">
            <a:r>
              <a:t/>
            </a:r>
          </a:p>
          <a:p xmlns:a="http://schemas.openxmlformats.org/drawingml/2006/main">
            <a:r>
              <a:t>Investigate: Record evidence, ownership, notes and a guided response plan.</a:t>
            </a:r>
          </a:p>
          <a:p xmlns:a="http://schemas.openxmlformats.org/drawingml/2006/main">
            <a:r>
              <a:t/>
            </a:r>
          </a:p>
          <a:p xmlns:a="http://schemas.openxmlformats.org/drawingml/2006/main">
            <a:r>
              <a:t>Verify: Track remediation and preserve evidence supporting closure.</a:t>
            </a:r>
          </a:p>
          <a:p xmlns:a="http://schemas.openxmlformats.org/drawingml/2006/main">
            <a:r>
              <a:t/>
            </a:r>
          </a:p>
          <a:p xmlns:a="http://schemas.openxmlformats.org/drawingml/2006/main">
            <a:r>
              <a:t>Project documentation: implementation-plan/products/02-security-operations.md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 2: Security Operations</a:t>
            </a:r>
          </a:p>
          <a:p xmlns:a="http://schemas.openxmlformats.org/drawingml/2006/main">
            <a:r>
              <a:t/>
            </a:r>
          </a:p>
          <a:p xmlns:a="http://schemas.openxmlformats.org/drawingml/2006/main">
            <a:r>
              <a:t>[Index](../README.md) · Owner: Platform/Security Lead · Target: pilot months 7–9, production months 10–12</a:t>
            </a:r>
          </a:p>
          <a:p xmlns:a="http://schemas.openxmlformats.org/drawingml/2006/main">
            <a:r>
              <a:t/>
            </a:r>
          </a:p>
          <a:p xmlns:a="http://schemas.openxmlformats.org/drawingml/2006/main">
            <a:r>
              <a:t>## Purpose and first workflow</a:t>
            </a:r>
          </a:p>
          <a:p xmlns:a="http://schemas.openxmlformats.org/drawingml/2006/main">
            <a:r>
              <a:t/>
            </a:r>
          </a:p>
          <a:p xmlns:a="http://schemas.openxmlformats.org/drawingml/2006/main">
            <a:r>
              <a:t>Help a small IT team connect exposure to action: import assets and an SBOM, enrich software vulnerabilities, inspect evidence and uncertainty, prioritise a finding, assign remediation, and verify closure. The product works without the training module. It is not a replacement promise for a staffed 24/7 SOC.</a:t>
            </a:r>
          </a:p>
          <a:p xmlns:a="http://schemas.openxmlformats.org/drawingml/2006/main">
            <a:r>
              <a:t/>
            </a:r>
          </a:p>
          <a:p xmlns:a="http://schemas.openxmlformats.org/drawingml/2006/main">
            <a:r>
              <a:t>## First-release boundaries</a:t>
            </a:r>
          </a:p>
          <a:p xmlns:a="http://schemas.openxmlformats.org/drawingml/2006/main">
            <a:r>
              <a:t/>
            </a:r>
          </a:p>
          <a:p xmlns:a="http://schemas.openxmlformats.org/drawingml/2006/main">
            <a:r>
              <a:t>Start with customer inventory import, CycloneDX JSON SBOM ingestion, OSV advisory enrichment and one supported security-event connector. Default connector implementation is Wazuh JSON alert ingestion; use exported sample records before requesting live access. If the pilot cannot provide this source, use documented file ingestion rather than building several new connectors simultaneously.</a:t>
            </a:r>
          </a:p>
          <a:p xmlns:a="http://schemas.openxmlformats.org/drawingml/2006/main">
            <a:r>
              <a:t/>
            </a:r>
          </a:p>
          <a:p xmlns:a="http://schemas.openxmlformats.org/drawingml/2006/main">
            <a:r>
              <a:t>Asset discovery begins with imports and observed metadata. Active discovery is a separately scoped action. Maintain source/last-seen/confidence fields and resolve conflicting asset identities through review rather than silently merging unrelated devices.</a:t>
            </a:r>
          </a:p>
          <a:p xmlns:a="http://schemas.openxmlformats.org/drawingml/2006/main">
            <a:r>
              <a:t/>
            </a:r>
          </a:p>
          <a:p xmlns:a="http://schemas.openxmlformats.org/drawingml/2006/main">
            <a:r>
              <a:t>Prioritisation uses transparent rules: asset criticality, exposure evidence, advisory severity and available exploitation context. Unknown reachability remains unknown. Show feed freshness and the evidence behind a recommendation; do not assume a package is exploitable solely because it appears in an SBOM. [CycloneDX](https://cyclonedx.org/specification/overview/), [OSV](https://osv.dev/).</a:t>
            </a:r>
          </a:p>
          <a:p xmlns:a="http://schemas.openxmlformats.org/drawingml/2006/main">
            <a:r>
              <a:t/>
            </a:r>
          </a:p>
          <a:p xmlns:a="http://schemas.openxmlformats.org/drawingml/2006/main">
            <a:r>
              <a:t>Support finding triage, investigator notes, case linkage, remediation assignments, and three guided playbooks: suspicious authentication review, vulnerable dependency remediation, and suspected phishing response. Initial execution produces a reviewed action plan or export; automated account/endpoint changes require the shared approval executor and a tested target integration.</a:t>
            </a:r>
          </a:p>
          <a:p xmlns:a="http://schemas.openxmlformats.org/drawingml/2006/main">
            <a:r>
              <a:t/>
            </a:r>
          </a:p>
          <a:p xmlns:a="http://schemas.openxmlformats.org/drawingml/2006/main">
            <a:r>
              <a:t>## Implementation backlog</a:t>
            </a:r>
          </a:p>
          <a:p xmlns:a="http://schemas.openxmlformats.org/drawingml/2006/main">
            <a:r>
              <a:t/>
            </a:r>
          </a:p>
          <a:p xmlns:a="http://schemas.openxmlformats.org/drawingml/2006/main">
            <a:r>
              <a:t>| ID | Deliverable | Dependency | Acceptance evidence |</a:t>
            </a:r>
          </a:p>
          <a:p xmlns:a="http://schemas.openxmlformats.org/drawingml/2006/main">
            <a:r>
              <a:t>|---|---|---|---|</a:t>
            </a:r>
          </a:p>
          <a:p xmlns:a="http://schemas.openxmlformats.org/drawingml/2006/main">
            <a:r>
              <a:t>| SO-01 | Asset and SBOM ingestion | CORE-02; customer samples | Versioned validation, malformed input rejection, deduplication, provenance |</a:t>
            </a:r>
          </a:p>
          <a:p xmlns:a="http://schemas.openxmlformats.org/drawingml/2006/main">
            <a:r>
              <a:t>| SO-02 | Advisory enrichment and prioritisation | SO-01 | Known fixture findings, stale-feed warning, unknown-reachability handling |</a:t>
            </a:r>
          </a:p>
          <a:p xmlns:a="http://schemas.openxmlformats.org/drawingml/2006/main">
            <a:r>
              <a:t>| SO-03 | Wazuh alert/file connector | CORE-02; connector access | Normalisation, last-seen, loss/duplicate accounting and scoped credentials |</a:t>
            </a:r>
          </a:p>
          <a:p xmlns:a="http://schemas.openxmlformats.org/drawingml/2006/main">
            <a:r>
              <a:t>| SO-04 | Finding/evidence UI and investigation workflow | SO-01–03 | Evidence lineage, access controls, assignment and closure history |</a:t>
            </a:r>
          </a:p>
          <a:p xmlns:a="http://schemas.openxmlformats.org/drawingml/2006/main">
            <a:r>
              <a:t>| SO-05 | Three guided response playbooks | SO-04; CORE-04 | Parameter-bound approval where actions execute; no automatic production containment |</a:t>
            </a:r>
          </a:p>
          <a:p xmlns:a="http://schemas.openxmlformats.org/drawingml/2006/main">
            <a:r>
              <a:t>| SO-06 | Evaluated correlation/rule baseline | R2 baseline; SO-03 | Precision and alerts/day measured with labelled cases; no synthetic-label fallback |</a:t>
            </a:r>
          </a:p>
          <a:p xmlns:a="http://schemas.openxmlformats.org/drawingml/2006/main">
            <a:r>
              <a:t>| SO-07 | Product operations and release | SO-01–06 | G4 security/load/recovery gates and supported-source documentation |</a:t>
            </a:r>
          </a:p>
          <a:p xmlns:a="http://schemas.openxmlformats.org/drawingml/2006/main">
            <a:r>
              <a:t/>
            </a:r>
          </a:p>
          <a:p xmlns:a="http://schemas.openxmlformats.org/drawingml/2006/main">
            <a:r>
              <a:t>## Tests and commercial gate</a:t>
            </a:r>
          </a:p>
          <a:p xmlns:a="http://schemas.openxmlformats.org/drawingml/2006/main">
            <a:r>
              <a:t/>
            </a:r>
          </a:p>
          <a:p xmlns:a="http://schemas.openxmlformats.org/drawingml/2006/main">
            <a:r>
              <a:t>Test duplicate/out-of-order observations, collector clock skew, malformed SBOMs, feed outages, asset identity collision, unauthorised evidence references, stale approved actions, partial remediation and repeated execution after a lost response. Customer trials must report useful findings and false alerts per investigator-day, not accuracy alone.</a:t>
            </a:r>
          </a:p>
          <a:p xmlns:a="http://schemas.openxmlformats.org/drawingml/2006/main">
            <a:r>
              <a:t/>
            </a:r>
          </a:p>
          <a:p xmlns:a="http://schemas.openxmlformats.org/drawingml/2006/main">
            <a:r>
              <a:t>G3 requires a customer to complete the exposure-to-remediation journey with evidence. G4 requires a documented alert workload the customer's named operator can handle, reliable ingestion at twice the agreed pilot peak, a 48-hour soak run, independent security assessment and tested recovery. Volume limits are measured and published for the supported deployment; do not copy the old 10,000-user target without demand.</a:t>
            </a:r>
          </a:p>
          <a:p xmlns:a="http://schemas.openxmlformats.org/drawingml/2006/main">
            <a:r>
              <a:t/>
            </a:r>
          </a:p>
          <a:p xmlns:a="http://schemas.openxmlformats.org/drawingml/2006/main">
            <a:r>
              <a:t>## Later capabilities</a:t>
            </a:r>
          </a:p>
          <a:p xmlns:a="http://schemas.openxmlformats.org/drawingml/2006/main">
            <a:r>
              <a:t/>
            </a:r>
          </a:p>
          <a:p xmlns:a="http://schemas.openxmlformats.org/drawingml/2006/main">
            <a:r>
              <a:t>UEBA, graphs and multimodal fusion remain shadow-mode research until they improve operational utility. Approved containment, repository remediation proposals, ticketing integrations and richer identity sources are extensions after the initial workflows prove useful. Research inference must not leak learning-profile data into employee risk rankings.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Operations first release</a:t>
            </a:r>
          </a:p>
          <a:p xmlns:a="http://schemas.openxmlformats.org/drawingml/2006/main">
            <a:r>
              <a:t/>
            </a:r>
          </a:p>
          <a:p xmlns:a="http://schemas.openxmlformats.org/drawingml/2006/main">
            <a:r>
              <a:t/>
            </a:r>
          </a:p>
          <a:p xmlns:a="http://schemas.openxmlformats.org/drawingml/2006/main">
            <a:r>
              <a:t/>
            </a:r>
          </a:p>
          <a:p xmlns:a="http://schemas.openxmlformats.org/drawingml/2006/main">
            <a:r>
              <a:t>Inventory and software / Customer imports and CycloneDX JSON SBOM ingestion</a:t>
            </a:r>
          </a:p>
          <a:p xmlns:a="http://schemas.openxmlformats.org/drawingml/2006/main">
            <a:r>
              <a:t>Advisory enrichment / OSV adapter with freshness and provenance</a:t>
            </a:r>
          </a:p>
          <a:p xmlns:a="http://schemas.openxmlformats.org/drawingml/2006/main">
            <a:r>
              <a:t>Security events / Wazuh JSON alert ingestion or documented file imports</a:t>
            </a:r>
          </a:p>
          <a:p xmlns:a="http://schemas.openxmlformats.org/drawingml/2006/main">
            <a:r>
              <a:t>Response / Guided authentication, dependency and phishing playbooks</a:t>
            </a:r>
          </a:p>
          <a:p xmlns:a="http://schemas.openxmlformats.org/drawingml/2006/main">
            <a:r>
              <a:t/>
            </a:r>
          </a:p>
          <a:p xmlns:a="http://schemas.openxmlformats.org/drawingml/2006/main">
            <a:r>
              <a:t>Project documentation: implementation-plan/products/02-security-operations.md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Operations backlog and gates</a:t>
            </a:r>
          </a:p>
          <a:p xmlns:a="http://schemas.openxmlformats.org/drawingml/2006/main">
            <a:r>
              <a:t/>
            </a:r>
          </a:p>
          <a:p xmlns:a="http://schemas.openxmlformats.org/drawingml/2006/main">
            <a:r>
              <a:t/>
            </a:r>
          </a:p>
          <a:p xmlns:a="http://schemas.openxmlformats.org/drawingml/2006/main">
            <a:r>
              <a:t/>
            </a:r>
          </a:p>
          <a:p xmlns:a="http://schemas.openxmlformats.org/drawingml/2006/main">
            <a:r>
              <a:t>Ingestion and enrichment / SO-01–03 / Validation, deduplication, loss and source-age visibility</a:t>
            </a:r>
          </a:p>
          <a:p xmlns:a="http://schemas.openxmlformats.org/drawingml/2006/main">
            <a:r>
              <a:t>Investigation and response / SO-04–05 / Evidence access and parameter-bound approvals</a:t>
            </a:r>
          </a:p>
          <a:p xmlns:a="http://schemas.openxmlformats.org/drawingml/2006/main">
            <a:r>
              <a:t>Detection baseline / SO-06 / Precision and alert burden on labelled cases</a:t>
            </a:r>
          </a:p>
          <a:p xmlns:a="http://schemas.openxmlformats.org/drawingml/2006/main">
            <a:r>
              <a:t>Supported release / SO-07 / Recovery, load tests and independent review</a:t>
            </a:r>
          </a:p>
          <a:p xmlns:a="http://schemas.openxmlformats.org/drawingml/2006/main">
            <a:r>
              <a:t/>
            </a:r>
          </a:p>
          <a:p xmlns:a="http://schemas.openxmlformats.org/drawingml/2006/main">
            <a:r>
              <a:t>Project documentation: implementation-plan/products/02-security-operations.md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Defense Box and Validation</a:t>
            </a:r>
          </a:p>
          <a:p xmlns:a="http://schemas.openxmlformats.org/drawingml/2006/main">
            <a:r>
              <a:t/>
            </a:r>
          </a:p>
          <a:p xmlns:a="http://schemas.openxmlformats.org/drawingml/2006/main">
            <a:r>
              <a:t>Local monitoring and controlled verification in a software appliance.</a:t>
            </a:r>
          </a:p>
          <a:p xmlns:a="http://schemas.openxmlformats.org/drawingml/2006/main">
            <a:r>
              <a:t/>
            </a:r>
          </a:p>
          <a:p xmlns:a="http://schemas.openxmlformats.org/drawingml/2006/main">
            <a:r>
              <a:t>Deployment: Supported Linux VM or container on customer infrastructure.</a:t>
            </a:r>
          </a:p>
          <a:p xmlns:a="http://schemas.openxmlformats.org/drawingml/2006/main">
            <a:r>
              <a:t/>
            </a:r>
          </a:p>
          <a:p xmlns:a="http://schemas.openxmlformats.org/drawingml/2006/main">
            <a:r>
              <a:t>Passive observation: Evaluate Zeek metadata and Suricata alerts with bounded local storage.</a:t>
            </a:r>
          </a:p>
          <a:p xmlns:a="http://schemas.openxmlformats.org/drawingml/2006/main">
            <a:r>
              <a:t/>
            </a:r>
          </a:p>
          <a:p xmlns:a="http://schemas.openxmlformats.org/drawingml/2006/main">
            <a:r>
              <a:t>Own-product work: Enrolment, health, normalisation, evidence reports and remediation retests.</a:t>
            </a:r>
          </a:p>
          <a:p xmlns:a="http://schemas.openxmlformats.org/drawingml/2006/main">
            <a:r>
              <a:t/>
            </a:r>
          </a:p>
          <a:p xmlns:a="http://schemas.openxmlformats.org/drawingml/2006/main">
            <a:r>
              <a:t>Expansion: Custom hardware and industrial deployment follow measured demand and safety review.</a:t>
            </a:r>
          </a:p>
          <a:p xmlns:a="http://schemas.openxmlformats.org/drawingml/2006/main">
            <a:r>
              <a:t/>
            </a:r>
          </a:p>
          <a:p xmlns:a="http://schemas.openxmlformats.org/drawingml/2006/main">
            <a:r>
              <a:t>Project documentation: implementation-plan/products/03-defense-box.md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 3: Defense Box and Validation</a:t>
            </a:r>
          </a:p>
          <a:p xmlns:a="http://schemas.openxmlformats.org/drawingml/2006/main">
            <a:r>
              <a:t/>
            </a:r>
          </a:p>
          <a:p xmlns:a="http://schemas.openxmlformats.org/drawingml/2006/main">
            <a:r>
              <a:t>[Index](../README.md) · Owner: Platform/Security Lead · Target: pilot months 13–15, production months 16–18</a:t>
            </a:r>
          </a:p>
          <a:p xmlns:a="http://schemas.openxmlformats.org/drawingml/2006/main">
            <a:r>
              <a:t/>
            </a:r>
          </a:p>
          <a:p xmlns:a="http://schemas.openxmlformats.org/drawingml/2006/main">
            <a:r>
              <a:t>## Purpose and deployment</a:t>
            </a:r>
          </a:p>
          <a:p xmlns:a="http://schemas.openxmlformats.org/drawingml/2006/main">
            <a:r>
              <a:t/>
            </a:r>
          </a:p>
          <a:p xmlns:a="http://schemas.openxmlformats.org/drawingml/2006/main">
            <a:r>
              <a:t>A software appliance observes approved network metadata locally, reports evidence-backed findings, and runs separately authorised validation exercises in a controlled environment. Start with a supported Linux virtual machine/container deployment on customer-provided infrastructure. Custom hardware manufacturing and a universal endpoint-protection agent are outside the first release.</a:t>
            </a:r>
          </a:p>
          <a:p xmlns:a="http://schemas.openxmlformats.org/drawingml/2006/main">
            <a:r>
              <a:t/>
            </a:r>
          </a:p>
          <a:p xmlns:a="http://schemas.openxmlformats.org/drawingml/2006/main">
            <a:r>
              <a:t>Keep passive collection and active validation in distinct execution boundaries. Passive sensor connectivity must not automatically grant an active runner access to the same targets. Local storage is encrypted and bounded; packet payload collection is disabled by default. A customer chooses the interface, observation scope and retention before enabling collection.</a:t>
            </a:r>
          </a:p>
          <a:p xmlns:a="http://schemas.openxmlformats.org/drawingml/2006/main">
            <a:r>
              <a:t/>
            </a:r>
          </a:p>
          <a:p xmlns:a="http://schemas.openxmlformats.org/drawingml/2006/main">
            <a:r>
              <a:t>## Components and own-product work</a:t>
            </a:r>
          </a:p>
          <a:p xmlns:a="http://schemas.openxmlformats.org/drawingml/2006/main">
            <a:r>
              <a:t/>
            </a:r>
          </a:p>
          <a:p xmlns:a="http://schemas.openxmlformats.org/drawingml/2006/main">
            <a:r>
              <a:t>Evaluate Zeek metadata and Suricata alerts using fixed replay datasets. Reuse maintained sensors; build the AegisAI deployment management, normalisation, evidence correlation, health diagnostics, reporting and remediation-verification workflow. Test a maintained adversary-emulation runner in the lab through an adapter; the current historical MITRE Caldera repository redirects to Apache Caldera, so pin its actual repository and licence at adoption. [Current repository](https://github.com/apache/caldera).</a:t>
            </a:r>
          </a:p>
          <a:p xmlns:a="http://schemas.openxmlformats.org/drawingml/2006/main">
            <a:r>
              <a:t/>
            </a:r>
          </a:p>
          <a:p xmlns:a="http://schemas.openxmlformats.org/drawingml/2006/main">
            <a:r>
              <a:t>The first validation library contains five benign, reproducible checks: sensor/alert pipeline verification, approved service reachability, denied-route verification, known test-file detection in an isolated endpoint, and backup-restore exercise evidence. Expand only through reviewed test definitions. No live malware creation, broad autonomous exploitation, or unbounded discovered-target expansion is required for the product.</a:t>
            </a:r>
          </a:p>
          <a:p xmlns:a="http://schemas.openxmlformats.org/drawingml/2006/main">
            <a:r>
              <a:t/>
            </a:r>
          </a:p>
          <a:p xmlns:a="http://schemas.openxmlformats.org/drawingml/2006/main">
            <a:r>
              <a:t>## Execution contract</a:t>
            </a:r>
          </a:p>
          <a:p xmlns:a="http://schemas.openxmlformats.org/drawingml/2006/main">
            <a:r>
              <a:t/>
            </a:r>
          </a:p>
          <a:p xmlns:a="http://schemas.openxmlformats.org/drawingml/2006/main">
            <a:r>
              <a:t>Each plan names an authorising customer, exact targets, allowed techniques, time window, rate/resource limits, expected side effects, abort mechanism and cleanup procedure. The runner validates scope before each step and blocks changed/out-of-scope targets. A lost control connection stops new active steps. Report partial execution and cleanup failure explicitly. A model may draft a test plan; it cannot authorise one.</a:t>
            </a:r>
          </a:p>
          <a:p xmlns:a="http://schemas.openxmlformats.org/drawingml/2006/main">
            <a:r>
              <a:t/>
            </a:r>
          </a:p>
          <a:p xmlns:a="http://schemas.openxmlformats.org/drawingml/2006/main">
            <a:r>
              <a:t>## Implementation backlog</a:t>
            </a:r>
          </a:p>
          <a:p xmlns:a="http://schemas.openxmlformats.org/drawingml/2006/main">
            <a:r>
              <a:t/>
            </a:r>
          </a:p>
          <a:p xmlns:a="http://schemas.openxmlformats.org/drawingml/2006/main">
            <a:r>
              <a:t>| ID | Deliverable | Dependency | Acceptance evidence |</a:t>
            </a:r>
          </a:p>
          <a:p xmlns:a="http://schemas.openxmlformats.org/drawingml/2006/main">
            <a:r>
              <a:t>|---|---|---|---|</a:t>
            </a:r>
          </a:p>
          <a:p xmlns:a="http://schemas.openxmlformats.org/drawingml/2006/main">
            <a:r>
              <a:t>| DB-01 | Appliance packaging and health | CORE-03/05; SO contracts | Install, enrol, observe health, revoke and uninstall without residual access |</a:t>
            </a:r>
          </a:p>
          <a:p xmlns:a="http://schemas.openxmlformats.org/drawingml/2006/main">
            <a:r>
              <a:t>| DB-02 | Passive sensor adapters and local buffer | DB-01 | Loss counts, bounded disk use, no payload export by default |</a:t>
            </a:r>
          </a:p>
          <a:p xmlns:a="http://schemas.openxmlformats.org/drawingml/2006/main">
            <a:r>
              <a:t>| DB-03 | Scoped validation runner | CORE-04; isolated lab | Reject out-of-scope targets, expire approval, abort and clean up |</a:t>
            </a:r>
          </a:p>
          <a:p xmlns:a="http://schemas.openxmlformats.org/drawingml/2006/main">
            <a:r>
              <a:t>| DB-04 | Five-check library and reports | DB-02/03; R4 | Reproducible expected result and verified remediation retest |</a:t>
            </a:r>
          </a:p>
          <a:p xmlns:a="http://schemas.openxmlformats.org/drawingml/2006/main">
            <a:r>
              <a:t>| DB-05 | Local inference comparison | R5; DB-02 | Quality/resource benchmark; rule-only operation when model unavailable |</a:t>
            </a:r>
          </a:p>
          <a:p xmlns:a="http://schemas.openxmlformats.org/drawingml/2006/main">
            <a:r>
              <a:t>| DB-06 | Release and support package | DB-01–05 | G6 gates, hardware/VM support matrix and operator recovery exercise |</a:t>
            </a:r>
          </a:p>
          <a:p xmlns:a="http://schemas.openxmlformats.org/drawingml/2006/main">
            <a:r>
              <a:t/>
            </a:r>
          </a:p>
          <a:p xmlns:a="http://schemas.openxmlformats.org/drawingml/2006/main">
            <a:r>
              <a:t>## Acceptance and industrial path</a:t>
            </a:r>
          </a:p>
          <a:p xmlns:a="http://schemas.openxmlformats.org/drawingml/2006/main">
            <a:r>
              <a:t/>
            </a:r>
          </a:p>
          <a:p xmlns:a="http://schemas.openxmlformats.org/drawingml/2006/main">
            <a:r>
              <a:t>Measure CPU, memory, disk, packet loss and processing delay on the published reference profile. Test disk exhaustion, sensor crash, clock skew, revoked enrolment, interrupted update, traffic spikes and tampered configuration. Publish measured throughput rather than borrowing upstream maximum claims.</a:t>
            </a:r>
          </a:p>
          <a:p xmlns:a="http://schemas.openxmlformats.org/drawingml/2006/main">
            <a:r>
              <a:t/>
            </a:r>
          </a:p>
          <a:p xmlns:a="http://schemas.openxmlformats.org/drawingml/2006/main">
            <a:r>
              <a:t>G5 requires stable passive collection and fully scoped execution in an agreed pilot. G6 requires independent assessment, safe abort/cleanup, repeatable installation/rollback and supportable overhead. A failed abort or scope-enforcement test blocks release.</a:t>
            </a:r>
          </a:p>
          <a:p xmlns:a="http://schemas.openxmlformats.org/drawingml/2006/main">
            <a:r>
              <a:t/>
            </a:r>
          </a:p>
          <a:p xmlns:a="http://schemas.openxmlformats.org/drawingml/2006/main">
            <a:r>
              <a:t>OT begins with lab traces and passive inventory mappings. An industrial pilot needs an operator sponsor, approved topology, process-safety review and change window. No active scanning or inline enforcement on industrial controllers by default. ATT&amp;CK for ICS provides threat/asset vocabulary, not permission to run techniques. [ICS tactics](https://attack.mitre.org/tactics/ics/), [ICS mitigations](https://attack.mitre.org/mitigations/ics/).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execution boundaries</a:t>
            </a:r>
          </a:p>
          <a:p xmlns:a="http://schemas.openxmlformats.org/drawingml/2006/main">
            <a:r>
              <a:t/>
            </a:r>
          </a:p>
          <a:p xmlns:a="http://schemas.openxmlformats.org/drawingml/2006/main">
            <a:r>
              <a:t/>
            </a:r>
          </a:p>
          <a:p xmlns:a="http://schemas.openxmlformats.org/drawingml/2006/main">
            <a:r>
              <a:t/>
            </a:r>
          </a:p>
          <a:p xmlns:a="http://schemas.openxmlformats.org/drawingml/2006/main">
            <a:r>
              <a:t>Named customer authoriser / The runner checks authority and expiry</a:t>
            </a:r>
          </a:p>
          <a:p xmlns:a="http://schemas.openxmlformats.org/drawingml/2006/main">
            <a:r>
              <a:t>Exact targets and allowed techniques / Discovery cannot silently expand the approved scope</a:t>
            </a:r>
          </a:p>
          <a:p xmlns:a="http://schemas.openxmlformats.org/drawingml/2006/main">
            <a:r>
              <a:t>Time and resource limits / Abort stops new steps on a safety trigger or lost control</a:t>
            </a:r>
          </a:p>
          <a:p xmlns:a="http://schemas.openxmlformats.org/drawingml/2006/main">
            <a:r>
              <a:t>Expected effects and cleanup / The report records partial execution and cleanup failures</a:t>
            </a:r>
          </a:p>
          <a:p xmlns:a="http://schemas.openxmlformats.org/drawingml/2006/main">
            <a:r>
              <a:t/>
            </a:r>
          </a:p>
          <a:p xmlns:a="http://schemas.openxmlformats.org/drawingml/2006/main">
            <a:r>
              <a:t>Project documentation: implementation-plan/products/03-defense-box.md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Defense Box implementation sequence</a:t>
            </a:r>
          </a:p>
          <a:p xmlns:a="http://schemas.openxmlformats.org/drawingml/2006/main">
            <a:r>
              <a:t/>
            </a:r>
          </a:p>
          <a:p xmlns:a="http://schemas.openxmlformats.org/drawingml/2006/main">
            <a:r>
              <a:t/>
            </a:r>
          </a:p>
          <a:p xmlns:a="http://schemas.openxmlformats.org/drawingml/2006/main">
            <a:r>
              <a:t/>
            </a:r>
          </a:p>
          <a:p xmlns:a="http://schemas.openxmlformats.org/drawingml/2006/main">
            <a:r>
              <a:t>Packaging and passive data / DB-01–02 / Install, enrol, bound disk use and report loss</a:t>
            </a:r>
          </a:p>
          <a:p xmlns:a="http://schemas.openxmlformats.org/drawingml/2006/main">
            <a:r>
              <a:t>Validation and reports / DB-03–04 / Five safe checks, abort, cleanup and retest evidence</a:t>
            </a:r>
          </a:p>
          <a:p xmlns:a="http://schemas.openxmlformats.org/drawingml/2006/main">
            <a:r>
              <a:t>Local inference / DB-05 / Measured quality and resource use against rules</a:t>
            </a:r>
          </a:p>
          <a:p xmlns:a="http://schemas.openxmlformats.org/drawingml/2006/main">
            <a:r>
              <a:t>Supported release / DB-06 / Reference profile, rollback and operating guide</a:t>
            </a:r>
          </a:p>
          <a:p xmlns:a="http://schemas.openxmlformats.org/drawingml/2006/main">
            <a:r>
              <a:t/>
            </a:r>
          </a:p>
          <a:p xmlns:a="http://schemas.openxmlformats.org/drawingml/2006/main">
            <a:r>
              <a:t>Project documentation: implementation-plan/products/03-defense-box.md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Security</a:t>
            </a:r>
          </a:p>
          <a:p xmlns:a="http://schemas.openxmlformats.org/drawingml/2006/main">
            <a:r>
              <a:t/>
            </a:r>
          </a:p>
          <a:p xmlns:a="http://schemas.openxmlformats.org/drawingml/2006/main">
            <a:r>
              <a:t>Task-level authority controls agents across runtimes.</a:t>
            </a:r>
          </a:p>
          <a:p xmlns:a="http://schemas.openxmlformats.org/drawingml/2006/main">
            <a:r>
              <a:t/>
            </a:r>
          </a:p>
          <a:p xmlns:a="http://schemas.openxmlformats.org/drawingml/2006/main">
            <a:r>
              <a:t>Administrator: Register a workload and assign tool, resource and budget policies.</a:t>
            </a:r>
          </a:p>
          <a:p xmlns:a="http://schemas.openxmlformats.org/drawingml/2006/main">
            <a:r>
              <a:t/>
            </a:r>
          </a:p>
          <a:p xmlns:a="http://schemas.openxmlformats.org/drawingml/2006/main">
            <a:r>
              <a:t>Developer: Use a documented gateway and small SDK with existing agent runtimes.</a:t>
            </a:r>
          </a:p>
          <a:p xmlns:a="http://schemas.openxmlformats.org/drawingml/2006/main">
            <a:r>
              <a:t/>
            </a:r>
          </a:p>
          <a:p xmlns:a="http://schemas.openxmlformats.org/drawingml/2006/main">
            <a:r>
              <a:t>Operator: Inspect actions, revoke capabilities and reconcile interrupted runs.</a:t>
            </a:r>
          </a:p>
          <a:p xmlns:a="http://schemas.openxmlformats.org/drawingml/2006/main">
            <a:r>
              <a:t/>
            </a:r>
          </a:p>
          <a:p xmlns:a="http://schemas.openxmlformats.org/drawingml/2006/main">
            <a:r>
              <a:t>First workflows: Sandboxed repository maintenance and evidence-based report drafting.</a:t>
            </a:r>
          </a:p>
          <a:p xmlns:a="http://schemas.openxmlformats.org/drawingml/2006/main">
            <a:r>
              <a:t/>
            </a:r>
          </a:p>
          <a:p xmlns:a="http://schemas.openxmlformats.org/drawingml/2006/main">
            <a:r>
              <a:t>Project documentation: implementation-plan/products/04-agent-security.md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 4: Agent Security</a:t>
            </a:r>
          </a:p>
          <a:p xmlns:a="http://schemas.openxmlformats.org/drawingml/2006/main">
            <a:r>
              <a:t/>
            </a:r>
          </a:p>
          <a:p xmlns:a="http://schemas.openxmlformats.org/drawingml/2006/main">
            <a:r>
              <a:t>[Index](../README.md) · Owner: Platform/Security Lead; research: Research Lead · Target: external pilot months 19–21, production months 22–24</a:t>
            </a:r>
          </a:p>
          <a:p xmlns:a="http://schemas.openxmlformats.org/drawingml/2006/main">
            <a:r>
              <a:t/>
            </a:r>
          </a:p>
          <a:p xmlns:a="http://schemas.openxmlformats.org/drawingml/2006/main">
            <a:r>
              <a:t>## Product purpose</a:t>
            </a:r>
          </a:p>
          <a:p xmlns:a="http://schemas.openxmlformats.org/drawingml/2006/main">
            <a:r>
              <a:t/>
            </a:r>
          </a:p>
          <a:p xmlns:a="http://schemas.openxmlformats.org/drawingml/2006/main">
            <a:r>
              <a:t>Give engineering and security teams enforceable control over an agent's identity, tools, resources, model use and execution evidence. Productise lessons from the internal workspace only after separate customer discovery. This is a governance/execution product, not a promise to build a frontier foundation model or a general autonomous employee.</a:t>
            </a:r>
          </a:p>
          <a:p xmlns:a="http://schemas.openxmlformats.org/drawingml/2006/main">
            <a:r>
              <a:t/>
            </a:r>
          </a:p>
          <a:p xmlns:a="http://schemas.openxmlformats.org/drawingml/2006/main">
            <a:r>
              <a:t>An administrator registers an agent workload, assigns a task-scoped policy and budget, runs an approved workflow, inspects evidence, and revokes authority when necessary. Developers integrate through documented APIs and a small SDK; existing agent runtimes remain usable.</a:t>
            </a:r>
          </a:p>
          <a:p xmlns:a="http://schemas.openxmlformats.org/drawingml/2006/main">
            <a:r>
              <a:t/>
            </a:r>
          </a:p>
          <a:p xmlns:a="http://schemas.openxmlformats.org/drawingml/2006/main">
            <a:r>
              <a:t>## Authority boundaries</a:t>
            </a:r>
          </a:p>
          <a:p xmlns:a="http://schemas.openxmlformats.org/drawingml/2006/main">
            <a:r>
              <a:t/>
            </a:r>
          </a:p>
          <a:p xmlns:a="http://schemas.openxmlformats.org/drawingml/2006/main">
            <a:r>
              <a:t>- Human identity, workload identity, execution instance and network peer are distinct records.</a:t>
            </a:r>
          </a:p>
          <a:p xmlns:a="http://schemas.openxmlformats.org/drawingml/2006/main">
            <a:r>
              <a:t>- Typed tool policies restrict operation, target and parameters. Network access alone never authorises a tool call.</a:t>
            </a:r>
          </a:p>
          <a:p xmlns:a="http://schemas.openxmlformats.org/drawingml/2006/main">
            <a:r>
              <a:t>- Untrusted retrieved content and tool outputs cannot grant permissions or rewrite policy.</a:t>
            </a:r>
          </a:p>
          <a:p xmlns:a="http://schemas.openxmlformats.org/drawingml/2006/main">
            <a:r>
              <a:t>- A deterministic gateway checks capabilities independently of model-generated risk assessments.</a:t>
            </a:r>
          </a:p>
          <a:p xmlns:a="http://schemas.openxmlformats.org/drawingml/2006/main">
            <a:r>
              <a:t>- Provider keys remain in the gateway/secret store; workers receive short-lived, scoped credentials where possible.</a:t>
            </a:r>
          </a:p>
          <a:p xmlns:a="http://schemas.openxmlformats.org/drawingml/2006/main">
            <a:r>
              <a:t>- Sandboxes use dedicated worker VMs with unprivileged task containers and controlled egress; no host socket or production secret mounts.</a:t>
            </a:r>
          </a:p>
          <a:p xmlns:a="http://schemas.openxmlformats.org/drawingml/2006/main">
            <a:r>
              <a:t>- Budget exhaustion stops new calls; interrupted runs retain evidence and require reconciliation for uncertain side effects.</a:t>
            </a:r>
          </a:p>
          <a:p xmlns:a="http://schemas.openxmlformats.org/drawingml/2006/main">
            <a:r>
              <a:t>- Replay is read-only reconstruction by default, not repeated execution.</a:t>
            </a:r>
          </a:p>
          <a:p xmlns:a="http://schemas.openxmlformats.org/drawingml/2006/main">
            <a:r>
              <a:t/>
            </a:r>
          </a:p>
          <a:p xmlns:a="http://schemas.openxmlformats.org/drawingml/2006/main">
            <a:r>
              <a:t>## Initial supported workflows</a:t>
            </a:r>
          </a:p>
          <a:p xmlns:a="http://schemas.openxmlformats.org/drawingml/2006/main">
            <a:r>
              <a:t/>
            </a:r>
          </a:p>
          <a:p xmlns:a="http://schemas.openxmlformats.org/drawingml/2006/main">
            <a:r>
              <a:t>Support one sandboxed repository-maintenance workflow and one evidence-retrieval/report-drafting workflow. Permit read-only source access and reviewed patch export; deployment and external publication are separate approved actions. Native computer/browser automation remains an optional isolated tool, not an unrestricted desktop session.</a:t>
            </a:r>
          </a:p>
          <a:p xmlns:a="http://schemas.openxmlformats.org/drawingml/2006/main">
            <a:r>
              <a:t/>
            </a:r>
          </a:p>
          <a:p xmlns:a="http://schemas.openxmlformats.org/drawingml/2006/main">
            <a:r>
              <a:t>## Implementation backlog</a:t>
            </a:r>
          </a:p>
          <a:p xmlns:a="http://schemas.openxmlformats.org/drawingml/2006/main">
            <a:r>
              <a:t/>
            </a:r>
          </a:p>
          <a:p xmlns:a="http://schemas.openxmlformats.org/drawingml/2006/main">
            <a:r>
              <a:t>| ID | Deliverable | Dependency | Acceptance evidence |</a:t>
            </a:r>
          </a:p>
          <a:p xmlns:a="http://schemas.openxmlformats.org/drawingml/2006/main">
            <a:r>
              <a:t>|---|---|---|---|</a:t>
            </a:r>
          </a:p>
          <a:p xmlns:a="http://schemas.openxmlformats.org/drawingml/2006/main">
            <a:r>
              <a:t>| AS-01 | Workload identity and policy service | CORE-01/04; internal workspace | Scoped issue/revoke, task binding and denied cross-workload access |</a:t>
            </a:r>
          </a:p>
          <a:p xmlns:a="http://schemas.openxmlformats.org/drawingml/2006/main">
            <a:r>
              <a:t>| AS-02 | Tool gateway and SDK | AS-01; interface contracts | Parameter validation, capability denial, approval binding and conformance tests |</a:t>
            </a:r>
          </a:p>
          <a:p xmlns:a="http://schemas.openxmlformats.org/drawingml/2006/main">
            <a:r>
              <a:t>| AS-03 | Sandboxed execution and egress | AS-02; DB packaging lessons | No host/secret escape in test suite; blocked unapproved destinations |</a:t>
            </a:r>
          </a:p>
          <a:p xmlns:a="http://schemas.openxmlformats.org/drawingml/2006/main">
            <a:r>
              <a:t>| AS-04 | Model access and cost controls | Workspace benchmarks | Provider routing respects data class, model allowlist, hard budget and timeout |</a:t>
            </a:r>
          </a:p>
          <a:p xmlns:a="http://schemas.openxmlformats.org/drawingml/2006/main">
            <a:r>
              <a:t>| AS-05 | Audit/checkpoint/recovery | AS-02–04 | Reconstruct decisions and partial effects; no duplicated actions after restart |</a:t>
            </a:r>
          </a:p>
          <a:p xmlns:a="http://schemas.openxmlformats.org/drawingml/2006/main">
            <a:r>
              <a:t>| AS-06 | Customer integrations and release | AS-01–05; R6 | Two supported workflows, independent assessment, G8 evidence and support guide |</a:t>
            </a:r>
          </a:p>
          <a:p xmlns:a="http://schemas.openxmlformats.org/drawingml/2006/main">
            <a:r>
              <a:t/>
            </a:r>
          </a:p>
          <a:p xmlns:a="http://schemas.openxmlformats.org/drawingml/2006/main">
            <a:r>
              <a:t>## Research-to-product gate</a:t>
            </a:r>
          </a:p>
          <a:p xmlns:a="http://schemas.openxmlformats.org/drawingml/2006/main">
            <a:r>
              <a:t/>
            </a:r>
          </a:p>
          <a:p xmlns:a="http://schemas.openxmlformats.org/drawingml/2006/main">
            <a:r>
              <a:t>Evaluate clean-task success alongside policy-violation rate, attempted exfiltration success, injection persistence, memory poisoning, revocation delay, latency and cost. Test attacks in retrieved pages, repository files, tool output and stored memory. Report denominator, task distribution, model/runtime revisions and residual failures; a zero count in a finite benchmark is not proof of universal safety.</a:t>
            </a:r>
          </a:p>
          <a:p xmlns:a="http://schemas.openxmlformats.org/drawingml/2006/main">
            <a:r>
              <a:t/>
            </a:r>
          </a:p>
          <a:p xmlns:a="http://schemas.openxmlformats.org/drawingml/2006/main">
            <a:r>
              <a:t>AgentLAB informs long-horizon adversarial evaluation; AMA-Bench informs memory experiments; AgentFlow informs data-flow enforcement hypotheses. They do not establish production readiness of AegisAI. [AgentLAB](https://arxiv.org/abs/2602.16901), [AMA-Bench](https://arxiv.org/abs/2602.22769), [AgentFlow](https://arxiv.org/abs/2608.22868).</a:t>
            </a:r>
          </a:p>
          <a:p xmlns:a="http://schemas.openxmlformats.org/drawingml/2006/main">
            <a:r>
              <a:t/>
            </a:r>
          </a:p>
          <a:p xmlns:a="http://schemas.openxmlformats.org/drawingml/2006/main">
            <a:r>
              <a:t>G7 requires external users to complete supported workflows under enforced policy. G8 requires no unresolved critical/high assessment findings, tested isolation and revocation, recovery and cost accounting, and a documented compatibility matrix. Multiple collaborating agents are a later supported configuration only after outperforming the simpler baseline at acceptable cost and containment.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authority and execution</a:t>
            </a:r>
          </a:p>
          <a:p xmlns:a="http://schemas.openxmlformats.org/drawingml/2006/main">
            <a:r>
              <a:t/>
            </a:r>
          </a:p>
          <a:p xmlns:a="http://schemas.openxmlformats.org/drawingml/2006/main">
            <a:r>
              <a:t/>
            </a:r>
          </a:p>
          <a:p xmlns:a="http://schemas.openxmlformats.org/drawingml/2006/main">
            <a:r>
              <a:t/>
            </a:r>
          </a:p>
          <a:p xmlns:a="http://schemas.openxmlformats.org/drawingml/2006/main">
            <a:r>
              <a:t>Identity / Separate human, workload, run and network-peer identities</a:t>
            </a:r>
          </a:p>
          <a:p xmlns:a="http://schemas.openxmlformats.org/drawingml/2006/main">
            <a:r>
              <a:t>Permission / A deterministic gateway checks operation, target and parameters</a:t>
            </a:r>
          </a:p>
          <a:p xmlns:a="http://schemas.openxmlformats.org/drawingml/2006/main">
            <a:r>
              <a:t>Isolation / Dedicated worker VM, unprivileged task container and controlled egress</a:t>
            </a:r>
          </a:p>
          <a:p xmlns:a="http://schemas.openxmlformats.org/drawingml/2006/main">
            <a:r>
              <a:t>Evidence / Persist checkpoints and audit traces without replaying side effects</a:t>
            </a:r>
          </a:p>
          <a:p xmlns:a="http://schemas.openxmlformats.org/drawingml/2006/main">
            <a:r>
              <a:t/>
            </a:r>
          </a:p>
          <a:p xmlns:a="http://schemas.openxmlformats.org/drawingml/2006/main">
            <a:r>
              <a:t>Project documentation: implementation-plan/products/04-agent-security.md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Security backlog and release</a:t>
            </a:r>
          </a:p>
          <a:p xmlns:a="http://schemas.openxmlformats.org/drawingml/2006/main">
            <a:r>
              <a:t/>
            </a:r>
          </a:p>
          <a:p xmlns:a="http://schemas.openxmlformats.org/drawingml/2006/main">
            <a:r>
              <a:t/>
            </a:r>
          </a:p>
          <a:p xmlns:a="http://schemas.openxmlformats.org/drawingml/2006/main">
            <a:r>
              <a:t/>
            </a:r>
          </a:p>
          <a:p xmlns:a="http://schemas.openxmlformats.org/drawingml/2006/main">
            <a:r>
              <a:t>Identity and tools / AS-01–02 / Scoped issue/revoke and denied unauthorised calls</a:t>
            </a:r>
          </a:p>
          <a:p xmlns:a="http://schemas.openxmlformats.org/drawingml/2006/main">
            <a:r>
              <a:t>Sandbox and model gateway / AS-03–04 / Secret isolation, approved routes and hard budgets</a:t>
            </a:r>
          </a:p>
          <a:p xmlns:a="http://schemas.openxmlformats.org/drawingml/2006/main">
            <a:r>
              <a:t>Recovery and audit / AS-05 / No duplicated action after interruption</a:t>
            </a:r>
          </a:p>
          <a:p xmlns:a="http://schemas.openxmlformats.org/drawingml/2006/main">
            <a:r>
              <a:t>Customer release / AS-06 / Two workflows, compatibility matrix and security review</a:t>
            </a:r>
          </a:p>
          <a:p xmlns:a="http://schemas.openxmlformats.org/drawingml/2006/main">
            <a:r>
              <a:t/>
            </a:r>
          </a:p>
          <a:p xmlns:a="http://schemas.openxmlformats.org/drawingml/2006/main">
            <a:r>
              <a:t>Project documentation: implementation-plan/products/04-agent-security.md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platform architecture</a:t>
            </a:r>
          </a:p>
          <a:p xmlns:a="http://schemas.openxmlformats.org/drawingml/2006/main">
            <a:r>
              <a:t/>
            </a:r>
          </a:p>
          <a:p xmlns:a="http://schemas.openxmlformats.org/drawingml/2006/main">
            <a:r>
              <a:t/>
            </a:r>
          </a:p>
          <a:p xmlns:a="http://schemas.openxmlformats.org/drawingml/2006/main">
            <a:r>
              <a:t/>
            </a:r>
          </a:p>
          <a:p xmlns:a="http://schemas.openxmlformats.org/drawingml/2006/main">
            <a:r>
              <a:t>Customer applications / Learning, findings, investigations, validation and agent administration</a:t>
            </a:r>
          </a:p>
          <a:p xmlns:a="http://schemas.openxmlformats.org/drawingml/2006/main">
            <a:r>
              <a:t>Platform services / Identity, roles, approvals, configuration, entitlements and audit</a:t>
            </a:r>
          </a:p>
          <a:p xmlns:a="http://schemas.openxmlformats.org/drawingml/2006/main">
            <a:r>
              <a:t>Evidence and intelligence / Assets, observations, findings, models and provenance</a:t>
            </a:r>
          </a:p>
          <a:p xmlns:a="http://schemas.openxmlformats.org/drawingml/2006/main">
            <a:r>
              <a:t>Edge and execution / Collectors, local inference and isolated runners</a:t>
            </a:r>
          </a:p>
          <a:p xmlns:a="http://schemas.openxmlformats.org/drawingml/2006/main">
            <a:r>
              <a:t>Delivery infrastructure / Packaging, secrets, monitoring, backups and recovery</a:t>
            </a:r>
          </a:p>
          <a:p xmlns:a="http://schemas.openxmlformats.org/drawingml/2006/main">
            <a:r>
              <a:t/>
            </a:r>
          </a:p>
          <a:p xmlns:a="http://schemas.openxmlformats.org/drawingml/2006/main">
            <a:r>
              <a:t>Project documentation: implementation-plan/03-shared-architecture.md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Shared architecture</a:t>
            </a:r>
          </a:p>
          <a:p xmlns:a="http://schemas.openxmlformats.org/drawingml/2006/main">
            <a:r>
              <a:t/>
            </a:r>
          </a:p>
          <a:p xmlns:a="http://schemas.openxmlformats.org/drawingml/2006/main">
            <a:r>
              <a:t>[Index](README.md) · Specification, not deployed software · Owner: Platform/Security Lead</a:t>
            </a:r>
          </a:p>
          <a:p xmlns:a="http://schemas.openxmlformats.org/drawingml/2006/main">
            <a:r>
              <a:t/>
            </a:r>
          </a:p>
          <a:p xmlns:a="http://schemas.openxmlformats.org/drawingml/2006/main">
            <a:r>
              <a:t>## Deployment and ownership</a:t>
            </a:r>
          </a:p>
          <a:p xmlns:a="http://schemas.openxmlformats.org/drawingml/2006/main">
            <a:r>
              <a:t/>
            </a:r>
          </a:p>
          <a:p xmlns:a="http://schemas.openxmlformats.org/drawingml/2006/main">
            <a:r>
              <a:t>Start with a customer-isolated EU Linux deployment: React/TypeScript web application, Python/FastAPI modular API, PostgreSQL, object storage, and asynchronous workers. Use OIDC for customer identity; application authorisation is independent of the identity provider. Use container images and infrastructure-as-code. A PostgreSQL-backed job queue/outbox is sufficient initially; do not add a message broker or distributed workflow engine without an observed requirement.</a:t>
            </a:r>
          </a:p>
          <a:p xmlns:a="http://schemas.openxmlformats.org/drawingml/2006/main">
            <a:r>
              <a:t/>
            </a:r>
          </a:p>
          <a:p xmlns:a="http://schemas.openxmlformats.org/drawingml/2006/main">
            <a:r>
              <a:t>One customer stack contains its own application database, storage namespace/credentials, encryption boundary and optional NetBird deployment. Shared fleet administration stores deployment health and billing metadata only. Cross-customer administrative access requires time-bounded elevation and an audit trail. Production, staging and research use different credentials and networks.</a:t>
            </a:r>
          </a:p>
          <a:p xmlns:a="http://schemas.openxmlformats.org/drawingml/2006/main">
            <a:r>
              <a:t/>
            </a:r>
          </a:p>
          <a:p xmlns:a="http://schemas.openxmlformats.org/drawingml/2006/main">
            <a:r>
              <a:t>```mermaid</a:t>
            </a:r>
          </a:p>
          <a:p xmlns:a="http://schemas.openxmlformats.org/drawingml/2006/main">
            <a:r>
              <a:t>flowchart TD</a:t>
            </a:r>
          </a:p>
          <a:p xmlns:a="http://schemas.openxmlformats.org/drawingml/2006/main">
            <a:r>
              <a:t>    User[Customer user or administrator] --&gt; UI[AegisAI web applications]</a:t>
            </a:r>
          </a:p>
          <a:p xmlns:a="http://schemas.openxmlformats.org/drawingml/2006/main">
            <a:r>
              <a:t>    UI --&gt; API[Identity, permissions and product API]</a:t>
            </a:r>
          </a:p>
          <a:p xmlns:a="http://schemas.openxmlformats.org/drawingml/2006/main">
            <a:r>
              <a:t>    API --&gt; DB[Customer PostgreSQL and evidence storage]</a:t>
            </a:r>
          </a:p>
          <a:p xmlns:a="http://schemas.openxmlformats.org/drawingml/2006/main">
            <a:r>
              <a:t>    API --&gt; Jobs[Persistent jobs and approvals]</a:t>
            </a:r>
          </a:p>
          <a:p xmlns:a="http://schemas.openxmlformats.org/drawingml/2006/main">
            <a:r>
              <a:t>    Jobs --&gt; Adapter[Versioned tool and connectivity adapters]</a:t>
            </a:r>
          </a:p>
          <a:p xmlns:a="http://schemas.openxmlformats.org/drawingml/2006/main">
            <a:r>
              <a:t>    Adapter --&gt; Edge[Customer edge service]</a:t>
            </a:r>
          </a:p>
          <a:p xmlns:a="http://schemas.openxmlformats.org/drawingml/2006/main">
            <a:r>
              <a:t>    Edge --&gt; Local[Local telemetry, sensors and optional inference]</a:t>
            </a:r>
          </a:p>
          <a:p xmlns:a="http://schemas.openxmlformats.org/drawingml/2006/main">
            <a:r>
              <a:t>    Edge --&gt; Ingest[Minimised authenticated event ingestion]</a:t>
            </a:r>
          </a:p>
          <a:p xmlns:a="http://schemas.openxmlformats.org/drawingml/2006/main">
            <a:r>
              <a:t>    Ingest --&gt; DB</a:t>
            </a:r>
          </a:p>
          <a:p xmlns:a="http://schemas.openxmlformats.org/drawingml/2006/main">
            <a:r>
              <a:t>    IdP[OIDC identity provider] --&gt; API</a:t>
            </a:r>
          </a:p>
          <a:p xmlns:a="http://schemas.openxmlformats.org/drawingml/2006/main">
            <a:r>
              <a:t>    Net[Optional NetBird transport] -. connectivity .-&gt; Edge</a:t>
            </a:r>
          </a:p>
          <a:p xmlns:a="http://schemas.openxmlformats.org/drawingml/2006/main">
            <a:r>
              <a:t>    Lab[Isolated research and simulation environment] --&gt; Export[Reviewed artefact promotion]</a:t>
            </a:r>
          </a:p>
          <a:p xmlns:a="http://schemas.openxmlformats.org/drawingml/2006/main">
            <a:r>
              <a:t>    Export --&gt; API</a:t>
            </a:r>
          </a:p>
          <a:p xmlns:a="http://schemas.openxmlformats.org/drawingml/2006/main">
            <a:r>
              <a:t>```</a:t>
            </a:r>
          </a:p>
          <a:p xmlns:a="http://schemas.openxmlformats.org/drawingml/2006/main">
            <a:r>
              <a:t/>
            </a:r>
          </a:p>
          <a:p xmlns:a="http://schemas.openxmlformats.org/drawingml/2006/main">
            <a:r>
              <a:t>The diagram shows logical connections, not permission to make every route bidirectional. Edge ingestion is outbound initiated. A sensor interface must not become a route from a sandbox to customer production.</a:t>
            </a:r>
          </a:p>
          <a:p xmlns:a="http://schemas.openxmlformats.org/drawingml/2006/main">
            <a:r>
              <a:t/>
            </a:r>
          </a:p>
          <a:p xmlns:a="http://schemas.openxmlformats.org/drawingml/2006/main">
            <a:r>
              <a:t>## Product modules</a:t>
            </a:r>
          </a:p>
          <a:p xmlns:a="http://schemas.openxmlformats.org/drawingml/2006/main">
            <a:r>
              <a:t/>
            </a:r>
          </a:p>
          <a:p xmlns:a="http://schemas.openxmlformats.org/drawingml/2006/main">
            <a:r>
              <a:t>Learning manages content, assignments and outcomes. Operations manages assets, components, observations, findings and investigations. Validation manages scoped test plans and results. Agent Security manages workload identity, tool policy and execution. Shared services handle organisations, audit, approvals, entitlements, evidence references and jobs. Disabling one product must not break another's login, evidence access or scheduled processing.</a:t>
            </a:r>
          </a:p>
          <a:p xmlns:a="http://schemas.openxmlformats.org/drawingml/2006/main">
            <a:r>
              <a:t/>
            </a:r>
          </a:p>
          <a:p xmlns:a="http://schemas.openxmlformats.org/drawingml/2006/main">
            <a:r>
              <a:t>## Data flow and minimisation</a:t>
            </a:r>
          </a:p>
          <a:p xmlns:a="http://schemas.openxmlformats.org/drawingml/2006/main">
            <a:r>
              <a:t/>
            </a:r>
          </a:p>
          <a:p xmlns:a="http://schemas.openxmlformats.org/drawingml/2006/main">
            <a:r>
              <a:t>1. An enrolled source authenticates with a revocable workload credential, never an administrator token.</a:t>
            </a:r>
          </a:p>
          <a:p xmlns:a="http://schemas.openxmlformats.org/drawingml/2006/main">
            <a:r>
              <a:t>2. A collector validates and classifies records locally, removing prohibited fields before export.</a:t>
            </a:r>
          </a:p>
          <a:p xmlns:a="http://schemas.openxmlformats.org/drawingml/2006/main">
            <a:r>
              <a:t>3. Ingestion validates a versioned envelope, deduplicates by producer/event identity, stores provenance and acknowledges durable receipt.</a:t>
            </a:r>
          </a:p>
          <a:p xmlns:a="http://schemas.openxmlformats.org/drawingml/2006/main">
            <a:r>
              <a:t>4. Rules or evaluated models produce findings with evidence references and model/rule versions.</a:t>
            </a:r>
          </a:p>
          <a:p xmlns:a="http://schemas.openxmlformats.org/drawingml/2006/main">
            <a:r>
              <a:t>5. An authorised user reviews a proposed action. Execution checks approval scope and current target state immediately before acting.</a:t>
            </a:r>
          </a:p>
          <a:p xmlns:a="http://schemas.openxmlformats.org/drawingml/2006/main">
            <a:r>
              <a:t>6. A follow-up observation records success, failure, uncertainty or required manual recovery.</a:t>
            </a:r>
          </a:p>
          <a:p xmlns:a="http://schemas.openxmlformats.org/drawingml/2006/main">
            <a:r>
              <a:t/>
            </a:r>
          </a:p>
          <a:p xmlns:a="http://schemas.openxmlformats.org/drawingml/2006/main">
            <a:r>
              <a:t>Default handling: raw packet payloads disabled; locally buffered metadata expires after seven days; centrally stored operational observations expire after 30 days; findings/audit after 180 days; learning outcomes after 180 days. These are pilot design defaults, configurable through a documented customer-purpose/retention review. Research copies require separate approval and retention. Pseudonymisation is not anonymisation. Backup expiry and restore-time deletion replay are covered in the [privacy specification](11-security-privacy-regulation.md).</a:t>
            </a:r>
          </a:p>
          <a:p xmlns:a="http://schemas.openxmlformats.org/drawingml/2006/main">
            <a:r>
              <a:t/>
            </a:r>
          </a:p>
          <a:p xmlns:a="http://schemas.openxmlformats.org/drawingml/2006/main">
            <a:r>
              <a:t>## Build, reuse and defer</a:t>
            </a:r>
          </a:p>
          <a:p xmlns:a="http://schemas.openxmlformats.org/drawingml/2006/main">
            <a:r>
              <a:t/>
            </a:r>
          </a:p>
          <a:p xmlns:a="http://schemas.openxmlformats.org/drawingml/2006/main">
            <a:r>
              <a:t>| Capability | Initial decision | Reason/revisit trigger |</a:t>
            </a:r>
          </a:p>
          <a:p xmlns:a="http://schemas.openxmlformats.org/drawingml/2006/main">
            <a:r>
              <a:t>|---|---|---|</a:t>
            </a:r>
          </a:p>
          <a:p xmlns:a="http://schemas.openxmlformats.org/drawingml/2006/main">
            <a:r>
              <a:t>| Evidence/finding model, UX, workflows | Build | Own-product differentiation |</a:t>
            </a:r>
          </a:p>
          <a:p xmlns:a="http://schemas.openxmlformats.org/drawingml/2006/main">
            <a:r>
              <a:t>| Networking | Optional upstream NetBird behind adapter | Avoid bespoke tunnel/security maintenance; revisit only for a measured gap |</a:t>
            </a:r>
          </a:p>
          <a:p xmlns:a="http://schemas.openxmlformats.org/drawingml/2006/main">
            <a:r>
              <a:t>| Authentication | OIDC integration | Separate authentication from authorisation; pilot IdP selected from actual customer environment |</a:t>
            </a:r>
          </a:p>
          <a:p xmlns:a="http://schemas.openxmlformats.org/drawingml/2006/main">
            <a:r>
              <a:t>| SCA | CycloneDX JSON ingestion + OSV enrichment adapter | Reuse standards and advisories; preserve provenance and freshness |</a:t>
            </a:r>
          </a:p>
          <a:p xmlns:a="http://schemas.openxmlformats.org/drawingml/2006/main">
            <a:r>
              <a:t>| Network monitoring | Evaluate Zeek metadata and Suricata alerts in lab | Reuse sensors; AegisAI owns normalisation and findings |</a:t>
            </a:r>
          </a:p>
          <a:p xmlns:a="http://schemas.openxmlformats.org/drawingml/2006/main">
            <a:r>
              <a:t>| Workflow | Persistent jobs, retries, outbox and approval records | Introduce Temporal only if durable workflow complexity exceeds this implementation |</a:t>
            </a:r>
          </a:p>
          <a:p xmlns:a="http://schemas.openxmlformats.org/drawingml/2006/main">
            <a:r>
              <a:t>| Observability | OpenTelemetry instrumentation; standard metrics/log collection | Correlate execution without logging secrets or full prompts by default |</a:t>
            </a:r>
          </a:p>
          <a:p xmlns:a="http://schemas.openxmlformats.org/drawingml/2006/main">
            <a:r>
              <a:t>| Model serving | Adapter; local runtime benchmark before selection | No unverified GPU purchase or latency promise |</a:t>
            </a:r>
          </a:p>
          <a:p xmlns:a="http://schemas.openxmlformats.org/drawingml/2006/main">
            <a:r>
              <a:t>| User interface | Responsive web first | Native mobile/Electron only for demonstrated unmet workflows |</a:t>
            </a:r>
          </a:p>
          <a:p xmlns:a="http://schemas.openxmlformats.org/drawingml/2006/main">
            <a:r>
              <a:t>| Storage/scale | PostgreSQL and object storage | No data lake, Kafka or Kubernetes as a release prerequisite |</a:t>
            </a:r>
          </a:p>
          <a:p xmlns:a="http://schemas.openxmlformats.org/drawingml/2006/main">
            <a:r>
              <a:t/>
            </a:r>
          </a:p>
          <a:p xmlns:a="http://schemas.openxmlformats.org/drawingml/2006/main">
            <a:r>
              <a:t>Standards/provider context: [CycloneDX](https://cyclonedx.org/specification/overview/), [OSV](https://osv.dev/). Pin versions and verify licences in the implementation change that adopts each dependency.</a:t>
            </a:r>
          </a:p>
          <a:p xmlns:a="http://schemas.openxmlformats.org/drawingml/2006/main">
            <a:r>
              <a:t/>
            </a:r>
          </a:p>
          <a:p xmlns:a="http://schemas.openxmlformats.org/drawingml/2006/main">
            <a:r>
              <a:t>## Failure and security boundaries</a:t>
            </a:r>
          </a:p>
          <a:p xmlns:a="http://schemas.openxmlformats.org/drawingml/2006/main">
            <a:r>
              <a:t/>
            </a:r>
          </a:p>
          <a:p xmlns:a="http://schemas.openxmlformats.org/drawingml/2006/main">
            <a:r>
              <a:t>- Queue interruption: resume persisted jobs; require idempotency or reconciliation for external side effects. Never blindly retry an uncertain account-disable operation.</a:t>
            </a:r>
          </a:p>
          <a:p xmlns:a="http://schemas.openxmlformats.org/drawingml/2006/main">
            <a:r>
              <a:t>- Collector offline: bounded local buffer, visible last-seen timestamp, no fabricated normal status; overflow records a loss count.</a:t>
            </a:r>
          </a:p>
          <a:p xmlns:a="http://schemas.openxmlformats.org/drawingml/2006/main">
            <a:r>
              <a:t>- Model unavailable: deterministic baseline/reporting continues; mark model-generated enrichment unavailable.</a:t>
            </a:r>
          </a:p>
          <a:p xmlns:a="http://schemas.openxmlformats.org/drawingml/2006/main">
            <a:r>
              <a:t>- External feed stale: show age and last success; missing advisories are not evidence of no vulnerabilities.</a:t>
            </a:r>
          </a:p>
          <a:p xmlns:a="http://schemas.openxmlformats.org/drawingml/2006/main">
            <a:r>
              <a:t>- Compromised agent: isolate execution, revoke credentials, preserve audit, disable tool capability without disabling unrelated customer networking.</a:t>
            </a:r>
          </a:p>
          <a:p xmlns:a="http://schemas.openxmlformats.org/drawingml/2006/main">
            <a:r>
              <a:t>- Network management outage: expose stale policy state; do not promise immediate revocation until enforcement is confirmed.</a:t>
            </a:r>
          </a:p>
          <a:p xmlns:a="http://schemas.openxmlformats.org/drawingml/2006/main">
            <a:r>
              <a:t>- Storage pressure: stop optional capture first; preserve audit integrity and alert the operator.</a:t>
            </a:r>
          </a:p>
          <a:p xmlns:a="http://schemas.openxmlformats.org/drawingml/2006/main">
            <a:r>
              <a:t/>
            </a:r>
          </a:p>
          <a:p xmlns:a="http://schemas.openxmlformats.org/drawingml/2006/main">
            <a:r>
              <a:t>Platform tests cover cross-organisation references, duplicate events, schema mismatch, stale credentials, interrupted upgrades and backup restoration. Concrete gate evidence is defined in the [production handbook](12-production-handbook.md).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and action flow</a:t>
            </a:r>
          </a:p>
          <a:p xmlns:a="http://schemas.openxmlformats.org/drawingml/2006/main">
            <a:r>
              <a:t/>
            </a:r>
          </a:p>
          <a:p xmlns:a="http://schemas.openxmlformats.org/drawingml/2006/main">
            <a:r>
              <a:t/>
            </a:r>
          </a:p>
          <a:p xmlns:a="http://schemas.openxmlformats.org/drawingml/2006/main">
            <a:r>
              <a:t/>
            </a:r>
          </a:p>
          <a:p xmlns:a="http://schemas.openxmlformats.org/drawingml/2006/main">
            <a:r>
              <a:t>1  Collect / Authenticate the source and minimise data locally</a:t>
            </a:r>
          </a:p>
          <a:p xmlns:a="http://schemas.openxmlformats.org/drawingml/2006/main">
            <a:r>
              <a:t>2  Ingest / Validate, deduplicate and acknowledge durable receipt</a:t>
            </a:r>
          </a:p>
          <a:p xmlns:a="http://schemas.openxmlformats.org/drawingml/2006/main">
            <a:r>
              <a:t>3  Analyse / Produce a finding with rule/model version and evidence</a:t>
            </a:r>
          </a:p>
          <a:p xmlns:a="http://schemas.openxmlformats.org/drawingml/2006/main">
            <a:r>
              <a:t>4  Review and execute / Check approval, scope and current target state</a:t>
            </a:r>
          </a:p>
          <a:p xmlns:a="http://schemas.openxmlformats.org/drawingml/2006/main">
            <a:r>
              <a:t>5  Reconcile / Record success, uncertainty or required recovery</a:t>
            </a:r>
          </a:p>
          <a:p xmlns:a="http://schemas.openxmlformats.org/drawingml/2006/main">
            <a:r>
              <a:t/>
            </a:r>
          </a:p>
          <a:p xmlns:a="http://schemas.openxmlformats.org/drawingml/2006/main">
            <a:r>
              <a:t>Project documentation: implementation-plan/03-shared-architecture.md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 reuse and defer</a:t>
            </a:r>
          </a:p>
          <a:p xmlns:a="http://schemas.openxmlformats.org/drawingml/2006/main">
            <a:r>
              <a:t/>
            </a:r>
          </a:p>
          <a:p xmlns:a="http://schemas.openxmlformats.org/drawingml/2006/main">
            <a:r>
              <a:t/>
            </a:r>
          </a:p>
          <a:p xmlns:a="http://schemas.openxmlformats.org/drawingml/2006/main">
            <a:r>
              <a:t/>
            </a:r>
          </a:p>
          <a:p xmlns:a="http://schemas.openxmlformats.org/drawingml/2006/main">
            <a:r>
              <a:t>Evidence and product workflows / OIDC and mature networking / Additional orchestration engines</a:t>
            </a:r>
          </a:p>
          <a:p xmlns:a="http://schemas.openxmlformats.org/drawingml/2006/main">
            <a:r>
              <a:t>Customer experience / Sensors and advisory sources / Kafka or a large data lake</a:t>
            </a:r>
          </a:p>
          <a:p xmlns:a="http://schemas.openxmlformats.org/drawingml/2006/main">
            <a:r>
              <a:t>Approval and reconciliation / Model-serving runtimes / Kubernetes and service mesh</a:t>
            </a:r>
          </a:p>
          <a:p xmlns:a="http://schemas.openxmlformats.org/drawingml/2006/main">
            <a:r>
              <a:t>Operational lifecycle / Standard observability tools / Native apps and custom hardware</a:t>
            </a:r>
          </a:p>
          <a:p xmlns:a="http://schemas.openxmlformats.org/drawingml/2006/main">
            <a:r>
              <a:t/>
            </a:r>
          </a:p>
          <a:p xmlns:a="http://schemas.openxmlformats.org/drawingml/2006/main">
            <a:r>
              <a:t>Project documentation: implementation-plan/03-shared-architecture.md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Deployment and data boundaries</a:t>
            </a:r>
          </a:p>
          <a:p xmlns:a="http://schemas.openxmlformats.org/drawingml/2006/main">
            <a:r>
              <a:t/>
            </a:r>
          </a:p>
          <a:p xmlns:a="http://schemas.openxmlformats.org/drawingml/2006/main">
            <a:r>
              <a:t/>
            </a:r>
          </a:p>
          <a:p xmlns:a="http://schemas.openxmlformats.org/drawingml/2006/main">
            <a:r>
              <a:t/>
            </a:r>
          </a:p>
          <a:p xmlns:a="http://schemas.openxmlformats.org/drawingml/2006/main">
            <a:r>
              <a:t>Customer isolation: Separate EU-managed stacks, credentials, storage and backups.</a:t>
            </a:r>
          </a:p>
          <a:p xmlns:a="http://schemas.openxmlformats.org/drawingml/2006/main">
            <a:r>
              <a:t/>
            </a:r>
          </a:p>
          <a:p xmlns:a="http://schemas.openxmlformats.org/drawingml/2006/main">
            <a:r>
              <a:t>Edge processing: Keep raw sensitive telemetry local where practical. Export permitted evidence.</a:t>
            </a:r>
          </a:p>
          <a:p xmlns:a="http://schemas.openxmlformats.org/drawingml/2006/main">
            <a:r>
              <a:t/>
            </a:r>
          </a:p>
          <a:p xmlns:a="http://schemas.openxmlformats.org/drawingml/2006/main">
            <a:r>
              <a:t>Product separation: Training and security findings have distinct purposes and access rules.</a:t>
            </a:r>
          </a:p>
          <a:p xmlns:a="http://schemas.openxmlformats.org/drawingml/2006/main">
            <a:r>
              <a:t/>
            </a:r>
          </a:p>
          <a:p xmlns:a="http://schemas.openxmlformats.org/drawingml/2006/main">
            <a:r>
              <a:t>Fleet operation: Central administration stores health and billing metadata with audited support elevation.</a:t>
            </a:r>
          </a:p>
          <a:p xmlns:a="http://schemas.openxmlformats.org/drawingml/2006/main">
            <a:r>
              <a:t/>
            </a:r>
          </a:p>
          <a:p xmlns:a="http://schemas.openxmlformats.org/drawingml/2006/main">
            <a:r>
              <a:t>Project documentation: implementation-plan/03-shared-architecture.md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https://cyclonedx.org/specification/overview/</a:t>
            </a:r>
          </a:p>
          <a:p xmlns:a="http://schemas.openxmlformats.org/drawingml/2006/main">
            <a:r>
              <a:t>https://osv.dev/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NetBird technical reference</a:t>
            </a:r>
          </a:p>
          <a:p xmlns:a="http://schemas.openxmlformats.org/drawingml/2006/main">
            <a:r>
              <a:t/>
            </a:r>
          </a:p>
          <a:p xmlns:a="http://schemas.openxmlformats.org/drawingml/2006/main">
            <a:r>
              <a:t/>
            </a:r>
          </a:p>
          <a:p xmlns:a="http://schemas.openxmlformats.org/drawingml/2006/main">
            <a:r>
              <a:t/>
            </a:r>
          </a:p>
          <a:p xmlns:a="http://schemas.openxmlformats.org/drawingml/2006/main">
            <a:r>
              <a:t>Client / WireGuard / Encrypted peer connectivity / Enrolment and device trust</a:t>
            </a:r>
          </a:p>
          <a:p xmlns:a="http://schemas.openxmlformats.org/drawingml/2006/main">
            <a:r>
              <a:t>Management / Identity and network state / Provider adapter and reconciliation</a:t>
            </a:r>
          </a:p>
          <a:p xmlns:a="http://schemas.openxmlformats.org/drawingml/2006/main">
            <a:r>
              <a:t>Signal / Connection negotiation / Connectivity diagnostics</a:t>
            </a:r>
          </a:p>
          <a:p xmlns:a="http://schemas.openxmlformats.org/drawingml/2006/main">
            <a:r>
              <a:t>Relay / routing peer / Fallback or LAN reachability / Failure domains and onward traffic protection</a:t>
            </a:r>
          </a:p>
          <a:p xmlns:a="http://schemas.openxmlformats.org/drawingml/2006/main">
            <a:r>
              <a:t/>
            </a:r>
          </a:p>
          <a:p xmlns:a="http://schemas.openxmlformats.org/drawingml/2006/main">
            <a:r>
              <a:t>Project documentation: implementation-plan/04-netbird-study.md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https://docs.netbird.io/agent-network/how-it-works</a:t>
            </a:r>
          </a:p>
          <a:p xmlns:a="http://schemas.openxmlformats.org/drawingml/2006/main">
            <a:r>
              <a:t>https://docs.netbird.io/agent-network</a:t>
            </a:r>
          </a:p>
          <a:p xmlns:a="http://schemas.openxmlformats.org/drawingml/2006/main">
            <a:r>
              <a:t>https://docs.netbird.io/agent-network/quickstart</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NetBird: technical foundation study and reuse boundary</a:t>
            </a:r>
          </a:p>
          <a:p xmlns:a="http://schemas.openxmlformats.org/drawingml/2006/main">
            <a:r>
              <a:t/>
            </a:r>
          </a:p>
          <a:p xmlns:a="http://schemas.openxmlformats.org/drawingml/2006/main">
            <a:r>
              <a:t>[Index](README.md) · Checked 18 September 2026 · Owner: Platform/Security Lead</a:t>
            </a:r>
          </a:p>
          <a:p xmlns:a="http://schemas.openxmlformats.org/drawingml/2006/main">
            <a:r>
              <a:t/>
            </a:r>
          </a:p>
          <a:p xmlns:a="http://schemas.openxmlformats.org/drawingml/2006/main">
            <a:r>
              <a:t>## What to learn</a:t>
            </a:r>
          </a:p>
          <a:p xmlns:a="http://schemas.openxmlformats.org/drawingml/2006/main">
            <a:r>
              <a:t/>
            </a:r>
          </a:p>
          <a:p xmlns:a="http://schemas.openxmlformats.org/drawingml/2006/main">
            <a:r>
              <a:t>NetBird coordinates authenticated peers using Management, Signal, Relay and device clients. Clients generate WireGuard keys; private keys remain on-device. Management distributes authorised peer/network state. Signal exchanges connection candidates; direct tunnels carry application traffic when possible. Relay provides an encrypted fallback when direct connectivity fails. Policy and DNS handling are applied by clients. The architecture page describes both historical TURN/Coturn and newer relay behaviour, so deployment instructions must match a pinned release rather than combine generations. [Architecture](https://docs.netbird.io/about-netbird/how-netbird-works).</a:t>
            </a:r>
          </a:p>
          <a:p xmlns:a="http://schemas.openxmlformats.org/drawingml/2006/main">
            <a:r>
              <a:t/>
            </a:r>
          </a:p>
          <a:p xmlns:a="http://schemas.openxmlformats.org/drawingml/2006/main">
            <a:r>
              <a:t>A routing peer forwards overlay traffic to non-client resources. The overlay terminates there; application encryption and LAN segmentation remain separate requirements. NAT/masquerading and return routing affect attribution and reachability. [Routing documentation](https://docs.netbird.io/manage/networks/how-routing-peers-work).</a:t>
            </a:r>
          </a:p>
          <a:p xmlns:a="http://schemas.openxmlformats.org/drawingml/2006/main">
            <a:r>
              <a:t/>
            </a:r>
          </a:p>
          <a:p xmlns:a="http://schemas.openxmlformats.org/drawingml/2006/main">
            <a:r>
              <a:t>## AegisAI component decisions</a:t>
            </a:r>
          </a:p>
          <a:p xmlns:a="http://schemas.openxmlformats.org/drawingml/2006/main">
            <a:r>
              <a:t/>
            </a:r>
          </a:p>
          <a:p xmlns:a="http://schemas.openxmlformats.org/drawingml/2006/main">
            <a:r>
              <a:t>| Upstream concept | AegisAI use | Own responsibility |</a:t>
            </a:r>
          </a:p>
          <a:p xmlns:a="http://schemas.openxmlformats.org/drawingml/2006/main">
            <a:r>
              <a:t>|---|---|---|</a:t>
            </a:r>
          </a:p>
          <a:p xmlns:a="http://schemas.openxmlformats.org/drawingml/2006/main">
            <a:r>
              <a:t>| Peer enrolment | Optional connectivity for edge collectors and internal workers | Asset identity, enrolment approval, revocation workflow |</a:t>
            </a:r>
          </a:p>
          <a:p xmlns:a="http://schemas.openxmlformats.org/drawingml/2006/main">
            <a:r>
              <a:t>| Network policy | Transport reachability for approved service paths | Application permissions, tool capabilities and human approvals |</a:t>
            </a:r>
          </a:p>
          <a:p xmlns:a="http://schemas.openxmlformats.org/drawingml/2006/main">
            <a:r>
              <a:t>| Management API | Adapter for inventory and proposed configuration changes | Stable product contract, reconciliation and audit |</a:t>
            </a:r>
          </a:p>
          <a:p xmlns:a="http://schemas.openxmlformats.org/drawingml/2006/main">
            <a:r>
              <a:t>| Signal/NAT traversal | Upstream implementation where selected | Connectivity diagnostics and support boundary |</a:t>
            </a:r>
          </a:p>
          <a:p xmlns:a="http://schemas.openxmlformats.org/drawingml/2006/main">
            <a:r>
              <a:t>| Relay | Fallback for supported edge topology | Capacity, egress cost, availability tests |</a:t>
            </a:r>
          </a:p>
          <a:p xmlns:a="http://schemas.openxmlformats.org/drawingml/2006/main">
            <a:r>
              <a:t>| Routing peer | Explicitly scoped access to legacy resources | LAN trust boundary, minimal routes and customer approval |</a:t>
            </a:r>
          </a:p>
          <a:p xmlns:a="http://schemas.openxmlformats.org/drawingml/2006/main">
            <a:r>
              <a:t>| Upstream dashboard | Administrator troubleshooting where needed | AegisAI product experience; no rebranding claim of upstream authorship |</a:t>
            </a:r>
          </a:p>
          <a:p xmlns:a="http://schemas.openxmlformats.org/drawingml/2006/main">
            <a:r>
              <a:t/>
            </a:r>
          </a:p>
          <a:p xmlns:a="http://schemas.openxmlformats.org/drawingml/2006/main">
            <a:r>
              <a:t>Use upstream unmodified binaries initially. Products depend on an AegisAI connectivity interface, not NetBird peer/group IDs. Store provider mappings in the adapter. An HTTPS-only deployment remains possible when overlay connectivity adds no value. A fork requires an ADR documenting gap, upstream contribution attempt, maintenance owner, licensing and upgrade/security burden.</a:t>
            </a:r>
          </a:p>
          <a:p xmlns:a="http://schemas.openxmlformats.org/drawingml/2006/main">
            <a:r>
              <a:t/>
            </a:r>
          </a:p>
          <a:p xmlns:a="http://schemas.openxmlformats.org/drawingml/2006/main">
            <a:r>
              <a:t>## Operational and commercial limits</a:t>
            </a:r>
          </a:p>
          <a:p xmlns:a="http://schemas.openxmlformats.org/drawingml/2006/main">
            <a:r>
              <a:t/>
            </a:r>
          </a:p>
          <a:p xmlns:a="http://schemas.openxmlformats.org/drawingml/2006/main">
            <a:r>
              <a:t>Self-hosted NetBird is currently single-account. For isolated customers use separate deployments; groups alone are not a tenant boundary. Commercial self-hosted features include control-plane HA, SCIM and traffic-flow streaming. Cloud prices do not price those licences. Confirm terms for each customer entity before sale.</a:t>
            </a:r>
          </a:p>
          <a:p xmlns:a="http://schemas.openxmlformats.org/drawingml/2006/main">
            <a:r>
              <a:t/>
            </a:r>
          </a:p>
          <a:p xmlns:a="http://schemas.openxmlformats.org/drawingml/2006/main">
            <a:r>
              <a:t>Direct sessions can survive management downtime, but enrolment and policy updates cannot. A combined-server restart also affects its relay; separating relay changes that failure domain. Enterprise licence validation sends installation metadata/counters, which belongs in the subprocessors/data-flow assessment. These constraints are important to cost and service design. [Enterprise documentation, updated 16 September 2026](https://docs.netbird.io/selfhosted/enterprise).</a:t>
            </a:r>
          </a:p>
          <a:p xmlns:a="http://schemas.openxmlformats.org/drawingml/2006/main">
            <a:r>
              <a:t/>
            </a:r>
          </a:p>
          <a:p xmlns:a="http://schemas.openxmlformats.org/drawingml/2006/main">
            <a:r>
              <a:t>The repository applies BSD-3-Clause by default with AGPL-covered server directories including management, signal, relay and combined. Inspect all shipped repositories and the exact release, not only the top-level label. API separation is an engineering boundary, not a legal conclusion about derived works. Track notices, modifications, source-offer obligations and any commercial agreement. [Repository licence](https://github.com/netbirdio/netbird/blob/main/LICENSE).</a:t>
            </a:r>
          </a:p>
          <a:p xmlns:a="http://schemas.openxmlformats.org/drawingml/2006/main">
            <a:r>
              <a:t/>
            </a:r>
          </a:p>
          <a:p xmlns:a="http://schemas.openxmlformats.org/drawingml/2006/main">
            <a:r>
              <a:t>## Agent Network: optional evaluation</a:t>
            </a:r>
          </a:p>
          <a:p xmlns:a="http://schemas.openxmlformats.org/drawingml/2006/main">
            <a:r>
              <a:t/>
            </a:r>
          </a:p>
          <a:p xmlns:a="http://schemas.openxmlformats.org/drawingml/2006/main">
            <a:r>
              <a:t>NetBird Agent Network distinguishes proxied model calls from direct resource connections. Its proxy can inject provider credentials and apply model/usage policy; direct network connections do not automatically receive request/token accounting. It is beta and the quickstart uses release candidates. [Architecture](https://docs.netbird.io/agent-network/how-it-works), [beta status](https://docs.netbird.io/agent-network), [quickstart](https://docs.netbird.io/agent-network/quickstart).</a:t>
            </a:r>
          </a:p>
          <a:p xmlns:a="http://schemas.openxmlformats.org/drawingml/2006/main">
            <a:r>
              <a:t/>
            </a:r>
          </a:p>
          <a:p xmlns:a="http://schemas.openxmlformats.org/drawingml/2006/main">
            <a:r>
              <a:t>AegisAI must additionally enforce tool semantics, workload isolation, task-scoped approval and execution evidence. A device identity does not distinguish every process on a shared machine. Separate worker identities and execution boundaries are required. Evaluate Agent Network internally against an independent gateway baseline; it is not a first-product dependency.</a:t>
            </a:r>
          </a:p>
          <a:p xmlns:a="http://schemas.openxmlformats.org/drawingml/2006/main">
            <a:r>
              <a:t/>
            </a:r>
          </a:p>
          <a:p xmlns:a="http://schemas.openxmlformats.org/drawingml/2006/main">
            <a:r>
              <a:t>## Lab checklist and acceptance</a:t>
            </a:r>
          </a:p>
          <a:p xmlns:a="http://schemas.openxmlformats.org/drawingml/2006/main">
            <a:r>
              <a:t/>
            </a:r>
          </a:p>
          <a:p xmlns:a="http://schemas.openxmlformats.org/drawingml/2006/main">
            <a:r>
              <a:t>| Test | Evidence required |</a:t>
            </a:r>
          </a:p>
          <a:p xmlns:a="http://schemas.openxmlformats.org/drawingml/2006/main">
            <a:r>
              <a:t>|---|---|</a:t>
            </a:r>
          </a:p>
          <a:p xmlns:a="http://schemas.openxmlformats.org/drawingml/2006/main">
            <a:r>
              <a:t>| Enrol approved collector; attempt unauthorised enrolment | Allowed/denied identity records, no administrator key on worker |</a:t>
            </a:r>
          </a:p>
          <a:p xmlns:a="http://schemas.openxmlformats.org/drawingml/2006/main">
            <a:r>
              <a:t>| Direct connection and forced relay fallback | Packet path, latency, throughput and egress measurement |</a:t>
            </a:r>
          </a:p>
          <a:p xmlns:a="http://schemas.openxmlformats.org/drawingml/2006/main">
            <a:r>
              <a:t>| Denied route and DNS behaviour | Negative reachability tests and resolver configuration |</a:t>
            </a:r>
          </a:p>
          <a:p xmlns:a="http://schemas.openxmlformats.org/drawingml/2006/main">
            <a:r>
              <a:t>| Revoke peer while online/offline | Measured propagation time and documented stale-state behaviour |</a:t>
            </a:r>
          </a:p>
          <a:p xmlns:a="http://schemas.openxmlformats.org/drawingml/2006/main">
            <a:r>
              <a:t>| Restart management and relay independently | Session and onboarding behaviour; maintenance procedure |</a:t>
            </a:r>
          </a:p>
          <a:p xmlns:a="http://schemas.openxmlformats.org/drawingml/2006/main">
            <a:r>
              <a:t>| Overlapping customer address ranges | Separate-stack isolation and no accidental routing overlap |</a:t>
            </a:r>
          </a:p>
          <a:p xmlns:a="http://schemas.openxmlformats.org/drawingml/2006/main">
            <a:r>
              <a:t>| Rotate credentials and upgrade pinned release | Rollback and retained authorised configuration |</a:t>
            </a:r>
          </a:p>
          <a:p xmlns:a="http://schemas.openxmlformats.org/drawingml/2006/main">
            <a:r>
              <a:t>| Attempt agent tool misuse through allowed network route | Application policy still denies the operation |</a:t>
            </a:r>
          </a:p>
          <a:p xmlns:a="http://schemas.openxmlformats.org/drawingml/2006/main">
            <a:r>
              <a:t/>
            </a:r>
          </a:p>
          <a:p xmlns:a="http://schemas.openxmlformats.org/drawingml/2006/main">
            <a:r>
              <a:t>## Business lesson</a:t>
            </a:r>
          </a:p>
          <a:p xmlns:a="http://schemas.openxmlformats.org/drawingml/2006/main">
            <a:r>
              <a:t/>
            </a:r>
          </a:p>
          <a:p xmlns:a="http://schemas.openxmlformats.org/drawingml/2006/main">
            <a:r>
              <a:t>NetBird combines a free adoption route with paid operation, organisational features, support and enterprise arrangements. AegisAI should apply the underlying pattern to its own products: useful community components, operationally valuable paid services, and clearly scoped enterprise work. It should not base its margin on an assumed right to resell commercial NetBird functionality. Pricing comparisons and own-product economics are in the [business model](10-market-business-model.md).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NetBird reuse and product ownership</a:t>
            </a:r>
          </a:p>
          <a:p xmlns:a="http://schemas.openxmlformats.org/drawingml/2006/main">
            <a:r>
              <a:t/>
            </a:r>
          </a:p>
          <a:p xmlns:a="http://schemas.openxmlformats.org/drawingml/2006/main">
            <a:r>
              <a:t/>
            </a:r>
          </a:p>
          <a:p xmlns:a="http://schemas.openxmlformats.org/drawingml/2006/main">
            <a:r>
              <a:t/>
            </a:r>
          </a:p>
          <a:p xmlns:a="http://schemas.openxmlformats.org/drawingml/2006/main">
            <a:r>
              <a:t>Optional provider: Use upstream components when they solve a deployment need. Preserve another transport path.</a:t>
            </a:r>
          </a:p>
          <a:p xmlns:a="http://schemas.openxmlformats.org/drawingml/2006/main">
            <a:r>
              <a:t/>
            </a:r>
          </a:p>
          <a:p xmlns:a="http://schemas.openxmlformats.org/drawingml/2006/main">
            <a:r>
              <a:t>Stable product contracts: Keep NetBird identifiers inside the connectivity adapter.</a:t>
            </a:r>
          </a:p>
          <a:p xmlns:a="http://schemas.openxmlformats.org/drawingml/2006/main">
            <a:r>
              <a:t/>
            </a:r>
          </a:p>
          <a:p xmlns:a="http://schemas.openxmlformats.org/drawingml/2006/main">
            <a:r>
              <a:t>Ownership: AegisAI owns evidence, intelligence, workflows, UX and lifecycle.</a:t>
            </a:r>
          </a:p>
          <a:p xmlns:a="http://schemas.openxmlformats.org/drawingml/2006/main">
            <a:r>
              <a:t/>
            </a:r>
          </a:p>
          <a:p xmlns:a="http://schemas.openxmlformats.org/drawingml/2006/main">
            <a:r>
              <a:t>Business lesson: A useful community foundation can support managed operation and enterprise services.</a:t>
            </a:r>
          </a:p>
          <a:p xmlns:a="http://schemas.openxmlformats.org/drawingml/2006/main">
            <a:r>
              <a:t/>
            </a:r>
          </a:p>
          <a:p xmlns:a="http://schemas.openxmlformats.org/drawingml/2006/main">
            <a:r>
              <a:t>Project documentation: implementation-plan/04-netbird-study.md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https://docs.netbird.io/agent-network/how-it-works</a:t>
            </a:r>
          </a:p>
          <a:p xmlns:a="http://schemas.openxmlformats.org/drawingml/2006/main">
            <a:r>
              <a:t>https://docs.netbird.io/agent-network</a:t>
            </a:r>
          </a:p>
          <a:p xmlns:a="http://schemas.openxmlformats.org/drawingml/2006/main">
            <a:r>
              <a:t>https://docs.netbird.io/agent-network/quickstart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NetBird operational constraints</a:t>
            </a:r>
          </a:p>
          <a:p xmlns:a="http://schemas.openxmlformats.org/drawingml/2006/main">
            <a:r>
              <a:t/>
            </a:r>
          </a:p>
          <a:p xmlns:a="http://schemas.openxmlformats.org/drawingml/2006/main">
            <a:r>
              <a:t/>
            </a:r>
          </a:p>
          <a:p xmlns:a="http://schemas.openxmlformats.org/drawingml/2006/main">
            <a:r>
              <a:t/>
            </a:r>
          </a:p>
          <a:p xmlns:a="http://schemas.openxmlformats.org/drawingml/2006/main">
            <a:r>
              <a:t>Self-hosted single account / Separate customer deployments for isolation</a:t>
            </a:r>
          </a:p>
          <a:p xmlns:a="http://schemas.openxmlformats.org/drawingml/2006/main">
            <a:r>
              <a:t>Management outage / Existing traffic and policy-update availability differ</a:t>
            </a:r>
          </a:p>
          <a:p xmlns:a="http://schemas.openxmlformats.org/drawingml/2006/main">
            <a:r>
              <a:t>Commercial features / Confirm HA, SCIM and logging terms before sale</a:t>
            </a:r>
          </a:p>
          <a:p xmlns:a="http://schemas.openxmlformats.org/drawingml/2006/main">
            <a:r>
              <a:t>Agent Network beta / Internal evaluation only until maturity and need justify adoption</a:t>
            </a:r>
          </a:p>
          <a:p xmlns:a="http://schemas.openxmlformats.org/drawingml/2006/main">
            <a:r>
              <a:t/>
            </a:r>
          </a:p>
          <a:p xmlns:a="http://schemas.openxmlformats.org/drawingml/2006/main">
            <a:r>
              <a:t>Project documentation: implementation-plan/04-netbird-study.md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https://docs.netbird.io/agent-network/how-it-works</a:t>
            </a:r>
          </a:p>
          <a:p xmlns:a="http://schemas.openxmlformats.org/drawingml/2006/main">
            <a:r>
              <a:t>https://docs.netbird.io/agent-network</a:t>
            </a:r>
          </a:p>
          <a:p xmlns:a="http://schemas.openxmlformats.org/drawingml/2006/main">
            <a:r>
              <a:t>https://docs.netbird.io/agent-network/quickstart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interfaces</a:t>
            </a:r>
          </a:p>
          <a:p xmlns:a="http://schemas.openxmlformats.org/drawingml/2006/main">
            <a:r>
              <a:t/>
            </a:r>
          </a:p>
          <a:p xmlns:a="http://schemas.openxmlformats.org/drawingml/2006/main">
            <a:r>
              <a:t/>
            </a:r>
          </a:p>
          <a:p xmlns:a="http://schemas.openxmlformats.org/drawingml/2006/main">
            <a:r>
              <a:t/>
            </a:r>
          </a:p>
          <a:p xmlns:a="http://schemas.openxmlformats.org/drawingml/2006/main">
            <a:r>
              <a:t>Identity and assets / Organisation scope, roles, source identity and ownership</a:t>
            </a:r>
          </a:p>
          <a:p xmlns:a="http://schemas.openxmlformats.org/drawingml/2006/main">
            <a:r>
              <a:t>Learning and observations / Versioned outcomes, occurrence time and provenance</a:t>
            </a:r>
          </a:p>
          <a:p xmlns:a="http://schemas.openxmlformats.org/drawingml/2006/main">
            <a:r>
              <a:t>Findings and evidence / Accessible references, confidence and rule/model version</a:t>
            </a:r>
          </a:p>
          <a:p xmlns:a="http://schemas.openxmlformats.org/drawingml/2006/main">
            <a:r>
              <a:t>Collectors and agents / Enrolment, health, capabilities and revocation</a:t>
            </a:r>
          </a:p>
          <a:p xmlns:a="http://schemas.openxmlformats.org/drawingml/2006/main">
            <a:r>
              <a:t>Actions and validation / Bounded targets, approval, expiry and execution results</a:t>
            </a:r>
          </a:p>
          <a:p xmlns:a="http://schemas.openxmlformats.org/drawingml/2006/main">
            <a:r>
              <a:t/>
            </a:r>
          </a:p>
          <a:p xmlns:a="http://schemas.openxmlformats.org/drawingml/2006/main">
            <a:r>
              <a:t>Project documentation: implementation-plan/05-interface-contracts.md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Interface contracts: implementation design baseline</a:t>
            </a:r>
          </a:p>
          <a:p xmlns:a="http://schemas.openxmlformats.org/drawingml/2006/main">
            <a:r>
              <a:t/>
            </a:r>
          </a:p>
          <a:p xmlns:a="http://schemas.openxmlformats.org/drawingml/2006/main">
            <a:r>
              <a:t>[Index](README.md) · Owner: Platform/Security Lead · Status: proposed v1 contracts, not an implemented API</a:t>
            </a:r>
          </a:p>
          <a:p xmlns:a="http://schemas.openxmlformats.org/drawingml/2006/main">
            <a:r>
              <a:t/>
            </a:r>
          </a:p>
          <a:p xmlns:a="http://schemas.openxmlformats.org/drawingml/2006/main">
            <a:r>
              <a:t>## Common rules</a:t>
            </a:r>
          </a:p>
          <a:p xmlns:a="http://schemas.openxmlformats.org/drawingml/2006/main">
            <a:r>
              <a:t/>
            </a:r>
          </a:p>
          <a:p xmlns:a="http://schemas.openxmlformats.org/drawingml/2006/main">
            <a:r>
              <a:t>Use `/api/v1` REST endpoints documented with OpenAPI in the product repository. Derive organisation scope from the authenticated principal; validate any supplied organisation identifier against it. Every object lookup enforces organisation ownership, including references nested inside request bodies. Cursor pagination applies to lists. Timestamps are UTC; retain event occurrence and receipt separately. Changes use optimistic concurrency where a stale state could invalidate an approval.</a:t>
            </a:r>
          </a:p>
          <a:p xmlns:a="http://schemas.openxmlformats.org/drawingml/2006/main">
            <a:r>
              <a:t/>
            </a:r>
          </a:p>
          <a:p xmlns:a="http://schemas.openxmlformats.org/drawingml/2006/main">
            <a:r>
              <a:t>Mutating requests accept an idempotency key scoped to principal, organisation and operation. Reuse with a different payload returns a conflict. Validation errors are explicit; unsupported schema versions are quarantined or rejected, never silently reinterpreted. Credential material is returned only at creation and excluded from logs.</a:t>
            </a:r>
          </a:p>
          <a:p xmlns:a="http://schemas.openxmlformats.org/drawingml/2006/main">
            <a:r>
              <a:t/>
            </a:r>
          </a:p>
          <a:p xmlns:a="http://schemas.openxmlformats.org/drawingml/2006/main">
            <a:r>
              <a:t>## Resources and minimum operations</a:t>
            </a:r>
          </a:p>
          <a:p xmlns:a="http://schemas.openxmlformats.org/drawingml/2006/main">
            <a:r>
              <a:t/>
            </a:r>
          </a:p>
          <a:p xmlns:a="http://schemas.openxmlformats.org/drawingml/2006/main">
            <a:r>
              <a:t>| Resource group | Minimum fields/relationships | Initial operations |</a:t>
            </a:r>
          </a:p>
          <a:p xmlns:a="http://schemas.openxmlformats.org/drawingml/2006/main">
            <a:r>
              <a:t>|---|---|---|</a:t>
            </a:r>
          </a:p>
          <a:p xmlns:a="http://schemas.openxmlformats.org/drawingml/2006/main">
            <a:r>
              <a:t>| Organisation and identity | Organisation ID, identity type, external subject, role bindings, state | Read configuration; invite/revoke member; inspect own permissions |</a:t>
            </a:r>
          </a:p>
          <a:p xmlns:a="http://schemas.openxmlformats.org/drawingml/2006/main">
            <a:r>
              <a:t>| Asset and software component | Asset ID, source identity, last seen, owner; component package identifier/version, SBOM reference | Import/upsert inventory; list assets; attach validated SBOM |</a:t>
            </a:r>
          </a:p>
          <a:p xmlns:a="http://schemas.openxmlformats.org/drawingml/2006/main">
            <a:r>
              <a:t>| Learning | Content version, assignment, pseudonymous learner reference, outcome and feedback | Assign; fetch content; submit outcome; report aggregate progress |</a:t>
            </a:r>
          </a:p>
          <a:p xmlns:a="http://schemas.openxmlformats.org/drawingml/2006/main">
            <a:r>
              <a:t>| Observation | Producer/event ID, occurrence/receipt time, category, schema version, classified payload, evidence reference | Ingest batch; query authorised records |</a:t>
            </a:r>
          </a:p>
          <a:p xmlns:a="http://schemas.openxmlformats.org/drawingml/2006/main">
            <a:r>
              <a:t>| Finding | Evidence references, severity, confidence/limitations, rule/model version, state, assignee | Create; triage; annotate; close with resolution evidence |</a:t>
            </a:r>
          </a:p>
          <a:p xmlns:a="http://schemas.openxmlformats.org/drawingml/2006/main">
            <a:r>
              <a:t>| Proposed action | Target, operation, parameter digest, preconditions, expiry, justification, approver, execution state | Propose; approve/reject; execute; reconcile; record recovery |</a:t>
            </a:r>
          </a:p>
          <a:p xmlns:a="http://schemas.openxmlformats.org/drawingml/2006/main">
            <a:r>
              <a:t>| Collector | Device identity, configuration version, health, software version, credential state | Enrol; heartbeat; fetch signed configuration; rotate/revoke |</a:t>
            </a:r>
          </a:p>
          <a:p xmlns:a="http://schemas.openxmlformats.org/drawingml/2006/main">
            <a:r>
              <a:t>| Validation plan | Explicit targets, allowed techniques, time window, resource limits, authoriser, abort/cleanup policy | Validate scope; approve; run; abort; retrieve findings |</a:t>
            </a:r>
          </a:p>
          <a:p xmlns:a="http://schemas.openxmlformats.org/drawingml/2006/main">
            <a:r>
              <a:t>| Agent run | Workload/task identity, policy version, tool scopes, budget, evidence trace, checkpoint | Start; inspect; pause/cancel; revoke capability; export audit |</a:t>
            </a:r>
          </a:p>
          <a:p xmlns:a="http://schemas.openxmlformats.org/drawingml/2006/main">
            <a:r>
              <a:t/>
            </a:r>
          </a:p>
          <a:p xmlns:a="http://schemas.openxmlformats.org/drawingml/2006/main">
            <a:r>
              <a:t>Product endpoints must not expose internal provider-specific identifiers as the only stable identity. All evidence references include a content hash, storage location accessible through authorisation, provenance and retention class.</a:t>
            </a:r>
          </a:p>
          <a:p xmlns:a="http://schemas.openxmlformats.org/drawingml/2006/main">
            <a:r>
              <a:t/>
            </a:r>
          </a:p>
          <a:p xmlns:a="http://schemas.openxmlformats.org/drawingml/2006/main">
            <a:r>
              <a:t>## Event envelope example</a:t>
            </a:r>
          </a:p>
          <a:p xmlns:a="http://schemas.openxmlformats.org/drawingml/2006/main">
            <a:r>
              <a:t/>
            </a:r>
          </a:p>
          <a:p xmlns:a="http://schemas.openxmlformats.org/drawingml/2006/main">
            <a:r>
              <a:t>```json</a:t>
            </a:r>
          </a:p>
          <a:p xmlns:a="http://schemas.openxmlformats.org/drawingml/2006/main">
            <a:r>
              <a:t>{</a:t>
            </a:r>
          </a:p>
          <a:p xmlns:a="http://schemas.openxmlformats.org/drawingml/2006/main">
            <a:r>
              <a:t>  "schema_version": "1.0",</a:t>
            </a:r>
          </a:p>
          <a:p xmlns:a="http://schemas.openxmlformats.org/drawingml/2006/main">
            <a:r>
              <a:t>  "event_id": "producer-generated-unique-id",</a:t>
            </a:r>
          </a:p>
          <a:p xmlns:a="http://schemas.openxmlformats.org/drawingml/2006/main">
            <a:r>
              <a:t>  "producer_id": "enrolled-collector-id",</a:t>
            </a:r>
          </a:p>
          <a:p xmlns:a="http://schemas.openxmlformats.org/drawingml/2006/main">
            <a:r>
              <a:t>  "occurred_at": "2026-09-18T10:00:00Z",</a:t>
            </a:r>
          </a:p>
          <a:p xmlns:a="http://schemas.openxmlformats.org/drawingml/2006/main">
            <a:r>
              <a:t>  "category": "asset.observed",</a:t>
            </a:r>
          </a:p>
          <a:p xmlns:a="http://schemas.openxmlformats.org/drawingml/2006/main">
            <a:r>
              <a:t>  "classification": "operational-metadata",</a:t>
            </a:r>
          </a:p>
          <a:p xmlns:a="http://schemas.openxmlformats.org/drawingml/2006/main">
            <a:r>
              <a:t>  "asset_ref": "asset-id",</a:t>
            </a:r>
          </a:p>
          <a:p xmlns:a="http://schemas.openxmlformats.org/drawingml/2006/main">
            <a:r>
              <a:t>  "payload": {"source": "inventory-import"}</a:t>
            </a:r>
          </a:p>
          <a:p xmlns:a="http://schemas.openxmlformats.org/drawingml/2006/main">
            <a:r>
              <a:t>}</a:t>
            </a:r>
          </a:p>
          <a:p xmlns:a="http://schemas.openxmlformats.org/drawingml/2006/main">
            <a:r>
              <a:t>```</a:t>
            </a:r>
          </a:p>
          <a:p xmlns:a="http://schemas.openxmlformats.org/drawingml/2006/main">
            <a:r>
              <a:t/>
            </a:r>
          </a:p>
          <a:p xmlns:a="http://schemas.openxmlformats.org/drawingml/2006/main">
            <a:r>
              <a:t>The authenticated service supplies organisation context server-side. This example contains no customer data and illustrates the envelope only; category-specific schemas are delivered with their connector. Deduplicate on organisation + producer + event ID. Store receipt time on ingestion. Acknowledgement means durable persistence, not completion of all downstream analysis.</a:t>
            </a:r>
          </a:p>
          <a:p xmlns:a="http://schemas.openxmlformats.org/drawingml/2006/main">
            <a:r>
              <a:t/>
            </a:r>
          </a:p>
          <a:p xmlns:a="http://schemas.openxmlformats.org/drawingml/2006/main">
            <a:r>
              <a:t>## Asynchronous jobs and action approval</a:t>
            </a:r>
          </a:p>
          <a:p xmlns:a="http://schemas.openxmlformats.org/drawingml/2006/main">
            <a:r>
              <a:t/>
            </a:r>
          </a:p>
          <a:p xmlns:a="http://schemas.openxmlformats.org/drawingml/2006/main">
            <a:r>
              <a:t>Long-running imports, reports, simulations and model tasks return `202 Accepted` with a job reference. States: queued, running, awaiting approval, succeeded, failed, cancelled, or needs reconciliation. Record attempt history and retry policy. Pure ingestion/report work can retry; irreversible external operations require an idempotent target API or explicit reconciliation before retry.</a:t>
            </a:r>
          </a:p>
          <a:p xmlns:a="http://schemas.openxmlformats.org/drawingml/2006/main">
            <a:r>
              <a:t/>
            </a:r>
          </a:p>
          <a:p xmlns:a="http://schemas.openxmlformats.org/drawingml/2006/main">
            <a:r>
              <a:t>Approval binds the exact operation, target, parameter digest, policy version and expiry. A changed target state or request invalidates approval. The executor rechecks authorisation immediately before acting. The proposer cannot approve their own high-impact production action. Cancellation is best-effort for in-flight operations and must disclose partial effects. Audit replay reconstructs evidence; it never re-executes side effects by default.</a:t>
            </a:r>
          </a:p>
          <a:p xmlns:a="http://schemas.openxmlformats.org/drawingml/2006/main">
            <a:r>
              <a:t/>
            </a:r>
          </a:p>
          <a:p xmlns:a="http://schemas.openxmlformats.org/drawingml/2006/main">
            <a:r>
              <a:t>## Adapter contracts</a:t>
            </a:r>
          </a:p>
          <a:p xmlns:a="http://schemas.openxmlformats.org/drawingml/2006/main">
            <a:r>
              <a:t/>
            </a:r>
          </a:p>
          <a:p xmlns:a="http://schemas.openxmlformats.org/drawingml/2006/main">
            <a:r>
              <a:t>| Adapter | Responsibilities | Must not do |</a:t>
            </a:r>
          </a:p>
          <a:p xmlns:a="http://schemas.openxmlformats.org/drawingml/2006/main">
            <a:r>
              <a:t>|---|---|---|</a:t>
            </a:r>
          </a:p>
          <a:p xmlns:a="http://schemas.openxmlformats.org/drawingml/2006/main">
            <a:r>
              <a:t>| ConnectivityProvider | Enrol/inspect/revoke transport identity; propose/apply approved reachability changes; report capabilities | Imply network reachability grants application permission |</a:t>
            </a:r>
          </a:p>
          <a:p xmlns:a="http://schemas.openxmlformats.org/drawingml/2006/main">
            <a:r>
              <a:t>| ObservationSource | Validate source, normalise records, preserve provenance/freshness and loss counters | Invent labels or suppress ingestion failure |</a:t>
            </a:r>
          </a:p>
          <a:p xmlns:a="http://schemas.openxmlformats.org/drawingml/2006/main">
            <a:r>
              <a:t>| ModelProvider | Report model/revision, classify permitted inputs, enforce timeout/budget, record usage | Silently send restricted data to a cloud fallback |</a:t>
            </a:r>
          </a:p>
          <a:p xmlns:a="http://schemas.openxmlformats.org/drawingml/2006/main">
            <a:r>
              <a:t>| ToolExecutor | Validate typed input, task capability and approval; isolate execution; return bounded evidence | Accept a model-generated permission claim as authority |</a:t>
            </a:r>
          </a:p>
          <a:p xmlns:a="http://schemas.openxmlformats.org/drawingml/2006/main">
            <a:r>
              <a:t>| ValidationRunner | Enforce signed scope, limits, abort and cleanup; collect results | Expand targets from discovered assets without new approval |</a:t>
            </a:r>
          </a:p>
          <a:p xmlns:a="http://schemas.openxmlformats.org/drawingml/2006/main">
            <a:r>
              <a:t/>
            </a:r>
          </a:p>
          <a:p xmlns:a="http://schemas.openxmlformats.org/drawingml/2006/main">
            <a:r>
              <a:t>## Contract acceptance tests</a:t>
            </a:r>
          </a:p>
          <a:p xmlns:a="http://schemas.openxmlformats.org/drawingml/2006/main">
            <a:r>
              <a:t/>
            </a:r>
          </a:p>
          <a:p xmlns:a="http://schemas.openxmlformats.org/drawingml/2006/main">
            <a:r>
              <a:t>Test cross-organisation IDs, revoked principals, malformed and oversized payloads, duplicate and out-of-order events, unsupported schema versions, expired approval, changed parameter digest, lost response after successful side effect, cancellation during execution, and unauthorised evidence export. A connector must pass the shared conformance suite before joining a supported release. Additive v1 fields remain optional; breaking changes require a new version and a migration/deprecation plan.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Jobs, approvals and recovery</a:t>
            </a:r>
          </a:p>
          <a:p xmlns:a="http://schemas.openxmlformats.org/drawingml/2006/main">
            <a:r>
              <a:t/>
            </a:r>
          </a:p>
          <a:p xmlns:a="http://schemas.openxmlformats.org/drawingml/2006/main">
            <a:r>
              <a:t/>
            </a:r>
          </a:p>
          <a:p xmlns:a="http://schemas.openxmlformats.org/drawingml/2006/main">
            <a:r>
              <a:t/>
            </a:r>
          </a:p>
          <a:p xmlns:a="http://schemas.openxmlformats.org/drawingml/2006/main">
            <a:r>
              <a:t>Persistent jobs: Long tasks return a job reference and retain attempts and checkpoints.</a:t>
            </a:r>
          </a:p>
          <a:p xmlns:a="http://schemas.openxmlformats.org/drawingml/2006/main">
            <a:r>
              <a:t/>
            </a:r>
          </a:p>
          <a:p xmlns:a="http://schemas.openxmlformats.org/drawingml/2006/main">
            <a:r>
              <a:t>Bound approval: Approval covers exact operation, target, parameters, policy version and expiry.</a:t>
            </a:r>
          </a:p>
          <a:p xmlns:a="http://schemas.openxmlformats.org/drawingml/2006/main">
            <a:r>
              <a:t/>
            </a:r>
          </a:p>
          <a:p xmlns:a="http://schemas.openxmlformats.org/drawingml/2006/main">
            <a:r>
              <a:t>Safe retry: External side effects need idempotency or reconciliation before retry.</a:t>
            </a:r>
          </a:p>
          <a:p xmlns:a="http://schemas.openxmlformats.org/drawingml/2006/main">
            <a:r>
              <a:t/>
            </a:r>
          </a:p>
          <a:p xmlns:a="http://schemas.openxmlformats.org/drawingml/2006/main">
            <a:r>
              <a:t>Versioned contracts: Reject unsupported schemas and deny cross-organisation object references.</a:t>
            </a:r>
          </a:p>
          <a:p xmlns:a="http://schemas.openxmlformats.org/drawingml/2006/main">
            <a:r>
              <a:t/>
            </a:r>
          </a:p>
          <a:p xmlns:a="http://schemas.openxmlformats.org/drawingml/2006/main">
            <a:r>
              <a:t>Project documentation: implementation-plan/05-interface-contracts.md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programme</a:t>
            </a:r>
          </a:p>
          <a:p xmlns:a="http://schemas.openxmlformats.org/drawingml/2006/main">
            <a:r>
              <a:t/>
            </a:r>
          </a:p>
          <a:p xmlns:a="http://schemas.openxmlformats.org/drawingml/2006/main">
            <a:r>
              <a:t/>
            </a:r>
          </a:p>
          <a:p xmlns:a="http://schemas.openxmlformats.org/drawingml/2006/main">
            <a:r>
              <a:t/>
            </a:r>
          </a:p>
          <a:p xmlns:a="http://schemas.openxmlformats.org/drawingml/2006/main">
            <a:r>
              <a:t>R0  Reproducibility / Which historical results can we independently reproduce?</a:t>
            </a:r>
          </a:p>
          <a:p xmlns:a="http://schemas.openxmlformats.org/drawingml/2006/main">
            <a:r>
              <a:t>R1  Human factors / Does adaptation improve useful learning outcomes?</a:t>
            </a:r>
          </a:p>
          <a:p xmlns:a="http://schemas.openxmlformats.org/drawingml/2006/main">
            <a:r>
              <a:t>R2–R3  Detection and explanation / Do findings help investigators at an acceptable alert burden?</a:t>
            </a:r>
          </a:p>
          <a:p xmlns:a="http://schemas.openxmlformats.org/drawingml/2006/main">
            <a:r>
              <a:t>R4–R5  Validation and local intelligence / Can we test defenses safely and process data effectively?</a:t>
            </a:r>
          </a:p>
          <a:p xmlns:a="http://schemas.openxmlformats.org/drawingml/2006/main">
            <a:r>
              <a:t>R6  Agent systems / Can bounded agents complete tasks under enforced authority?</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Research programme and promotion rules</a:t>
            </a:r>
          </a:p>
          <a:p xmlns:a="http://schemas.openxmlformats.org/drawingml/2006/main">
            <a:r>
              <a:t/>
            </a:r>
          </a:p>
          <a:p xmlns:a="http://schemas.openxmlformats.org/drawingml/2006/main">
            <a:r>
              <a:t>[Index](README.md) · Owner: Research Lead · All experiments below are planned, not completed</a:t>
            </a:r>
          </a:p>
          <a:p xmlns:a="http://schemas.openxmlformats.org/drawingml/2006/main">
            <a:r>
              <a:t/>
            </a:r>
          </a:p>
          <a:p xmlns:a="http://schemas.openxmlformats.org/drawingml/2006/main">
            <a:r>
              <a:t>## Shared method</a:t>
            </a:r>
          </a:p>
          <a:p xmlns:a="http://schemas.openxmlformats.org/drawingml/2006/main">
            <a:r>
              <a:t/>
            </a:r>
          </a:p>
          <a:p xmlns:a="http://schemas.openxmlformats.org/drawingml/2006/main">
            <a:r>
              <a:t>Every experiment has a question, baseline, dataset licence/provenance, preregistered split and metrics, resource budget, versioned configuration and reproducible artefact. Record negative and inconclusive results. Keep synthetic, public benchmark and customer evidence separate. Missing labels fail evaluation; they must never trigger random ground truth. Models and rules used in production require versioned release records and rollback.</a:t>
            </a:r>
          </a:p>
          <a:p xmlns:a="http://schemas.openxmlformats.org/drawingml/2006/main">
            <a:r>
              <a:t/>
            </a:r>
          </a:p>
          <a:p xmlns:a="http://schemas.openxmlformats.org/drawingml/2006/main">
            <a:r>
              <a:t>Use a fixed exploratory/evaluation split, prevent subject/time leakage, and reserve the final test set before tuning. Report confidence intervals and operational costs, not single accuracy figures. Research participation and product use have separate purposes and permissions. Customer data is not automatically available for model training.</a:t>
            </a:r>
          </a:p>
          <a:p xmlns:a="http://schemas.openxmlformats.org/drawingml/2006/main">
            <a:r>
              <a:t/>
            </a:r>
          </a:p>
          <a:p xmlns:a="http://schemas.openxmlformats.org/drawingml/2006/main">
            <a:r>
              <a:t>## R0 — Reproducibility and evidence repair, months 1–3</a:t>
            </a:r>
          </a:p>
          <a:p xmlns:a="http://schemas.openxmlformats.org/drawingml/2006/main">
            <a:r>
              <a:t/>
            </a:r>
          </a:p>
          <a:p xmlns:a="http://schemas.openxmlformats.org/drawingml/2006/main">
            <a:r>
              <a:t>Question: which claims in the local paper and reports can be reproduced from identified inputs?</a:t>
            </a:r>
          </a:p>
          <a:p xmlns:a="http://schemas.openxmlformats.org/drawingml/2006/main">
            <a:r>
              <a:t/>
            </a:r>
          </a:p>
          <a:p xmlns:a="http://schemas.openxmlformats.org/drawingml/2006/main">
            <a:r>
              <a:t>Inventory the CERT/mock-CERT loaders, fusion experiments, drift experiments and synthetic affective/phishing work. For each reported number record dataset/version, real or generated labels, preprocessing, split, seed, code commit, dependencies, model artefact and output. Trace placeholder-label paths explicitly. Compare paper/report differences without assuming misconduct or equivalence.</a:t>
            </a:r>
          </a:p>
          <a:p xmlns:a="http://schemas.openxmlformats.org/drawingml/2006/main">
            <a:r>
              <a:t/>
            </a:r>
          </a:p>
          <a:p xmlns:a="http://schemas.openxmlformats.org/drawingml/2006/main">
            <a:r>
              <a:t>Deliver a claim ledger: reproduced, partly reproduced, blocked by missing artefact, or synthetic demonstration. Acceptance: every reused claim has a ledger entry; one clean-environment rerun is independently reviewed. Unresolved claims stay out of marketing and production acceptance.</a:t>
            </a:r>
          </a:p>
          <a:p xmlns:a="http://schemas.openxmlformats.org/drawingml/2006/main">
            <a:r>
              <a:t/>
            </a:r>
          </a:p>
          <a:p xmlns:a="http://schemas.openxmlformats.org/drawingml/2006/main">
            <a:r>
              <a:t>## R1 — Human factors and adaptation, months 1–6; follow-up thereafter</a:t>
            </a:r>
          </a:p>
          <a:p xmlns:a="http://schemas.openxmlformats.org/drawingml/2006/main">
            <a:r>
              <a:t/>
            </a:r>
          </a:p>
          <a:p xmlns:a="http://schemas.openxmlformats.org/drawingml/2006/main">
            <a:r>
              <a:t>Hypothesis: transparent skill/feedback-based sequencing improves delayed retention or reporting usefulness without increasing burden. Baseline: fixed role-relevant content. Treatment: same content pool with rule-based adaptation. Hold content quality and assessment difficulty as constant as practical.</a:t>
            </a:r>
          </a:p>
          <a:p xmlns:a="http://schemas.openxmlformats.org/drawingml/2006/main">
            <a:r>
              <a:t/>
            </a:r>
          </a:p>
          <a:p xmlns:a="http://schemas.openxmlformats.org/drawingml/2006/main">
            <a:r>
              <a:t>Use a preregistered comparison with randomisation at a level that limits contamination; document whether individual or team assignment is feasible before recruitment. Primary endpoint: four-week delayed knowledge score. Secondary: reporting appropriateness/time, completion, perceived relevance, accessibility and burden. Record attrition and missing outcomes. A small 3–5-organisation pilot establishes feasibility and effect-size estimates; it is not automatically a powered causal trial. Compute a subsequent sample requirement from observed variance, clustering and a declared minimum useful effect.</a:t>
            </a:r>
          </a:p>
          <a:p xmlns:a="http://schemas.openxmlformats.org/drawingml/2006/main">
            <a:r>
              <a:t/>
            </a:r>
          </a:p>
          <a:p xmlns:a="http://schemas.openxmlformats.org/drawingml/2006/main">
            <a:r>
              <a:t>Contextual bandits/RL start in offline or simulated evaluation and may proceed only after a stable baseline. No biometric emotion inference or employee personality risk scores. Treat voluntary feedback as a response, not ground truth about hidden emotional state. Evidence caution: a large field study found limited value from common phishing-training formats. [Primary study](https://www.sysnet.ucsd.edu/~voelker/pubs/phishtrain-oakland25.pdf).</a:t>
            </a:r>
          </a:p>
          <a:p xmlns:a="http://schemas.openxmlformats.org/drawingml/2006/main">
            <a:r>
              <a:t/>
            </a:r>
          </a:p>
          <a:p xmlns:a="http://schemas.openxmlformats.org/drawingml/2006/main">
            <a:r>
              <a:t>## R2 — Detection, drift and graph correlation, months 2–12</a:t>
            </a:r>
          </a:p>
          <a:p xmlns:a="http://schemas.openxmlformats.org/drawingml/2006/main">
            <a:r>
              <a:t/>
            </a:r>
          </a:p>
          <a:p xmlns:a="http://schemas.openxmlformats.org/drawingml/2006/main">
            <a:r>
              <a:t>Compare rules, Isolation Forest and the existing clustering/fusion approach on documented public data and later authorised shadow-mode customer observations. Split by time and, where applicable, user/site; fit transforms only on training data. Test source ablations and label quality. Graph features require a documented security purpose and cannot become employee social profiling.</a:t>
            </a:r>
          </a:p>
          <a:p xmlns:a="http://schemas.openxmlformats.org/drawingml/2006/main">
            <a:r>
              <a:t/>
            </a:r>
          </a:p>
          <a:p xmlns:a="http://schemas.openxmlformats.org/drawingml/2006/main">
            <a:r>
              <a:t>Metrics: precision-recall, false alerts per investigator-day, detection delay, calibration, alert-review time and performance across sites/time periods. Report base rates. Promotion requires improvement over the operational baseline at the customer's agreed alert budget, a reviewed explanation, and a shadow-mode rollback plan. Do not replace this with an arbitrary historical 85% accuracy target.</a:t>
            </a:r>
          </a:p>
          <a:p xmlns:a="http://schemas.openxmlformats.org/drawingml/2006/main">
            <a:r>
              <a:t/>
            </a:r>
          </a:p>
          <a:p xmlns:a="http://schemas.openxmlformats.org/drawingml/2006/main">
            <a:r>
              <a:t>## R3 — Evidence and explainability, months 3–12</a:t>
            </a:r>
          </a:p>
          <a:p xmlns:a="http://schemas.openxmlformats.org/drawingml/2006/main">
            <a:r>
              <a:t/>
            </a:r>
          </a:p>
          <a:p xmlns:a="http://schemas.openxmlformats.org/drawingml/2006/main">
            <a:r>
              <a:t>Compare evidence tables/rule explanations, feature attribution and generated summaries. Test faithfulness by perturbing/removing evidence and checking that claims change appropriately. Evaluate analyst correctness and triage time using blinded tasks; clarity ratings alone are insufficient. Generated narratives must cite accessible evidence and distinguish observation from inference. Hidden model reasoning is not an audit source.</a:t>
            </a:r>
          </a:p>
          <a:p xmlns:a="http://schemas.openxmlformats.org/drawingml/2006/main">
            <a:r>
              <a:t/>
            </a:r>
          </a:p>
          <a:p xmlns:a="http://schemas.openxmlformats.org/drawingml/2006/main">
            <a:r>
              <a:t>Promotion: unsupported material claims are detected in the review suite, evidence references resolve, and the richer explanation improves or preserves decision quality. Publish failures and limitations.</a:t>
            </a:r>
          </a:p>
          <a:p xmlns:a="http://schemas.openxmlformats.org/drawingml/2006/main">
            <a:r>
              <a:t/>
            </a:r>
          </a:p>
          <a:p xmlns:a="http://schemas.openxmlformats.org/drawingml/2006/main">
            <a:r>
              <a:t>## R4 — Adversarial validation, months 7–18</a:t>
            </a:r>
          </a:p>
          <a:p xmlns:a="http://schemas.openxmlformats.org/drawingml/2006/main">
            <a:r>
              <a:t/>
            </a:r>
          </a:p>
          <a:p xmlns:a="http://schemas.openxmlformats.org/drawingml/2006/main">
            <a:r>
              <a:t>Compare deterministic emulation with generated scenario selection; evaluate GANs only where they have a plausible advantage. Use isolated targets and fixed allowed techniques. Measure coverage, reproducibility, resource overhead, false findings, scope violations, cleanup success and remediation retest correctness. Freeze test definitions for comparative evaluation. Promotion requires passing scope/abort/cleanup tests and useful customer validation evidence, not a target volume of novel payloads.</a:t>
            </a:r>
          </a:p>
          <a:p xmlns:a="http://schemas.openxmlformats.org/drawingml/2006/main">
            <a:r>
              <a:t/>
            </a:r>
          </a:p>
          <a:p xmlns:a="http://schemas.openxmlformats.org/drawingml/2006/main">
            <a:r>
              <a:t>## R5 — Local and federated intelligence, months 3–24</a:t>
            </a:r>
          </a:p>
          <a:p xmlns:a="http://schemas.openxmlformats.org/drawingml/2006/main">
            <a:r>
              <a:t/>
            </a:r>
          </a:p>
          <a:p xmlns:a="http://schemas.openxmlformats.org/drawingml/2006/main">
            <a:r>
              <a:t>First measure rules/local models against an approved hosted baseline using public or permitted data. Include hardware, quantisation, latency, peak memory, energy/resource proxies and full failure costs. Verify offline mode with network observations rather than architecture assertions.</a:t>
            </a:r>
          </a:p>
          <a:p xmlns:a="http://schemas.openxmlformats.org/drawingml/2006/main">
            <a:r>
              <a:t/>
            </a:r>
          </a:p>
          <a:p xmlns:a="http://schemas.openxmlformats.org/drawingml/2006/main">
            <a:r>
              <a:t>Federation starts only after useful local models, suitable participants and explicit permitted use exist. Compare local-only, lawful pooled reference where possible, and federated training across non-IID partitions. Test membership leakage, poisoning and update integrity. Define privacy accounting before claiming differential privacy; sharing gradients is not proof of confidentiality. Homomorphic encryption and secure aggregation remain evaluated options rather than universal requirements. [NIST discussion of federated-learning privacy attacks](https://www.nist.gov/blogs/cybersecurity-insights/privacy-attacks-federated-learning).</a:t>
            </a:r>
          </a:p>
          <a:p xmlns:a="http://schemas.openxmlformats.org/drawingml/2006/main">
            <a:r>
              <a:t/>
            </a:r>
          </a:p>
          <a:p xmlns:a="http://schemas.openxmlformats.org/drawingml/2006/main">
            <a:r>
              <a:t>## R6 — Agent reliability and control, months 1–24</a:t>
            </a:r>
          </a:p>
          <a:p xmlns:a="http://schemas.openxmlformats.org/drawingml/2006/main">
            <a:r>
              <a:t/>
            </a:r>
          </a:p>
          <a:p xmlns:a="http://schemas.openxmlformats.org/drawingml/2006/main">
            <a:r>
              <a:t>Begin with 20 representative internal tasks: source retrieval/citation checking, bounded repository changes, experiment execution and report drafting. Compare manual/template workflow, one agent, and later delegated workers on the same tasks and budgets. Run at least three repeats per task/configuration as an initial reliability screen; enlarge the suite before external claims.</a:t>
            </a:r>
          </a:p>
          <a:p xmlns:a="http://schemas.openxmlformats.org/drawingml/2006/main">
            <a:r>
              <a:t/>
            </a:r>
          </a:p>
          <a:p xmlns:a="http://schemas.openxmlformats.org/drawingml/2006/main">
            <a:r>
              <a:t>Measure completion correctness, citation support, side-effect correctness, clean-task success, injection success, authority violations, recovery behaviour, latency and cost. Add malicious instructions to documents, repository files, tool results and memory in an isolated benchmark. Distinguish weak capability from effective enforcement. Use AgentLAB, AMA-Bench and AgentFlow as research inputs; benchmark results do not generalise automatically to customer workloads. [Evidence register](13-evidence-register.md).</a:t>
            </a:r>
          </a:p>
          <a:p xmlns:a="http://schemas.openxmlformats.org/drawingml/2006/main">
            <a:r>
              <a:t/>
            </a:r>
          </a:p>
          <a:p xmlns:a="http://schemas.openxmlformats.org/drawingml/2006/main">
            <a:r>
              <a:t>## Outputs and publication</a:t>
            </a:r>
          </a:p>
          <a:p xmlns:a="http://schemas.openxmlformats.org/drawingml/2006/main">
            <a:r>
              <a:t/>
            </a:r>
          </a:p>
          <a:p xmlns:a="http://schemas.openxmlformats.org/drawingml/2006/main">
            <a:r>
              <a:t>| Window | Intended artefact | Product decision informed |</a:t>
            </a:r>
          </a:p>
          <a:p xmlns:a="http://schemas.openxmlformats.org/drawingml/2006/main">
            <a:r>
              <a:t>|---|---|---|</a:t>
            </a:r>
          </a:p>
          <a:p xmlns:a="http://schemas.openxmlformats.org/drawingml/2006/main">
            <a:r>
              <a:t>| M1–3 | Reproduction ledger, baseline code/configuration and internal agent benchmark | Which legacy results and tooling to reuse |</a:t>
            </a:r>
          </a:p>
          <a:p xmlns:a="http://schemas.openxmlformats.org/drawingml/2006/main">
            <a:r>
              <a:t>| M4–6 | Training feasibility report and anonymised/synthetic public evaluation package | Adaptation and customer claims |</a:t>
            </a:r>
          </a:p>
          <a:p xmlns:a="http://schemas.openxmlformats.org/drawingml/2006/main">
            <a:r>
              <a:t>| M7–12 | Detection/explanation study and connector evaluation | Security Operations promotion |</a:t>
            </a:r>
          </a:p>
          <a:p xmlns:a="http://schemas.openxmlformats.org/drawingml/2006/main">
            <a:r>
              <a:t>| M13–18 | Safe-validation and local-runtime benchmark | Defense Box release |</a:t>
            </a:r>
          </a:p>
          <a:p xmlns:a="http://schemas.openxmlformats.org/drawingml/2006/main">
            <a:r>
              <a:t>| M19–24 | Agent enforcement/recovery evaluation; conditional federation/OT findings | Agent Security and next portfolio cycle |</a:t>
            </a:r>
          </a:p>
          <a:p xmlns:a="http://schemas.openxmlformats.org/drawingml/2006/main">
            <a:r>
              <a:t/>
            </a:r>
          </a:p>
          <a:p xmlns:a="http://schemas.openxmlformats.org/drawingml/2006/main">
            <a:r>
              <a:t>Publication venue and submission timing follow completed evidence, not promised acceptance dates. Release code, schemas and permitted artefacts; document withheld data and reproducibility limits. Each production promotion needs RL evidence review, PS security/operations review and PL value/scope approval.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R0: reproducibility before product claims</a:t>
            </a:r>
          </a:p>
          <a:p xmlns:a="http://schemas.openxmlformats.org/drawingml/2006/main">
            <a:r>
              <a:t/>
            </a:r>
          </a:p>
          <a:p xmlns:a="http://schemas.openxmlformats.org/drawingml/2006/main">
            <a:r>
              <a:t/>
            </a:r>
          </a:p>
          <a:p xmlns:a="http://schemas.openxmlformats.org/drawingml/2006/main">
            <a:r>
              <a:t/>
            </a:r>
          </a:p>
          <a:p xmlns:a="http://schemas.openxmlformats.org/drawingml/2006/main">
            <a:r>
              <a:t>Trace each result: Dataset, label source, preprocessing, split, seed, code and output.</a:t>
            </a:r>
          </a:p>
          <a:p xmlns:a="http://schemas.openxmlformats.org/drawingml/2006/main">
            <a:r>
              <a:t/>
            </a:r>
          </a:p>
          <a:p xmlns:a="http://schemas.openxmlformats.org/drawingml/2006/main">
            <a:r>
              <a:t>Resolve differences: Map mock-data reports and paper metrics to their exact execution paths.</a:t>
            </a:r>
          </a:p>
          <a:p xmlns:a="http://schemas.openxmlformats.org/drawingml/2006/main">
            <a:r>
              <a:t/>
            </a:r>
          </a:p>
          <a:p xmlns:a="http://schemas.openxmlformats.org/drawingml/2006/main">
            <a:r>
              <a:t>Reject missing ground truth: Evaluation must fail rather than manufacture labels.</a:t>
            </a:r>
          </a:p>
          <a:p xmlns:a="http://schemas.openxmlformats.org/drawingml/2006/main">
            <a:r>
              <a:t/>
            </a:r>
          </a:p>
          <a:p xmlns:a="http://schemas.openxmlformats.org/drawingml/2006/main">
            <a:r>
              <a:t>Publish the status: Reproduced, partly reproduced, blocked or synthetic demonstration.</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R1: adaptive learning evaluation</a:t>
            </a:r>
          </a:p>
          <a:p xmlns:a="http://schemas.openxmlformats.org/drawingml/2006/main">
            <a:r>
              <a:t/>
            </a:r>
          </a:p>
          <a:p xmlns:a="http://schemas.openxmlformats.org/drawingml/2006/main">
            <a:r>
              <a:t/>
            </a:r>
          </a:p>
          <a:p xmlns:a="http://schemas.openxmlformats.org/drawingml/2006/main">
            <a:r>
              <a:t/>
            </a:r>
          </a:p>
          <a:p xmlns:a="http://schemas.openxmlformats.org/drawingml/2006/main">
            <a:r>
              <a:t>Comparison / Fixed role-relevant content versus rule-based adaptation</a:t>
            </a:r>
          </a:p>
          <a:p xmlns:a="http://schemas.openxmlformats.org/drawingml/2006/main">
            <a:r>
              <a:t>Primary outcome / Knowledge retention after four weeks</a:t>
            </a:r>
          </a:p>
          <a:p xmlns:a="http://schemas.openxmlformats.org/drawingml/2006/main">
            <a:r>
              <a:t>Secondary outcomes / Reporting behaviour, completion, relevance and burden</a:t>
            </a:r>
          </a:p>
          <a:p xmlns:a="http://schemas.openxmlformats.org/drawingml/2006/main">
            <a:r>
              <a:t>Pilot interpretation / Feasibility and effect estimates before a powered causal trial</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R2–R3: useful detection and explanation</a:t>
            </a:r>
          </a:p>
          <a:p xmlns:a="http://schemas.openxmlformats.org/drawingml/2006/main">
            <a:r>
              <a:t/>
            </a:r>
          </a:p>
          <a:p xmlns:a="http://schemas.openxmlformats.org/drawingml/2006/main">
            <a:r>
              <a:t/>
            </a:r>
          </a:p>
          <a:p xmlns:a="http://schemas.openxmlformats.org/drawingml/2006/main">
            <a:r>
              <a:t/>
            </a:r>
          </a:p>
          <a:p xmlns:a="http://schemas.openxmlformats.org/drawingml/2006/main">
            <a:r>
              <a:t>Time/site separation and leakage checks / Claims cite the evidence available to the investigator</a:t>
            </a:r>
          </a:p>
          <a:p xmlns:a="http://schemas.openxmlformats.org/drawingml/2006/main">
            <a:r>
              <a:t>Rules versus clustering/fusion baselines / Test faithfulness by changing supporting evidence</a:t>
            </a:r>
          </a:p>
          <a:p xmlns:a="http://schemas.openxmlformats.org/drawingml/2006/main">
            <a:r>
              <a:t>False alerts per investigator-day / Measure decision quality and triage time</a:t>
            </a:r>
          </a:p>
          <a:p xmlns:a="http://schemas.openxmlformats.org/drawingml/2006/main">
            <a:r>
              <a:t>Shadow-mode promotion / Clarity ratings alone do not establish correctness</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R4–R5: validation and privacy research</a:t>
            </a:r>
          </a:p>
          <a:p xmlns:a="http://schemas.openxmlformats.org/drawingml/2006/main">
            <a:r>
              <a:t/>
            </a:r>
          </a:p>
          <a:p xmlns:a="http://schemas.openxmlformats.org/drawingml/2006/main">
            <a:r>
              <a:t/>
            </a:r>
          </a:p>
          <a:p xmlns:a="http://schemas.openxmlformats.org/drawingml/2006/main">
            <a:r>
              <a:t/>
            </a:r>
          </a:p>
          <a:p xmlns:a="http://schemas.openxmlformats.org/drawingml/2006/main">
            <a:r>
              <a:t>Adversarial validation: Compare reproducible scripted checks before generative methods or GANs.</a:t>
            </a:r>
          </a:p>
          <a:p xmlns:a="http://schemas.openxmlformats.org/drawingml/2006/main">
            <a:r>
              <a:t/>
            </a:r>
          </a:p>
          <a:p xmlns:a="http://schemas.openxmlformats.org/drawingml/2006/main">
            <a:r>
              <a:t>Local inference: Measure quality, latency, memory and failure cost on actual hardware.</a:t>
            </a:r>
          </a:p>
          <a:p xmlns:a="http://schemas.openxmlformats.org/drawingml/2006/main">
            <a:r>
              <a:t/>
            </a:r>
          </a:p>
          <a:p xmlns:a="http://schemas.openxmlformats.org/drawingml/2006/main">
            <a:r>
              <a:t>Federated intelligence: Require useful local models, permitted data use and a privacy threat model.</a:t>
            </a:r>
          </a:p>
          <a:p xmlns:a="http://schemas.openxmlformats.org/drawingml/2006/main">
            <a:r>
              <a:t/>
            </a:r>
          </a:p>
          <a:p xmlns:a="http://schemas.openxmlformats.org/drawingml/2006/main">
            <a:r>
              <a:t>Industrial research: Use passive lab evidence before a scoped customer pilot.</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Frontier agent research</a:t>
            </a:r>
          </a:p>
          <a:p xmlns:a="http://schemas.openxmlformats.org/drawingml/2006/main">
            <a:r>
              <a:t/>
            </a:r>
          </a:p>
          <a:p xmlns:a="http://schemas.openxmlformats.org/drawingml/2006/main">
            <a:r>
              <a:t/>
            </a:r>
          </a:p>
          <a:p xmlns:a="http://schemas.openxmlformats.org/drawingml/2006/main">
            <a:r>
              <a:t/>
            </a:r>
          </a:p>
          <a:p xmlns:a="http://schemas.openxmlformats.org/drawingml/2006/main">
            <a:r>
              <a:t>AgentLAB, February 2026 / Long-horizon attacks through retrieved content and tools</a:t>
            </a:r>
          </a:p>
          <a:p xmlns:a="http://schemas.openxmlformats.org/drawingml/2006/main">
            <a:r>
              <a:t>AMA-Bench, February 2026 / Explicit task state and retrieval versus richer memory</a:t>
            </a:r>
          </a:p>
          <a:p xmlns:a="http://schemas.openxmlformats.org/drawingml/2006/main">
            <a:r>
              <a:t>AgentFlow, August 2026 / Independent policy and data-flow enforcement</a:t>
            </a:r>
          </a:p>
          <a:p xmlns:a="http://schemas.openxmlformats.org/drawingml/2006/main">
            <a:r>
              <a:t>Repeated task evaluation / Success, authority violations, recovery and total cost</a:t>
            </a:r>
          </a:p>
          <a:p xmlns:a="http://schemas.openxmlformats.org/drawingml/2006/main">
            <a:r>
              <a:t/>
            </a:r>
          </a:p>
          <a:p xmlns:a="http://schemas.openxmlformats.org/drawingml/2006/main">
            <a:r>
              <a:t>Project documentation: implementation-plan/13-evidence-register.md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https://netbird.io/pricing</a:t>
            </a:r>
          </a:p>
          <a:p xmlns:a="http://schemas.openxmlformats.org/drawingml/2006/main">
            <a:r>
              <a:t>https://docs.netbird.io/agent-network</a:t>
            </a:r>
          </a:p>
          <a:p xmlns:a="http://schemas.openxmlformats.org/drawingml/2006/main">
            <a:r>
              <a:t>https://docs.netbird.io/agent-network/how-it-works</a:t>
            </a:r>
          </a:p>
          <a:p xmlns:a="http://schemas.openxmlformats.org/drawingml/2006/main">
            <a:r>
              <a:t>https://docs.netbird.io/agent-network/quickstart</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https://netbird.io/knowledge-hub/control-center-draft-mode</a:t>
            </a:r>
          </a:p>
          <a:p xmlns:a="http://schemas.openxmlformats.org/drawingml/2006/main">
            <a:r>
              <a:t>https://netbird.io/knowledge-hub/norsk-helsenett</a:t>
            </a:r>
          </a:p>
          <a:p xmlns:a="http://schemas.openxmlformats.org/drawingml/2006/main">
            <a:r>
              <a:t>https://netbird.io/knowledge-hub/security-advisory-daemon-ipc-local-privilege-escalation</a:t>
            </a:r>
          </a:p>
          <a:p xmlns:a="http://schemas.openxmlformats.org/drawingml/2006/main">
            <a:r>
              <a:t>https://tailscale.com/blog/aperture-public-beta</a:t>
            </a:r>
          </a:p>
          <a:p xmlns:a="http://schemas.openxmlformats.org/drawingml/2006/main">
            <a:r>
              <a:t>https://www.knowbe4.com/press/knowbe4-launches-aida-orchestration-as-the-first-fully-autonomous-agent-for-human-risk-management</a:t>
            </a:r>
          </a:p>
          <a:p xmlns:a="http://schemas.openxmlformats.org/drawingml/2006/main">
            <a:r>
              <a:t>https://wazuh.com/resources/case-studies/digifors-mssp-services/</a:t>
            </a:r>
          </a:p>
          <a:p xmlns:a="http://schemas.openxmlformats.org/drawingml/2006/main">
            <a:r>
              <a:t>https://digital-strategy.ec.europa.eu/en/policies/cra-reporting</a:t>
            </a:r>
          </a:p>
          <a:p xmlns:a="http://schemas.openxmlformats.org/drawingml/2006/main">
            <a:r>
              <a:t>https://www.sysnet.ucsd.edu/~voelker/pubs/phishtrain-oakland25.pdf</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a:p xmlns:a="http://schemas.openxmlformats.org/drawingml/2006/main">
            <a:r>
              <a:t>https://www.anthropic.com/engineering/demystifying-evals-for-ai-agents</a:t>
            </a:r>
          </a:p>
          <a:p xmlns:a="http://schemas.openxmlformats.org/drawingml/2006/main">
            <a:r>
              <a:t>https://www.anthropic.com/engineering/building-c-compiler</a:t>
            </a:r>
          </a:p>
          <a:p xmlns:a="http://schemas.openxmlformats.org/drawingml/2006/main">
            <a:r>
              <a:t>https://www.nist.gov/blogs/cybersecurity-insights/privacy-attacks-federated-learning</a:t>
            </a:r>
          </a:p>
          <a:p xmlns:a="http://schemas.openxmlformats.org/drawingml/2006/main">
            <a:r>
              <a:t>https://docs.openhands.dev/sdk/arch/security</a:t>
            </a:r>
          </a:p>
          <a:p xmlns:a="http://schemas.openxmlformats.org/drawingml/2006/main">
            <a:r>
              <a:t>https://cyclonedx.org/specification/overview/</a:t>
            </a:r>
          </a:p>
          <a:p xmlns:a="http://schemas.openxmlformats.org/drawingml/2006/main">
            <a:r>
              <a:t>https://osv.dev/</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a:p xmlns:a="http://schemas.openxmlformats.org/drawingml/2006/main">
            <a:r>
              <a:t>https://www.enisa.europa.eu/publications/nis-investments-2025</a:t>
            </a:r>
          </a:p>
          <a:p xmlns:a="http://schemas.openxmlformats.org/drawingml/2006/main">
            <a:r>
              <a:t>https://www.enisa.europa.eu/news/nis360-the-bigger-picture-on-maturity-and-criticality-of-nis-critical-sectors</a:t>
            </a:r>
          </a:p>
          <a:p xmlns:a="http://schemas.openxmlformats.org/drawingml/2006/main">
            <a:r>
              <a:t>https://dyn.cncs.gov.pt/pt/detalhe/art/135998/novo-regime-juridico-da-ciberseguranca-entra-em-vigor</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https://www.nccoe.nist.gov/publications/csf-profile/nist-ir-8596-ipd-cybersecurity-framework-profile-artificial-intelligence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Internal agent workspace</a:t>
            </a:r>
          </a:p>
          <a:p xmlns:a="http://schemas.openxmlformats.org/drawingml/2006/main">
            <a:r>
              <a:t/>
            </a:r>
          </a:p>
          <a:p xmlns:a="http://schemas.openxmlformats.org/drawingml/2006/main">
            <a:r>
              <a:t/>
            </a:r>
          </a:p>
          <a:p xmlns:a="http://schemas.openxmlformats.org/drawingml/2006/main">
            <a:r>
              <a:t/>
            </a:r>
          </a:p>
          <a:p xmlns:a="http://schemas.openxmlformats.org/drawingml/2006/main">
            <a:r>
              <a:t>Early scope: Literature review, citation checking, bounded code work and experiments.</a:t>
            </a:r>
          </a:p>
          <a:p xmlns:a="http://schemas.openxmlformats.org/drawingml/2006/main">
            <a:r>
              <a:t/>
            </a:r>
          </a:p>
          <a:p xmlns:a="http://schemas.openxmlformats.org/drawingml/2006/main">
            <a:r>
              <a:t>Runtime baseline: Evaluate OpenHands with one bounded worker and controlled model/tool interfaces.</a:t>
            </a:r>
          </a:p>
          <a:p xmlns:a="http://schemas.openxmlformats.org/drawingml/2006/main">
            <a:r>
              <a:t/>
            </a:r>
          </a:p>
          <a:p xmlns:a="http://schemas.openxmlformats.org/drawingml/2006/main">
            <a:r>
              <a:t>Data and authority: Separate curated knowledge, task history and untrusted text. Keep secrets outside workers.</a:t>
            </a:r>
          </a:p>
          <a:p xmlns:a="http://schemas.openxmlformats.org/drawingml/2006/main">
            <a:r>
              <a:t/>
            </a:r>
          </a:p>
          <a:p xmlns:a="http://schemas.openxmlformats.org/drawingml/2006/main">
            <a:r>
              <a:t>Promotion: Commercial Agent Security follows measured internal results and separate customer discovery.</a:t>
            </a:r>
          </a:p>
          <a:p xmlns:a="http://schemas.openxmlformats.org/drawingml/2006/main">
            <a:r>
              <a:t/>
            </a:r>
          </a:p>
          <a:p xmlns:a="http://schemas.openxmlformats.org/drawingml/2006/main">
            <a:r>
              <a:t>Project documentation: implementation-plan/07-internal-agent-workspace.md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https://docs.openhands.dev/sdk/arch/security</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Internal research and engineering workspace</a:t>
            </a:r>
          </a:p>
          <a:p xmlns:a="http://schemas.openxmlformats.org/drawingml/2006/main">
            <a:r>
              <a:t/>
            </a:r>
          </a:p>
          <a:p xmlns:a="http://schemas.openxmlformats.org/drawingml/2006/main">
            <a:r>
              <a:t>[Index](README.md) · Owner: Research Lead with Platform/Security Lead</a:t>
            </a:r>
          </a:p>
          <a:p xmlns:a="http://schemas.openxmlformats.org/drawingml/2006/main">
            <a:r>
              <a:t/>
            </a:r>
          </a:p>
          <a:p xmlns:a="http://schemas.openxmlformats.org/drawingml/2006/main">
            <a:r>
              <a:t>## Purpose and limited early scope</a:t>
            </a:r>
          </a:p>
          <a:p xmlns:a="http://schemas.openxmlformats.org/drawingml/2006/main">
            <a:r>
              <a:t/>
            </a:r>
          </a:p>
          <a:p xmlns:a="http://schemas.openxmlformats.org/drawingml/2006/main">
            <a:r>
              <a:t>Support literature review, citation verification, bounded code changes, experiment execution and technical writing. This is an internal productivity capability in months 1–3, not a competing commercial release or an attempt to implement every component in the supplied frontier-agent notes.</a:t>
            </a:r>
          </a:p>
          <a:p xmlns:a="http://schemas.openxmlformats.org/drawingml/2006/main">
            <a:r>
              <a:t/>
            </a:r>
          </a:p>
          <a:p xmlns:a="http://schemas.openxmlformats.org/drawingml/2006/main">
            <a:r>
              <a:t>Begin with OpenHands as the engineering-runtime candidate, one bounded worker per task, an approved model adapter and a controlled tool gateway. Use the runtime's security features as integration aids; deterministic permissions and sandbox boundaries remain independent. [OpenHands security architecture](https://docs.openhands.dev/sdk/arch/security).</a:t>
            </a:r>
          </a:p>
          <a:p xmlns:a="http://schemas.openxmlformats.org/drawingml/2006/main">
            <a:r>
              <a:t/>
            </a:r>
          </a:p>
          <a:p xmlns:a="http://schemas.openxmlformats.org/drawingml/2006/main">
            <a:r>
              <a:t>## Minimal workflow</a:t>
            </a:r>
          </a:p>
          <a:p xmlns:a="http://schemas.openxmlformats.org/drawingml/2006/main">
            <a:r>
              <a:t/>
            </a:r>
          </a:p>
          <a:p xmlns:a="http://schemas.openxmlformats.org/drawingml/2006/main">
            <a:r>
              <a:t>1. A researcher defines a task, permitted sources/files, budget and expected artefact.</a:t>
            </a:r>
          </a:p>
          <a:p xmlns:a="http://schemas.openxmlformats.org/drawingml/2006/main">
            <a:r>
              <a:t>2. Retrieval saves source URL, author/publisher, date, access date, document version and supporting passage location.</a:t>
            </a:r>
          </a:p>
          <a:p xmlns:a="http://schemas.openxmlformats.org/drawingml/2006/main">
            <a:r>
              <a:t>3. The worker proposes a bounded action. The gateway validates scope and any required approval.</a:t>
            </a:r>
          </a:p>
          <a:p xmlns:a="http://schemas.openxmlformats.org/drawingml/2006/main">
            <a:r>
              <a:t>4. A dedicated worker VM executes an unprivileged task container with a task workspace and no host socket or production secrets.</a:t>
            </a:r>
          </a:p>
          <a:p xmlns:a="http://schemas.openxmlformats.org/drawingml/2006/main">
            <a:r>
              <a:t>5. Checkpoints persist task state and evidence, not unrestricted model-generated instructions.</a:t>
            </a:r>
          </a:p>
          <a:p xmlns:a="http://schemas.openxmlformats.org/drawingml/2006/main">
            <a:r>
              <a:t>6. A reviewer checks citations, code diff or experiment output before promotion or publication.</a:t>
            </a:r>
          </a:p>
          <a:p xmlns:a="http://schemas.openxmlformats.org/drawingml/2006/main">
            <a:r>
              <a:t/>
            </a:r>
          </a:p>
          <a:p xmlns:a="http://schemas.openxmlformats.org/drawingml/2006/main">
            <a:r>
              <a:t>Maintain a reference library and machine-readable bibliography alongside experiment manifests. GROBID/Pandoc or equivalent tools may be added when input/output needs justify them; a custom research browser and custom IDE are not initial deliverables.</a:t>
            </a:r>
          </a:p>
          <a:p xmlns:a="http://schemas.openxmlformats.org/drawingml/2006/main">
            <a:r>
              <a:t/>
            </a:r>
          </a:p>
          <a:p xmlns:a="http://schemas.openxmlformats.org/drawingml/2006/main">
            <a:r>
              <a:t>## Model and memory decisions</a:t>
            </a:r>
          </a:p>
          <a:p xmlns:a="http://schemas.openxmlformats.org/drawingml/2006/main">
            <a:r>
              <a:t/>
            </a:r>
          </a:p>
          <a:p xmlns:a="http://schemas.openxmlformats.org/drawingml/2006/main">
            <a:r>
              <a:t>Evaluate one local open-weight model supported by available hardware against one approved hosted model using R6 tasks. Gemma and other families named in the notes are candidates, not locked model/version/hardware requirements. Verify licence and actual resource use at selection. Sensitive data cannot be silently routed to the hosted option on local failure.</a:t>
            </a:r>
          </a:p>
          <a:p xmlns:a="http://schemas.openxmlformats.org/drawingml/2006/main">
            <a:r>
              <a:t/>
            </a:r>
          </a:p>
          <a:p xmlns:a="http://schemas.openxmlformats.org/drawingml/2006/main">
            <a:r>
              <a:t>Start with explicit task state, artefact storage and PostgreSQL-backed retrieval. Separate curated knowledge, task history and untrusted retrieved text. Every memory item has source, scope, timestamp, retention and deletion support. Do not introduce a graph database, shared autonomous memory or fine-tuning before showing a baseline deficiency.</a:t>
            </a:r>
          </a:p>
          <a:p xmlns:a="http://schemas.openxmlformats.org/drawingml/2006/main">
            <a:r>
              <a:t/>
            </a:r>
          </a:p>
          <a:p xmlns:a="http://schemas.openxmlformats.org/drawingml/2006/main">
            <a:r>
              <a:t>Tools begin with read-only retrieval, workspace file access and isolated tests. Network destinations are allowlisted. Shell operations, browser actions and external writes have separate capabilities. Limit run time, calls, concurrency and spend; do not rely on a natural-language instruction as the limit.</a:t>
            </a:r>
          </a:p>
          <a:p xmlns:a="http://schemas.openxmlformats.org/drawingml/2006/main">
            <a:r>
              <a:t/>
            </a:r>
          </a:p>
          <a:p xmlns:a="http://schemas.openxmlformats.org/drawingml/2006/main">
            <a:r>
              <a:t>## Adoption schedule</a:t>
            </a:r>
          </a:p>
          <a:p xmlns:a="http://schemas.openxmlformats.org/drawingml/2006/main">
            <a:r>
              <a:t/>
            </a:r>
          </a:p>
          <a:p xmlns:a="http://schemas.openxmlformats.org/drawingml/2006/main">
            <a:r>
              <a:t>| Window | Deliverable | Acceptance |</a:t>
            </a:r>
          </a:p>
          <a:p xmlns:a="http://schemas.openxmlformats.org/drawingml/2006/main">
            <a:r>
              <a:t>|---|---|---|</a:t>
            </a:r>
          </a:p>
          <a:p xmlns:a="http://schemas.openxmlformats.org/drawingml/2006/main">
            <a:r>
              <a:t>| M1 | Fixed task suite, model/tool policy and disposable sandbox | No production credentials; cost and action logs available |</a:t>
            </a:r>
          </a:p>
          <a:p xmlns:a="http://schemas.openxmlformats.org/drawingml/2006/main">
            <a:r>
              <a:t>| M2 | Retrieval/citation and experiment workflows | Human review finds traceable sources; restart does not duplicate external actions |</a:t>
            </a:r>
          </a:p>
          <a:p xmlns:a="http://schemas.openxmlformats.org/drawingml/2006/main">
            <a:r>
              <a:t>| M3 | Measured internal comparison | Correctness/cost report and decision to retain, simplify or replace components |</a:t>
            </a:r>
          </a:p>
          <a:p xmlns:a="http://schemas.openxmlformats.org/drawingml/2006/main">
            <a:r>
              <a:t>| M4–12 | Incremental use and adversarial tests | Measurable benefit within research allocation; isolation preserved |</a:t>
            </a:r>
          </a:p>
          <a:p xmlns:a="http://schemas.openxmlformats.org/drawingml/2006/main">
            <a:r>
              <a:t>| M13–18 | Extract reusable identity/gateway/execution contracts | Independent of runtime-specific objects; external discovery started |</a:t>
            </a:r>
          </a:p>
          <a:p xmlns:a="http://schemas.openxmlformats.org/drawingml/2006/main">
            <a:r>
              <a:t>| M19–24 | Productise validated capabilities | Agent Security release gates, not internal-use status alone |</a:t>
            </a:r>
          </a:p>
          <a:p xmlns:a="http://schemas.openxmlformats.org/drawingml/2006/main">
            <a:r>
              <a:t/>
            </a:r>
          </a:p>
          <a:p xmlns:a="http://schemas.openxmlformats.org/drawingml/2006/main">
            <a:r>
              <a:t>## Supplied-note decisions</a:t>
            </a:r>
          </a:p>
          <a:p xmlns:a="http://schemas.openxmlformats.org/drawingml/2006/main">
            <a:r>
              <a:t/>
            </a:r>
          </a:p>
          <a:p xmlns:a="http://schemas.openxmlformats.org/drawingml/2006/main">
            <a:r>
              <a:t>Retain model routing, tool contracts, scientific provenance, durable state and explicit authority from all four research notes. Defer full multi-agent swarms, RL training infrastructure, many databases, Kafka/Ray/Kubernetes and unrestricted computer use. Introduce Temporal only when workflow durability requirements exceed the simpler job/checkpoint design. Trial NetBird Agent Network separately as described in the [NetBird study](04-netbird-study.md).</a:t>
            </a:r>
          </a:p>
          <a:p xmlns:a="http://schemas.openxmlformats.org/drawingml/2006/main">
            <a:r>
              <a:t/>
            </a:r>
          </a:p>
          <a:p xmlns:a="http://schemas.openxmlformats.org/drawingml/2006/main">
            <a:r>
              <a:t>Internal acceptance includes injected-source tests, blocked secret export, denied network targets, read-only replay, cancellation, corrupted checkpoint recovery and an audit record of every authorised side effect. Frontier research informs these evaluations; it does not confer production maturity.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months 1–12</a:t>
            </a:r>
          </a:p>
          <a:p xmlns:a="http://schemas.openxmlformats.org/drawingml/2006/main">
            <a:r>
              <a:t/>
            </a:r>
          </a:p>
          <a:p xmlns:a="http://schemas.openxmlformats.org/drawingml/2006/main">
            <a:r>
              <a:t/>
            </a:r>
          </a:p>
          <a:p xmlns:a="http://schemas.openxmlformats.org/drawingml/2006/main">
            <a:r>
              <a:t/>
            </a:r>
          </a:p>
          <a:p xmlns:a="http://schemas.openxmlformats.org/drawingml/2006/main">
            <a:r>
              <a:t>M1–3 / Human Firewall pilot and shared foundations / G1</a:t>
            </a:r>
          </a:p>
          <a:p xmlns:a="http://schemas.openxmlformats.org/drawingml/2006/main">
            <a:r>
              <a:t>M4–6 / Paid training pilots and production release / G2</a:t>
            </a:r>
          </a:p>
          <a:p xmlns:a="http://schemas.openxmlformats.org/drawingml/2006/main">
            <a:r>
              <a:t>M7–9 / Security Operations pilot / G3</a:t>
            </a:r>
          </a:p>
          <a:p xmlns:a="http://schemas.openxmlformats.org/drawingml/2006/main">
            <a:r>
              <a:t>M10–12 / Supported Security Operations release / G4</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Roadmap, dependencies and first 90 days</a:t>
            </a:r>
          </a:p>
          <a:p xmlns:a="http://schemas.openxmlformats.org/drawingml/2006/main">
            <a:r>
              <a:t/>
            </a:r>
          </a:p>
          <a:p xmlns:a="http://schemas.openxmlformats.org/drawingml/2006/main">
            <a:r>
              <a:t>[Index](README.md) · Owner: Product Lead · Kickoff: not yet assigned</a:t>
            </a:r>
          </a:p>
          <a:p xmlns:a="http://schemas.openxmlformats.org/drawingml/2006/main">
            <a:r>
              <a:t/>
            </a:r>
          </a:p>
          <a:p xmlns:a="http://schemas.openxmlformats.org/drawingml/2006/main">
            <a:r>
              <a:t>All months are relative to recorded kickoff. Gates are targets, not evidence of completion. The first training release is constrained to months 3–6; continuing maintenance does not extend its primary development window. Gate definitions are in the [production handbook](12-production-handbook.md).</a:t>
            </a:r>
          </a:p>
          <a:p xmlns:a="http://schemas.openxmlformats.org/drawingml/2006/main">
            <a:r>
              <a:t/>
            </a:r>
          </a:p>
          <a:p xmlns:a="http://schemas.openxmlformats.org/drawingml/2006/main">
            <a:r>
              <a:t>## 24-month delivery sequence</a:t>
            </a:r>
          </a:p>
          <a:p xmlns:a="http://schemas.openxmlformats.org/drawingml/2006/main">
            <a:r>
              <a:t/>
            </a:r>
          </a:p>
          <a:p xmlns:a="http://schemas.openxmlformats.org/drawingml/2006/main">
            <a:r>
              <a:t>| Window | Primary stream / gate | Research and preparation | Dependency / accountable role |</a:t>
            </a:r>
          </a:p>
          <a:p xmlns:a="http://schemas.openxmlformats.org/drawingml/2006/main">
            <a:r>
              <a:t>|---|---|---|---|</a:t>
            </a:r>
          </a:p>
          <a:p xmlns:a="http://schemas.openxmlformats.org/drawingml/2006/main">
            <a:r>
              <a:t>| M1–3 | Human Firewall pilot, G1 | R0; R1 protocol; internal workspace; operations interviews | Foundation controls; PL |</a:t>
            </a:r>
          </a:p>
          <a:p xmlns:a="http://schemas.openxmlformats.org/drawingml/2006/main">
            <a:r>
              <a:t>| M4–6 | Human Firewall production, G2 | R1 field feasibility; operations connector samples | G1 and customer/support evidence; PL |</a:t>
            </a:r>
          </a:p>
          <a:p xmlns:a="http://schemas.openxmlformats.org/drawingml/2006/main">
            <a:r>
              <a:t>| M7–9 | Security Operations pilot, G3 | R2/R3; passive appliance lab | G2 stable operation and own standalone product identity; PS |</a:t>
            </a:r>
          </a:p>
          <a:p xmlns:a="http://schemas.openxmlformats.org/drawingml/2006/main">
            <a:r>
              <a:t>| M10–12 | Security Operations production, G4 | R4 harness; local-model comparison | G3 ingestion/finding utility; PS |</a:t>
            </a:r>
          </a:p>
          <a:p xmlns:a="http://schemas.openxmlformats.org/drawingml/2006/main">
            <a:r>
              <a:t>| M13–15 | Defense Box pilot, G5 | R4/R5; agent customer discovery | G4 evidence/adapters; PS |</a:t>
            </a:r>
          </a:p>
          <a:p xmlns:a="http://schemas.openxmlformats.org/drawingml/2006/main">
            <a:r>
              <a:t>| M16–18 | Defense Box production, G6 | Conditional federation and passive OT lab | G5 scope, abort, cleanup and supportability; PS |</a:t>
            </a:r>
          </a:p>
          <a:p xmlns:a="http://schemas.openxmlformats.org/drawingml/2006/main">
            <a:r>
              <a:t>| M19–21 | Agent Security pilot, G7 | R6 long-horizon attacks and recovery | Internal tooling evidence and distinct external need; PS |</a:t>
            </a:r>
          </a:p>
          <a:p xmlns:a="http://schemas.openxmlformats.org/drawingml/2006/main">
            <a:r>
              <a:t>| M22–24 | Agent Security production, G8 | Conditional OT pilot, insurer/MSP and Lusophone discovery | G7 and portfolio operating capacity; PL/PS |</a:t>
            </a:r>
          </a:p>
          <a:p xmlns:a="http://schemas.openxmlformats.org/drawingml/2006/main">
            <a:r>
              <a:t/>
            </a:r>
          </a:p>
          <a:p xmlns:a="http://schemas.openxmlformats.org/drawingml/2006/main">
            <a:r>
              <a:t>Each subsequent stream requires sufficient stability/capacity, not purchase of the previous product by its customers. A failed gate moves dependent work or reduces breadth. Research can continue within its allocation without silently opening a second production programme.</a:t>
            </a:r>
          </a:p>
          <a:p xmlns:a="http://schemas.openxmlformats.org/drawingml/2006/main">
            <a:r>
              <a:t/>
            </a:r>
          </a:p>
          <a:p xmlns:a="http://schemas.openxmlformats.org/drawingml/2006/main">
            <a:r>
              <a:t>## Foundation backlog</a:t>
            </a:r>
          </a:p>
          <a:p xmlns:a="http://schemas.openxmlformats.org/drawingml/2006/main">
            <a:r>
              <a:t/>
            </a:r>
          </a:p>
          <a:p xmlns:a="http://schemas.openxmlformats.org/drawingml/2006/main">
            <a:r>
              <a:t>| ID | Deliverable | Owner | Dependency | Done evidence |</a:t>
            </a:r>
          </a:p>
          <a:p xmlns:a="http://schemas.openxmlformats.org/drawingml/2006/main">
            <a:r>
              <a:t>|---|---|---|---|---|</a:t>
            </a:r>
          </a:p>
          <a:p xmlns:a="http://schemas.openxmlformats.org/drawingml/2006/main">
            <a:r>
              <a:t>| CORE-01 | Organisation isolation, OIDC and role enforcement | PS | Data/role design | Cross-organisation and revoked-user denial tests |</a:t>
            </a:r>
          </a:p>
          <a:p xmlns:a="http://schemas.openxmlformats.org/drawingml/2006/main">
            <a:r>
              <a:t>| CORE-02 | Event/evidence contracts, schema validation and data lifecycle | PS/RL | Classification review | Valid/invalid fixtures, provenance, deletion and dedup tests |</a:t>
            </a:r>
          </a:p>
          <a:p xmlns:a="http://schemas.openxmlformats.org/drawingml/2006/main">
            <a:r>
              <a:t>| CORE-03 | Reproducible deploy, secrets, CI and dependency inventory | PS | Supported stack choice | Clean staging deployment with pinned images and secret scans |</a:t>
            </a:r>
          </a:p>
          <a:p xmlns:a="http://schemas.openxmlformats.org/drawingml/2006/main">
            <a:r>
              <a:t>| CORE-04 | Audit, persisted jobs and action approvals | PS | CORE-01/02 | Approval replay denial; restart/uncertain-side-effect reconciliation |</a:t>
            </a:r>
          </a:p>
          <a:p xmlns:a="http://schemas.openxmlformats.org/drawingml/2006/main">
            <a:r>
              <a:t>| CORE-05 | Monitoring, backup, restore and rollback | PS | CORE-03 | Timed restore; failing-release rollback and alert exercise |</a:t>
            </a:r>
          </a:p>
          <a:p xmlns:a="http://schemas.openxmlformats.org/drawingml/2006/main">
            <a:r>
              <a:t>| CORE-06 | Optional NetBird lab and provider adapter design | PS | CORE-01; isolated lab | Connectivity test matrix; licence/component record |</a:t>
            </a:r>
          </a:p>
          <a:p xmlns:a="http://schemas.openxmlformats.org/drawingml/2006/main">
            <a:r>
              <a:t>| DISC-01 | Ten customer interviews and product/pricing synthesis | PL | Interview guide | Documented needs, alternatives, buyer authority and objections |</a:t>
            </a:r>
          </a:p>
          <a:p xmlns:a="http://schemas.openxmlformats.org/drawingml/2006/main">
            <a:r>
              <a:t>| RES-01 | Legacy claim ledger and one independent rerun | RL | Source/data inventory | R0 report with reproduced/blocked distinctions |</a:t>
            </a:r>
          </a:p>
          <a:p xmlns:a="http://schemas.openxmlformats.org/drawingml/2006/main">
            <a:r>
              <a:t>| AG-01 | Internal agent workflow baseline | RL/PS | Sandbox and tool policy | R6 benchmark, cost and violation report |</a:t>
            </a:r>
          </a:p>
          <a:p xmlns:a="http://schemas.openxmlformats.org/drawingml/2006/main">
            <a:r>
              <a:t/>
            </a:r>
          </a:p>
          <a:p xmlns:a="http://schemas.openxmlformats.org/drawingml/2006/main">
            <a:r>
              <a:t>## First 90 days: ordered sprint plan</a:t>
            </a:r>
          </a:p>
          <a:p xmlns:a="http://schemas.openxmlformats.org/drawingml/2006/main">
            <a:r>
              <a:t/>
            </a:r>
          </a:p>
          <a:p xmlns:a="http://schemas.openxmlformats.org/drawingml/2006/main">
            <a:r>
              <a:t>| Period | Tasks and output | Acceptance / review |</a:t>
            </a:r>
          </a:p>
          <a:p xmlns:a="http://schemas.openxmlformats.org/drawingml/2006/main">
            <a:r>
              <a:t>|---|---|---|</a:t>
            </a:r>
          </a:p>
          <a:p xmlns:a="http://schemas.openxmlformats.org/drawingml/2006/main">
            <a:r>
              <a:t>| Weeks 1–2 | Assign role owners; record kickoff; DISC-01 starts; HF-01; CORE-01/02 design; RES-01 inventory | Requirements, data-purpose matrix, three scenarios, source traceability and threat model reviewed |</a:t>
            </a:r>
          </a:p>
          <a:p xmlns:a="http://schemas.openxmlformats.org/drawingml/2006/main">
            <a:r>
              <a:t>| Weeks 3–4 | CORE-01/03; HF-02/03 vertical slice; CORE-06 bounded lab; first R0 rerun | Administrator assigns a versioned scenario; learner completes it in isolated staging |</a:t>
            </a:r>
          </a:p>
          <a:p xmlns:a="http://schemas.openxmlformats.org/drawingml/2006/main">
            <a:r>
              <a:t>| Weeks 5–6 | HF-04/05; CORE-02/04; AG-01 baseline | Explained recommendation, authorised report, audit and durable event ingestion |</a:t>
            </a:r>
          </a:p>
          <a:p xmlns:a="http://schemas.openxmlformats.org/drawingml/2006/main">
            <a:r>
              <a:t>| Weeks 7–8 | HF-06; CORE-05; R1 protocol; finish DISC-01 | Twelve reviewed scenarios; monitoring; pilot criteria and research endpoints fixed |</a:t>
            </a:r>
          </a:p>
          <a:p xmlns:a="http://schemas.openxmlformats.org/drawingml/2006/main">
            <a:r>
              <a:t>| Weeks 9–10 | Restore/rollback, accessibility, rights/export/deletion; cost model; HF-07 starts | Timed exercises and defects triaged; draft pilot agreement and measured support assumptions |</a:t>
            </a:r>
          </a:p>
          <a:p xmlns:a="http://schemas.openxmlformats.org/drawingml/2006/main">
            <a:r>
              <a:t>| Weeks 11–13 | Independent pilot release review; onboarding rehearsal; operations samples/specification | G1 evidence signed, unresolved risks disclosed, next sprint backlog limited to G2 priorities |</a:t>
            </a:r>
          </a:p>
          <a:p xmlns:a="http://schemas.openxmlformats.org/drawingml/2006/main">
            <a:r>
              <a:t/>
            </a:r>
          </a:p>
          <a:p xmlns:a="http://schemas.openxmlformats.org/drawingml/2006/main">
            <a:r>
              <a:t>These are sequencing buckets, not an assertion that every item fits regardless of staffing. During planning, split tasks into reviewable issues of a few days each and preserve parent IDs. PS owns security-sensitive sequencing; research work cannot delay basic training journeys except for a genuine safety/data blocker.</a:t>
            </a:r>
          </a:p>
          <a:p xmlns:a="http://schemas.openxmlformats.org/drawingml/2006/main">
            <a:r>
              <a:t/>
            </a:r>
          </a:p>
          <a:p xmlns:a="http://schemas.openxmlformats.org/drawingml/2006/main">
            <a:r>
              <a:t>## Capacity and commercial checkpoints</a:t>
            </a:r>
          </a:p>
          <a:p xmlns:a="http://schemas.openxmlformats.org/drawingml/2006/main">
            <a:r>
              <a:t/>
            </a:r>
          </a:p>
          <a:p xmlns:a="http://schemas.openxmlformats.org/drawingml/2006/main">
            <a:r>
              <a:t>Three-FTE baseline: 1.8 product, 0.6 research/discovery, 0.6 support/operations. Review actual hours every sprint. A fourth contributor first reduces integration/reliability risk. At two contributors postpone optional connectors, generated content and custom integrations; do not remove isolation or recovery work.</a:t>
            </a:r>
          </a:p>
          <a:p xmlns:a="http://schemas.openxmlformats.org/drawingml/2006/main">
            <a:r>
              <a:t/>
            </a:r>
          </a:p>
          <a:p xmlns:a="http://schemas.openxmlformats.org/drawingml/2006/main">
            <a:r>
              <a:t>At M3 assess recruitment and willingness to pay; M6 assess training support economics and renewal signals; M12 assess operations alert workload and partner demand; M18 assess appliance deployment/support cost; M24 assess agent-policy value and portfolio sustainability. The target of 3–5 paid training pilots is unconfirmed until contracts exist. Customer count alone does not justify expansion.</a:t>
            </a:r>
          </a:p>
          <a:p xmlns:a="http://schemas.openxmlformats.org/drawingml/2006/main">
            <a:r>
              <a:t/>
            </a:r>
          </a:p>
          <a:p xmlns:a="http://schemas.openxmlformats.org/drawingml/2006/main">
            <a:r>
              <a:t>## Tracking and change control</a:t>
            </a:r>
          </a:p>
          <a:p xmlns:a="http://schemas.openxmlformats.org/drawingml/2006/main">
            <a:r>
              <a:t/>
            </a:r>
          </a:p>
          <a:p xmlns:a="http://schemas.openxmlformats.org/drawingml/2006/main">
            <a:r>
              <a:t>Issue fields: ID, product/WP, owner, dependency, estimate, acceptance evidence, security/data impact, status, blocked reason. Initial state for all implementation tasks is **not started / not verified by this documentation exercise**. Gates can be pending, passed with evidence, or failed. Scope changes require a decision-register entry and updates to the affected product, contract, research protocol and release gate.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months 13–24</a:t>
            </a:r>
          </a:p>
          <a:p xmlns:a="http://schemas.openxmlformats.org/drawingml/2006/main">
            <a:r>
              <a:t/>
            </a:r>
          </a:p>
          <a:p xmlns:a="http://schemas.openxmlformats.org/drawingml/2006/main">
            <a:r>
              <a:t/>
            </a:r>
          </a:p>
          <a:p xmlns:a="http://schemas.openxmlformats.org/drawingml/2006/main">
            <a:r>
              <a:t/>
            </a:r>
          </a:p>
          <a:p xmlns:a="http://schemas.openxmlformats.org/drawingml/2006/main">
            <a:r>
              <a:t>M13–15 / Defense Box and Validation pilot / G5</a:t>
            </a:r>
          </a:p>
          <a:p xmlns:a="http://schemas.openxmlformats.org/drawingml/2006/main">
            <a:r>
              <a:t>M16–18 / Supported appliance release / G6</a:t>
            </a:r>
          </a:p>
          <a:p xmlns:a="http://schemas.openxmlformats.org/drawingml/2006/main">
            <a:r>
              <a:t>M19–21 / Agent Security external pilot / G7</a:t>
            </a:r>
          </a:p>
          <a:p xmlns:a="http://schemas.openxmlformats.org/drawingml/2006/main">
            <a:r>
              <a:t>M22–24 / Agent Security release and portfolio integration / G8</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90 days</a:t>
            </a:r>
          </a:p>
          <a:p xmlns:a="http://schemas.openxmlformats.org/drawingml/2006/main">
            <a:r>
              <a:t/>
            </a:r>
          </a:p>
          <a:p xmlns:a="http://schemas.openxmlformats.org/drawingml/2006/main">
            <a:r>
              <a:t/>
            </a:r>
          </a:p>
          <a:p xmlns:a="http://schemas.openxmlformats.org/drawingml/2006/main">
            <a:r>
              <a:t/>
            </a:r>
          </a:p>
          <a:p xmlns:a="http://schemas.openxmlformats.org/drawingml/2006/main">
            <a:r>
              <a:t>Weeks 1–2 / Owners, discovery, content, contracts and threat model</a:t>
            </a:r>
          </a:p>
          <a:p xmlns:a="http://schemas.openxmlformats.org/drawingml/2006/main">
            <a:r>
              <a:t>Weeks 3–4 / Identity, deployment and a complete training slice</a:t>
            </a:r>
          </a:p>
          <a:p xmlns:a="http://schemas.openxmlformats.org/drawingml/2006/main">
            <a:r>
              <a:t>Weeks 5–8 / Adaptation, reports, audit, monitoring and pilot programme</a:t>
            </a:r>
          </a:p>
          <a:p xmlns:a="http://schemas.openxmlformats.org/drawingml/2006/main">
            <a:r>
              <a:t>Weeks 9–10 / Recovery, privacy, accessibility and cost model</a:t>
            </a:r>
          </a:p>
          <a:p xmlns:a="http://schemas.openxmlformats.org/drawingml/2006/main">
            <a:r>
              <a:t>Weeks 11–13 / Pilot release review and Operations preparation</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Shared implementation dependencies</a:t>
            </a:r>
          </a:p>
          <a:p xmlns:a="http://schemas.openxmlformats.org/drawingml/2006/main">
            <a:r>
              <a:t/>
            </a:r>
          </a:p>
          <a:p xmlns:a="http://schemas.openxmlformats.org/drawingml/2006/main">
            <a:r>
              <a:t/>
            </a:r>
          </a:p>
          <a:p xmlns:a="http://schemas.openxmlformats.org/drawingml/2006/main">
            <a:r>
              <a:t/>
            </a:r>
          </a:p>
          <a:p xmlns:a="http://schemas.openxmlformats.org/drawingml/2006/main">
            <a:r>
              <a:t>CORE-01 / CORE-02 / Identity, isolation, schemas and evidence before customer data</a:t>
            </a:r>
          </a:p>
          <a:p xmlns:a="http://schemas.openxmlformats.org/drawingml/2006/main">
            <a:r>
              <a:t>CORE-03 / CORE-05 / Repeatable deployment, monitoring and recovery before release</a:t>
            </a:r>
          </a:p>
          <a:p xmlns:a="http://schemas.openxmlformats.org/drawingml/2006/main">
            <a:r>
              <a:t>CORE-04 / Audit and bound approvals before consequential actions</a:t>
            </a:r>
          </a:p>
          <a:p xmlns:a="http://schemas.openxmlformats.org/drawingml/2006/main">
            <a:r>
              <a:t>CORE-06 / AG-01 / Optional connectivity and internal agent experiments stay bounded</a:t>
            </a:r>
          </a:p>
          <a:p xmlns:a="http://schemas.openxmlformats.org/drawingml/2006/main">
            <a:r>
              <a:t/>
            </a:r>
          </a:p>
          <a:p xmlns:a="http://schemas.openxmlformats.org/drawingml/2006/main">
            <a:r>
              <a:t>Project documentation: implementation-plan/08-roadmap-backlog.md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capacity and responsibilities</a:t>
            </a:r>
          </a:p>
          <a:p xmlns:a="http://schemas.openxmlformats.org/drawingml/2006/main">
            <a:r>
              <a:t/>
            </a:r>
          </a:p>
          <a:p xmlns:a="http://schemas.openxmlformats.org/drawingml/2006/main">
            <a:r>
              <a:t/>
            </a:r>
          </a:p>
          <a:p xmlns:a="http://schemas.openxmlformats.org/drawingml/2006/main">
            <a:r>
              <a:t/>
            </a:r>
          </a:p>
          <a:p xmlns:a="http://schemas.openxmlformats.org/drawingml/2006/main">
            <a:r>
              <a:t>Product Lead / Customers, scope, packaging and portfolio decisions</a:t>
            </a:r>
          </a:p>
          <a:p xmlns:a="http://schemas.openxmlformats.org/drawingml/2006/main">
            <a:r>
              <a:t>Platform/Security Lead / Architecture, operations and technical release approval</a:t>
            </a:r>
          </a:p>
          <a:p xmlns:a="http://schemas.openxmlformats.org/drawingml/2006/main">
            <a:r>
              <a:t>Application Engineer / Product journeys, UI and supported integrations</a:t>
            </a:r>
          </a:p>
          <a:p xmlns:a="http://schemas.openxmlformats.org/drawingml/2006/main">
            <a:r>
              <a:t>Research Lead / Methods, experiments and scientific claims</a:t>
            </a:r>
          </a:p>
          <a:p xmlns:a="http://schemas.openxmlformats.org/drawingml/2006/main">
            <a:r>
              <a:t/>
            </a:r>
          </a:p>
          <a:p xmlns:a="http://schemas.openxmlformats.org/drawingml/2006/main">
            <a:r>
              <a:t>Project documentation: implementation-plan/01-portfolio-strategy.md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packages 1–5</a:t>
            </a:r>
          </a:p>
          <a:p xmlns:a="http://schemas.openxmlformats.org/drawingml/2006/main">
            <a:r>
              <a:t/>
            </a:r>
          </a:p>
          <a:p xmlns:a="http://schemas.openxmlformats.org/drawingml/2006/main">
            <a:r>
              <a:t/>
            </a:r>
          </a:p>
          <a:p xmlns:a="http://schemas.openxmlformats.org/drawingml/2006/main">
            <a:r>
              <a:t/>
            </a:r>
          </a:p>
          <a:p xmlns:a="http://schemas.openxmlformats.org/drawingml/2006/main">
            <a:r>
              <a:t>WP1  AI experiments / Research / Protocols and promotion evidence</a:t>
            </a:r>
          </a:p>
          <a:p xmlns:a="http://schemas.openxmlformats.org/drawingml/2006/main">
            <a:r>
              <a:t>WP2  Data model / Platform / Research / Schemas, provenance and boundaries</a:t>
            </a:r>
          </a:p>
          <a:p xmlns:a="http://schemas.openxmlformats.org/drawingml/2006/main">
            <a:r>
              <a:t>WP3  Gamification / UX / Application / Training release and design system</a:t>
            </a:r>
          </a:p>
          <a:p xmlns:a="http://schemas.openxmlformats.org/drawingml/2006/main">
            <a:r>
              <a:t>WP4  Edge infrastructure / Platform / Collectors, local AI and appliance</a:t>
            </a:r>
          </a:p>
          <a:p xmlns:a="http://schemas.openxmlformats.org/drawingml/2006/main">
            <a:r>
              <a:t>WP5  Governance / Product / Security / Applicability and oversight records</a:t>
            </a:r>
          </a:p>
          <a:p xmlns:a="http://schemas.openxmlformats.org/drawingml/2006/main">
            <a:r>
              <a:t/>
            </a:r>
          </a:p>
          <a:p xmlns:a="http://schemas.openxmlformats.org/drawingml/2006/main">
            <a:r>
              <a:t>Project documentation: implementation-plan/09-work-packages.md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Work-package ownership and deliverables</a:t>
            </a:r>
          </a:p>
          <a:p xmlns:a="http://schemas.openxmlformats.org/drawingml/2006/main">
            <a:r>
              <a:t/>
            </a:r>
          </a:p>
          <a:p xmlns:a="http://schemas.openxmlformats.org/drawingml/2006/main">
            <a:r>
              <a:t>[Index](README.md) · Owner: Product Lead</a:t>
            </a:r>
          </a:p>
          <a:p xmlns:a="http://schemas.openxmlformats.org/drawingml/2006/main">
            <a:r>
              <a:t/>
            </a:r>
          </a:p>
          <a:p xmlns:a="http://schemas.openxmlformats.org/drawingml/2006/main">
            <a:r>
              <a:t>Owner roles: PL = Product Lead; PS = Platform/Security Lead; AE = Application Engineer; RL = Research Lead. Assign people at kickoff. Work packages are responsibilities across one product stream, not ten simultaneous teams.</a:t>
            </a:r>
          </a:p>
          <a:p xmlns:a="http://schemas.openxmlformats.org/drawingml/2006/main">
            <a:r>
              <a:t/>
            </a:r>
          </a:p>
          <a:p xmlns:a="http://schemas.openxmlformats.org/drawingml/2006/main">
            <a:r>
              <a:t>| WP | Owner | Deliverables | Dependencies | Acceptance and milestones |</a:t>
            </a:r>
          </a:p>
          <a:p xmlns:a="http://schemas.openxmlformats.org/drawingml/2006/main">
            <a:r>
              <a:t>|---|---|---|---|---|</a:t>
            </a:r>
          </a:p>
          <a:p xmlns:a="http://schemas.openxmlformats.org/drawingml/2006/main">
            <a:r>
              <a:t>| WP1 AI experiments and modelling | RL | R0 ledger; R1–R6 protocols; dataset/model cards; evaluation artefacts; promotion reports | WP2/7 data rights and quality | Reproducible inputs/outputs and baseline comparison; each relevant gate |</a:t>
            </a:r>
          </a:p>
          <a:p xmlns:a="http://schemas.openxmlformats.org/drawingml/2006/main">
            <a:r>
              <a:t>| WP2 Data model and Human Boundary Ecosystem | PS/RL | Data dictionary; classification; event/evidence/identity contracts; learning/security separation | WP5 purpose and threat model | Schema fixtures, tenant reference checks and provenance; CORE-02 before G1 |</a:t>
            </a:r>
          </a:p>
          <a:p xmlns:a="http://schemas.openxmlformats.org/drawingml/2006/main">
            <a:r>
              <a:t>| WP3 Gamification and UX | AE | Learner/admin journeys; content taxonomy; Portuguese scenarios; accessible design system; later product usability | WP1 baseline, WP2 outcomes | Principal journeys and reviewed content; G1/G2, then capped maintenance |</a:t>
            </a:r>
          </a:p>
          <a:p xmlns:a="http://schemas.openxmlformats.org/drawingml/2006/main">
            <a:r>
              <a:t>| WP4 Edge and privacy infrastructure | PS | Collector identity; local buffering/inference; connectivity adapter; appliance packaging; federation lab | WP2/5/7; CORE-03 | Offline/loss/rotation/upgrade tests; G3–G6; federation conditional |</a:t>
            </a:r>
          </a:p>
          <a:p xmlns:a="http://schemas.openxmlformats.org/drawingml/2006/main">
            <a:r>
              <a:t>| WP5 Regulatory and governance alignment | PL with PS | Applicability records; threat model; customer terms/DPA input; AI oversight; authorised-test scope | Product intended use and WP7 inventory | Qualified review for relevant obligations; gate-specific sign-off and limitations |</a:t>
            </a:r>
          </a:p>
          <a:p xmlns:a="http://schemas.openxmlformats.org/drawingml/2006/main">
            <a:r>
              <a:t>| WP6 SME operational integration | PL/AE | Discovery; onboarding; supported connectors; customer workflows; training/reporting cycles; offboarding | WP3/4/8/9 | Customer walkthrough, connector conformance and support documentation; all gates |</a:t>
            </a:r>
          </a:p>
          <a:p xmlns:a="http://schemas.openxmlformats.org/drawingml/2006/main">
            <a:r>
              <a:t>| WP7 Data lifecycle and rights | PS | Catalogue; metadata/lineage; quality checks; retention/deletion; rights workflow; research export controls | WP2 schemas and WP5 purpose | Export/delete/restore-time deletion tests and quality dashboard; before G1, extended each product |</a:t>
            </a:r>
          </a:p>
          <a:p xmlns:a="http://schemas.openxmlformats.org/drawingml/2006/main">
            <a:r>
              <a:t>| WP8 Product and commercialisation | PL | Product requirements; packaging; price/cost hypotheses; pilot agreements; community boundary; partner strategy | Customer evidence and WP5/9 costs | Buyer validation, support economics and coherent offer; quarterly checkpoints |</a:t>
            </a:r>
          </a:p>
          <a:p xmlns:a="http://schemas.openxmlformats.org/drawingml/2006/main">
            <a:r>
              <a:t>| WP9 Platform engineering and reliability | PS | Identity; CI/CD; IaC; secrets; observability; jobs; backups; upgrade/rollback; dependency inventory | WP2/5; implementation backlog | CORE-01–05 evidence and runbooks; before first customer release |</a:t>
            </a:r>
          </a:p>
          <a:p xmlns:a="http://schemas.openxmlformats.org/drawingml/2006/main">
            <a:r>
              <a:t>| WP10 Validation and release assurance | PS; independent reviewer | Test matrix; adversarial checks; security assessment; release manifest; gate record | Product and WP1/5/9 evidence | No unresolved critical/high security findings at GA; operational and product acceptance demonstrated |</a:t>
            </a:r>
          </a:p>
          <a:p xmlns:a="http://schemas.openxmlformats.org/drawingml/2006/main">
            <a:r>
              <a:t/>
            </a:r>
          </a:p>
          <a:p xmlns:a="http://schemas.openxmlformats.org/drawingml/2006/main">
            <a:r>
              <a:t>## Cross-package handoffs</a:t>
            </a:r>
          </a:p>
          <a:p xmlns:a="http://schemas.openxmlformats.org/drawingml/2006/main">
            <a:r>
              <a:t/>
            </a:r>
          </a:p>
          <a:p xmlns:a="http://schemas.openxmlformats.org/drawingml/2006/main">
            <a:r>
              <a:t>WP1 supplies a research candidate plus limitations, never an implicit production approval. WP2/7 supply permitted data and provenance. WP4/9 package the candidate behind a reversible feature flag. WP10 validates representative behaviour and failure handling. WP8 confirms a customer reason to support it. PS and PL jointly accept production promotion; RL approves scientific claims.</a:t>
            </a:r>
          </a:p>
          <a:p xmlns:a="http://schemas.openxmlformats.org/drawingml/2006/main">
            <a:r>
              <a:t/>
            </a:r>
          </a:p>
          <a:p xmlns:a="http://schemas.openxmlformats.org/drawingml/2006/main">
            <a:r>
              <a:t>## Minimum recurring cadence</a:t>
            </a:r>
          </a:p>
          <a:p xmlns:a="http://schemas.openxmlformats.org/drawingml/2006/main">
            <a:r>
              <a:t/>
            </a:r>
          </a:p>
          <a:p xmlns:a="http://schemas.openxmlformats.org/drawingml/2006/main">
            <a:r>
              <a:t>Two-week product review: completed evidence, defects, support load and next bounded sprint. Monthly research/commercial review: hypotheses, negative results, spend, discovery and product implications. Release review: WP10 gate record signed by the accountable owner and second reviewer. Quarterly portfolio review: sequencing, capacity and deferred initiatives, including federation/OT/insurance/international scope.</a:t>
            </a:r>
          </a:p>
          <a:p xmlns:a="http://schemas.openxmlformats.org/drawingml/2006/main">
            <a:r>
              <a:t/>
            </a:r>
          </a:p>
          <a:p xmlns:a="http://schemas.openxmlformats.org/drawingml/2006/main">
            <a:r>
              <a:t>## Deliverable conventions</a:t>
            </a:r>
          </a:p>
          <a:p xmlns:a="http://schemas.openxmlformats.org/drawingml/2006/main">
            <a:r>
              <a:t/>
            </a:r>
          </a:p>
          <a:p xmlns:a="http://schemas.openxmlformats.org/drawingml/2006/main">
            <a:r>
              <a:t>Each deliverable records version, owner, status, supporting artefact links and review date. A research report can be complete with a negative result. A production gate cannot pass on a roadmap statement, vendor benchmark or unexecuted test plan. Source changes are tracked in [traceability](02-source-traceability.md); implementation decisions in the [decision register](14-decisions.md).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 packages 6–10</a:t>
            </a:r>
          </a:p>
          <a:p xmlns:a="http://schemas.openxmlformats.org/drawingml/2006/main">
            <a:r>
              <a:t/>
            </a:r>
          </a:p>
          <a:p xmlns:a="http://schemas.openxmlformats.org/drawingml/2006/main">
            <a:r>
              <a:t/>
            </a:r>
          </a:p>
          <a:p xmlns:a="http://schemas.openxmlformats.org/drawingml/2006/main">
            <a:r>
              <a:t/>
            </a:r>
          </a:p>
          <a:p xmlns:a="http://schemas.openxmlformats.org/drawingml/2006/main">
            <a:r>
              <a:t>WP6  SME integration / Product / Application / Onboarding and connectors</a:t>
            </a:r>
          </a:p>
          <a:p xmlns:a="http://schemas.openxmlformats.org/drawingml/2006/main">
            <a:r>
              <a:t>WP7  Data lifecycle / Platform / Quality, retention and rights</a:t>
            </a:r>
          </a:p>
          <a:p xmlns:a="http://schemas.openxmlformats.org/drawingml/2006/main">
            <a:r>
              <a:t>WP8  Commercialisation / Product / Packaging and pilot economics</a:t>
            </a:r>
          </a:p>
          <a:p xmlns:a="http://schemas.openxmlformats.org/drawingml/2006/main">
            <a:r>
              <a:t>WP9  Reliability / Platform / CI/CD, recovery and operations</a:t>
            </a:r>
          </a:p>
          <a:p xmlns:a="http://schemas.openxmlformats.org/drawingml/2006/main">
            <a:r>
              <a:t>WP10  Release assurance / Security / reviewer / Tests, assessment and gate record</a:t>
            </a:r>
          </a:p>
          <a:p xmlns:a="http://schemas.openxmlformats.org/drawingml/2006/main">
            <a:r>
              <a:t/>
            </a:r>
          </a:p>
          <a:p xmlns:a="http://schemas.openxmlformats.org/drawingml/2006/main">
            <a:r>
              <a:t>Project documentation: implementation-plan/09-work-packages.md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validation</a:t>
            </a:r>
          </a:p>
          <a:p xmlns:a="http://schemas.openxmlformats.org/drawingml/2006/main">
            <a:r>
              <a:t/>
            </a:r>
          </a:p>
          <a:p xmlns:a="http://schemas.openxmlformats.org/drawingml/2006/main">
            <a:r>
              <a:t/>
            </a:r>
          </a:p>
          <a:p xmlns:a="http://schemas.openxmlformats.org/drawingml/2006/main">
            <a:r>
              <a:t/>
            </a:r>
          </a:p>
          <a:p xmlns:a="http://schemas.openxmlformats.org/drawingml/2006/main">
            <a:r>
              <a:t>Initial discovery: Ten interviews with buyers and operators across target Portuguese SMEs.</a:t>
            </a:r>
          </a:p>
          <a:p xmlns:a="http://schemas.openxmlformats.org/drawingml/2006/main">
            <a:r>
              <a:t/>
            </a:r>
          </a:p>
          <a:p xmlns:a="http://schemas.openxmlformats.org/drawingml/2006/main">
            <a:r>
              <a:t>Pilot objective: Recruit 3–5 paid training pilots after technical and privacy readiness.</a:t>
            </a:r>
          </a:p>
          <a:p xmlns:a="http://schemas.openxmlformats.org/drawingml/2006/main">
            <a:r>
              <a:t/>
            </a:r>
          </a:p>
          <a:p xmlns:a="http://schemas.openxmlformats.org/drawingml/2006/main">
            <a:r>
              <a:t>Later products: Interview at least five relevant buyers/operators before each new product.</a:t>
            </a:r>
          </a:p>
          <a:p xmlns:a="http://schemas.openxmlformats.org/drawingml/2006/main">
            <a:r>
              <a:t/>
            </a:r>
          </a:p>
          <a:p xmlns:a="http://schemas.openxmlformats.org/drawingml/2006/main">
            <a:r>
              <a:t>Commercial checkpoints: Assess renewal, support effort, cost and willingness to pay before expansion.</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Market, packaging and open-core business model</a:t>
            </a:r>
          </a:p>
          <a:p xmlns:a="http://schemas.openxmlformats.org/drawingml/2006/main">
            <a:r>
              <a:t/>
            </a:r>
          </a:p>
          <a:p xmlns:a="http://schemas.openxmlformats.org/drawingml/2006/main">
            <a:r>
              <a:t>[Index](README.md) · Owner: Product Lead · Evidence snapshot: 18 September 2026</a:t>
            </a:r>
          </a:p>
          <a:p xmlns:a="http://schemas.openxmlformats.org/drawingml/2006/main">
            <a:r>
              <a:t/>
            </a:r>
          </a:p>
          <a:p xmlns:a="http://schemas.openxmlformats.org/drawingml/2006/main">
            <a:r>
              <a:t>## Market thesis and limits</a:t>
            </a:r>
          </a:p>
          <a:p xmlns:a="http://schemas.openxmlformats.org/drawingml/2006/main">
            <a:r>
              <a:t/>
            </a:r>
          </a:p>
          <a:p xmlns:a="http://schemas.openxmlformats.org/drawingml/2006/main">
            <a:r>
              <a:t>Hypothesis: Portuguese SMEs will pay for supported, understandable security workflows that reduce administration and make evidence usable. Validate this with buyers, not broad cyber-loss statistics. ENISA's NIS Investments 2025 survey covers 1,080 organisations and is 83% large enterprises; its budget figures cannot be treated as a representative Portuguese SME spending baseline. [ENISA report](https://www.enisa.europa.eu/publications/nis-investments-2025).</a:t>
            </a:r>
          </a:p>
          <a:p xmlns:a="http://schemas.openxmlformats.org/drawingml/2006/main">
            <a:r>
              <a:t/>
            </a:r>
          </a:p>
          <a:p xmlns:a="http://schemas.openxmlformats.org/drawingml/2006/main">
            <a:r>
              <a:t>Start discovery with 20–200-person professional-services and technology-enabled businesses, then IT service providers. Interview the actual budget holder and operator. Later appliances need customers with accessible local infrastructure; Agent Security needs a separate engineering/security buyer. Do not assume the training buyer will buy all subsequent products.</a:t>
            </a:r>
          </a:p>
          <a:p xmlns:a="http://schemas.openxmlformats.org/drawingml/2006/main">
            <a:r>
              <a:t/>
            </a:r>
          </a:p>
          <a:p xmlns:a="http://schemas.openxmlformats.org/drawingml/2006/main">
            <a:r>
              <a:t>## Competitive references</a:t>
            </a:r>
          </a:p>
          <a:p xmlns:a="http://schemas.openxmlformats.org/drawingml/2006/main">
            <a:r>
              <a:t/>
            </a:r>
          </a:p>
          <a:p xmlns:a="http://schemas.openxmlformats.org/drawingml/2006/main">
            <a:r>
              <a:t>Prices are page observations, not quotes, converted currencies, or an AegisAI price recommendation. Recheck billing basis, taxes, region and scope before comparison.</a:t>
            </a:r>
          </a:p>
          <a:p xmlns:a="http://schemas.openxmlformats.org/drawingml/2006/main">
            <a:r>
              <a:t/>
            </a:r>
          </a:p>
          <a:p xmlns:a="http://schemas.openxmlformats.org/drawingml/2006/main">
            <a:r>
              <a:t>| Reference | Observed model and positioning | Lesson / competitive implication |</a:t>
            </a:r>
          </a:p>
          <a:p xmlns:a="http://schemas.openxmlformats.org/drawingml/2006/main">
            <a:r>
              <a:t>|---|---|---|</a:t>
            </a:r>
          </a:p>
          <a:p xmlns:a="http://schemas.openxmlformats.org/drawingml/2006/main">
            <a:r>
              <a:t>| [NetBird](https://netbird.io/pricing) | Cloud Free up to 5 users; Team EUR 6 and Business EUR 12 per active user/month on the accessed page; enterprise custom; self-hosted terms separate | Free adoption can coexist with paid operation, support and organisational capabilities |</a:t>
            </a:r>
          </a:p>
          <a:p xmlns:a="http://schemas.openxmlformats.org/drawingml/2006/main">
            <a:r>
              <a:t>| [Tailscale](https://tailscale.com/pricing) | Personal entry tier; Standard/Premium and enterprise tiers; current pricing separates organisational usage from free personal use | Free is not synonymous with open-source server availability; agent governance is an adjacent competitive area |</a:t>
            </a:r>
          </a:p>
          <a:p xmlns:a="http://schemas.openxmlformats.org/drawingml/2006/main">
            <a:r>
              <a:t>| [Firezone](https://www.firezone.dev/pricing) | Free, Team and Enterprise access offerings | Clear tier boundaries and enterprise support are alternatives to charging for every core capability |</a:t>
            </a:r>
          </a:p>
          <a:p xmlns:a="http://schemas.openxmlformats.org/drawingml/2006/main">
            <a:r>
              <a:t>| [Wazuh Cloud](https://wazuh.com/cloud/) | Managed deployment of an open-source security platform | Integration, reliability and operations can support revenue around an open foundation |</a:t>
            </a:r>
          </a:p>
          <a:p xmlns:a="http://schemas.openxmlformats.org/drawingml/2006/main">
            <a:r>
              <a:t>| [KnowBe4 AIDA](https://www.knowbe4.com/press/knowbe4-launches-aida-orchestration-as-the-first-fully-autonomous-agent-for-human-risk-management) | Vendor announced autonomous training orchestration in February 2026 | Adaptive/AI training alone is not distinctive; prove local fit, privacy and customer outcomes |</a:t>
            </a:r>
          </a:p>
          <a:p xmlns:a="http://schemas.openxmlformats.org/drawingml/2006/main">
            <a:r>
              <a:t/>
            </a:r>
          </a:p>
          <a:p xmlns:a="http://schemas.openxmlformats.org/drawingml/2006/main">
            <a:r>
              <a:t>For Security Operations, compare the customer's existing Wazuh/SIEM/endpoint workflows against AegisAI's evidence-to-remediation experience. For Defense Box, compare managed sensors and existing validation tools; do not sell an upstream scanner with only a new logo. For Agent Security, compare network/provider governance with task-level tool authority and safe execution. [Tailscale Aperture announcement](https://tailscale.com/blog/aperture-public-beta).</a:t>
            </a:r>
          </a:p>
          <a:p xmlns:a="http://schemas.openxmlformats.org/drawingml/2006/main">
            <a:r>
              <a:t/>
            </a:r>
          </a:p>
          <a:p xmlns:a="http://schemas.openxmlformats.org/drawingml/2006/main">
            <a:r>
              <a:t>## Vendor use cases and what they establish</a:t>
            </a:r>
          </a:p>
          <a:p xmlns:a="http://schemas.openxmlformats.org/drawingml/2006/main">
            <a:r>
              <a:t/>
            </a:r>
          </a:p>
          <a:p xmlns:a="http://schemas.openxmlformats.org/drawingml/2006/main">
            <a:r>
              <a:t>- NetBird's August 2026 Norsk Helsenett case describes identity-aware access and simpler administration in healthcare IT. It supports investigation of enrolment/support needs; it does not demonstrate AegisAI suitability for regulated healthcare. [Case](https://netbird.io/knowledge-hub/norsk-helsenett).</a:t>
            </a:r>
          </a:p>
          <a:p xmlns:a="http://schemas.openxmlformats.org/drawingml/2006/main">
            <a:r>
              <a:t>- Wazuh's DigiFors case illustrates an MSSP combining an open platform with maintained customer services. It motivates a later partner model; its reported outcomes are vendor/customer claims, not audited AegisAI unit economics. [Case](https://wazuh.com/resources/case-studies/digifors-mssp-services/).</a:t>
            </a:r>
          </a:p>
          <a:p xmlns:a="http://schemas.openxmlformats.org/drawingml/2006/main">
            <a:r>
              <a:t/>
            </a:r>
          </a:p>
          <a:p xmlns:a="http://schemas.openxmlformats.org/drawingml/2006/main">
            <a:r>
              <a:t>## Product packaging</a:t>
            </a:r>
          </a:p>
          <a:p xmlns:a="http://schemas.openxmlformats.org/drawingml/2006/main">
            <a:r>
              <a:t/>
            </a:r>
          </a:p>
          <a:p xmlns:a="http://schemas.openxmlformats.org/drawingml/2006/main">
            <a:r>
              <a:t>| Package | Included value | Cost/billing driver | Separate commercial work |</a:t>
            </a:r>
          </a:p>
          <a:p xmlns:a="http://schemas.openxmlformats.org/drawingml/2006/main">
            <a:r>
              <a:t>|---|---|---|---|</a:t>
            </a:r>
          </a:p>
          <a:p xmlns:a="http://schemas.openxmlformats.org/drawingml/2006/main">
            <a:r>
              <a:t>| Human Firewall | Managed training, reviewed content, reporting, business-hours support | Organisation base + active learner band | Bespoke content and integrations |</a:t>
            </a:r>
          </a:p>
          <a:p xmlns:a="http://schemas.openxmlformats.org/drawingml/2006/main">
            <a:r>
              <a:t>| Security Operations | Supported ingestion, asset/SCA findings, investigations and guided playbooks | Organisation base + asset/event-volume band | Additional sources, long retention, advanced response integration |</a:t>
            </a:r>
          </a:p>
          <a:p xmlns:a="http://schemas.openxmlformats.org/drawingml/2006/main">
            <a:r>
              <a:t>| Defense Box | Supported software appliance, updates, diagnostics and scoped validation | Site/appliance + supported validation allowance | Installation, hardware, industrial assessment |</a:t>
            </a:r>
          </a:p>
          <a:p xmlns:a="http://schemas.openxmlformats.org/drawingml/2006/main">
            <a:r>
              <a:t>| Agent Security | Workload policy, gateway, audit and execution controls | Organisation/workload tier + measured execution usage | Private deployment, enterprise connectors, dedicated support |</a:t>
            </a:r>
          </a:p>
          <a:p xmlns:a="http://schemas.openxmlformats.org/drawingml/2006/main">
            <a:r>
              <a:t/>
            </a:r>
          </a:p>
          <a:p xmlns:a="http://schemas.openxmlformats.org/drawingml/2006/main">
            <a:r>
              <a:t>Bundle discounts must not obscure per-product costs. Publish inclusions, usage limits, overage handling and support hours. No unlimited telemetry, agent compute or bespoke support by default. No product is priced or sold in this documentation exercise.</a:t>
            </a:r>
          </a:p>
          <a:p xmlns:a="http://schemas.openxmlformats.org/drawingml/2006/main">
            <a:r>
              <a:t/>
            </a:r>
          </a:p>
          <a:p xmlns:a="http://schemas.openxmlformats.org/drawingml/2006/main">
            <a:r>
              <a:t>## Cost model and illustrative sensitivity</a:t>
            </a:r>
          </a:p>
          <a:p xmlns:a="http://schemas.openxmlformats.org/drawingml/2006/main">
            <a:r>
              <a:t/>
            </a:r>
          </a:p>
          <a:p xmlns:a="http://schemas.openxmlformats.org/drawingml/2006/main">
            <a:r>
              <a:t>Monthly direct service cost per customer:</a:t>
            </a:r>
          </a:p>
          <a:p xmlns:a="http://schemas.openxmlformats.org/drawingml/2006/main">
            <a:r>
              <a:t/>
            </a:r>
          </a:p>
          <a:p xmlns:a="http://schemas.openxmlformats.org/drawingml/2006/main">
            <a:r>
              <a:t>`C = compute + database/storage/backup + network/relay egress + upstream licences + model usage + support hours × loaded hourly cost + monitoring/security allocation`</a:t>
            </a:r>
          </a:p>
          <a:p xmlns:a="http://schemas.openxmlformats.org/drawingml/2006/main">
            <a:r>
              <a:t/>
            </a:r>
          </a:p>
          <a:p xmlns:a="http://schemas.openxmlformats.org/drawingml/2006/main">
            <a:r>
              <a:t>At desired gross margin `g`, the minimum recurring price before sales/R&amp;D overhead is `P = C / (1 - g)`. Onboarding is priced separately from recurring operations. Include engineering, sales, tax and working-capital costs in company planning; gross margin is not profit.</a:t>
            </a:r>
          </a:p>
          <a:p xmlns:a="http://schemas.openxmlformats.org/drawingml/2006/main">
            <a:r>
              <a:t/>
            </a:r>
          </a:p>
          <a:p xmlns:a="http://schemas.openxmlformats.org/drawingml/2006/main">
            <a:r>
              <a:t>Illustration only: EUR 60 infrastructure + EUR 15 backup/monitoring + EUR 10 model use + 2 support hours at EUR 40 = EUR 165 direct monthly cost, excluding any paid upstream licence. At a hypothetical 60% gross margin the price floor is EUR 412.50. Four support hours make cost EUR 245 and the same floor EUR 612.50. These are invented scenario inputs to expose support sensitivity, not measured costs or a proposed market price.</a:t>
            </a:r>
          </a:p>
          <a:p xmlns:a="http://schemas.openxmlformats.org/drawingml/2006/main">
            <a:r>
              <a:t/>
            </a:r>
          </a:p>
          <a:p xmlns:a="http://schemas.openxmlformats.org/drawingml/2006/main">
            <a:r>
              <a:t>Discovery must test whether customers value an offer above its measured cost floor. If not, reduce onboarding/support friction, change the segment or stop expansion; do not infer profitability from free upstream software. Track paid conversion, renewal, support hours, gross margin, acquisition effort and cash collection separately.</a:t>
            </a:r>
          </a:p>
          <a:p xmlns:a="http://schemas.openxmlformats.org/drawingml/2006/main">
            <a:r>
              <a:t/>
            </a:r>
          </a:p>
          <a:p xmlns:a="http://schemas.openxmlformats.org/drawingml/2006/main">
            <a:r>
              <a:t>## Open-source and enterprise boundary</a:t>
            </a:r>
          </a:p>
          <a:p xmlns:a="http://schemas.openxmlformats.org/drawingml/2006/main">
            <a:r>
              <a:t/>
            </a:r>
          </a:p>
          <a:p xmlns:a="http://schemas.openxmlformats.org/drawingml/2006/main">
            <a:r>
              <a:t>Default licence proposal for original community code: Apache-2.0, after contributor/IP and upstream compatibility review. This document does not license existing source or override dependencies. Keep a useful community core: schemas, selected collectors/adapters, basic workflows, evaluation harnesses and permitted research artefacts. Community users retain export and self-hosting paths.</a:t>
            </a:r>
          </a:p>
          <a:p xmlns:a="http://schemas.openxmlformats.org/drawingml/2006/main">
            <a:r>
              <a:t/>
            </a:r>
          </a:p>
          <a:p xmlns:a="http://schemas.openxmlformats.org/drawingml/2006/main">
            <a:r>
              <a:t>Paid value: managed EU operation, fleet administration, enterprise integrations, maintained deployment options, support agreements and scoped implementation. Proprietary extensions, if adopted, have documented API boundaries and separate terms; legal review decides compatibility. Do not hold fixes for shared security flaws behind a paid gate. Establish SECURITY.md, contribution guidance, release policy, issue triage and maintenance ownership before public launch.</a:t>
            </a:r>
          </a:p>
          <a:p xmlns:a="http://schemas.openxmlformats.org/drawingml/2006/main">
            <a:r>
              <a:t/>
            </a:r>
          </a:p>
          <a:p xmlns:a="http://schemas.openxmlformats.org/drawingml/2006/main">
            <a:r>
              <a:t>Custom-client work requires a statement of work, acceptance, recurring maintenance price, IP boundary and a reuse decision. Prefer configuration or maintained adapters; decline divergent customer forks without funded support. NetBird commercial resale/hosting permissions and pricing remain external validations, not assumed rights.</a:t>
            </a:r>
          </a:p>
          <a:p xmlns:a="http://schemas.openxmlformats.org/drawingml/2006/main">
            <a:r>
              <a:t/>
            </a:r>
          </a:p>
          <a:p xmlns:a="http://schemas.openxmlformats.org/drawingml/2006/main">
            <a:r>
              <a:t>## Discovery protocol and expansion gates</a:t>
            </a:r>
          </a:p>
          <a:p xmlns:a="http://schemas.openxmlformats.org/drawingml/2006/main">
            <a:r>
              <a:t/>
            </a:r>
          </a:p>
          <a:p xmlns:a="http://schemas.openxmlformats.org/drawingml/2006/main">
            <a:r>
              <a:t>Ten initial interviews: current workflow, recent incident/administration pain, incumbent tools, buying authority, budget process, data constraints, procurement, support expectations and willingness to pilot. Record alternatives and disconfirming evidence. Target 3–5 paid training pilots after readiness; no customers are claimed to exist.</a:t>
            </a:r>
          </a:p>
          <a:p xmlns:a="http://schemas.openxmlformats.org/drawingml/2006/main">
            <a:r>
              <a:t/>
            </a:r>
          </a:p>
          <a:p xmlns:a="http://schemas.openxmlformats.org/drawingml/2006/main">
            <a:r>
              <a:t>Before each later product, interview at least five relevant buyers/operators and obtain scoped pilot interest. Expand through MSPs after repeatable direct onboarding. Insurance evidence exchange and Lusophone expansion remain M22–24 discovery: confirm buyer, data permissions, distribution partner and economics before adding delivery commitments. No numerical TAM or revenue forecast is justified by the reviewed evidence; build a bottom-up segment model only from sourced firm counts and measured conversion assumptions.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Competitive references</a:t>
            </a:r>
          </a:p>
          <a:p xmlns:a="http://schemas.openxmlformats.org/drawingml/2006/main">
            <a:r>
              <a:t/>
            </a:r>
          </a:p>
          <a:p xmlns:a="http://schemas.openxmlformats.org/drawingml/2006/main">
            <a:r>
              <a:t/>
            </a:r>
          </a:p>
          <a:p xmlns:a="http://schemas.openxmlformats.org/drawingml/2006/main">
            <a:r>
              <a:t/>
            </a:r>
          </a:p>
          <a:p xmlns:a="http://schemas.openxmlformats.org/drawingml/2006/main">
            <a:r>
              <a:t>NetBird / Tailscale / Firezone / Adoption tiers, managed access and organisational controls</a:t>
            </a:r>
          </a:p>
          <a:p xmlns:a="http://schemas.openxmlformats.org/drawingml/2006/main">
            <a:r>
              <a:t>Wazuh / Supported services around an open security platform</a:t>
            </a:r>
          </a:p>
          <a:p xmlns:a="http://schemas.openxmlformats.org/drawingml/2006/main">
            <a:r>
              <a:t>KnowBe4 AIDA / AI training orchestration already has strong competitors</a:t>
            </a:r>
          </a:p>
          <a:p xmlns:a="http://schemas.openxmlformats.org/drawingml/2006/main">
            <a:r>
              <a:t>Agent-access offerings / Validate task-level authority and execution differentiation</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core and commercial value</a:t>
            </a:r>
          </a:p>
          <a:p xmlns:a="http://schemas.openxmlformats.org/drawingml/2006/main">
            <a:r>
              <a:t/>
            </a:r>
          </a:p>
          <a:p xmlns:a="http://schemas.openxmlformats.org/drawingml/2006/main">
            <a:r>
              <a:t/>
            </a:r>
          </a:p>
          <a:p xmlns:a="http://schemas.openxmlformats.org/drawingml/2006/main">
            <a:r>
              <a:t/>
            </a:r>
          </a:p>
          <a:p xmlns:a="http://schemas.openxmlformats.org/drawingml/2006/main">
            <a:r>
              <a:t>Schemas and selected adapters / Managed EU operation and enterprise administration</a:t>
            </a:r>
          </a:p>
          <a:p xmlns:a="http://schemas.openxmlformats.org/drawingml/2006/main">
            <a:r>
              <a:t>Basic workflows and export / Maintained integrations and supported deployment</a:t>
            </a:r>
          </a:p>
          <a:p xmlns:a="http://schemas.openxmlformats.org/drawingml/2006/main">
            <a:r>
              <a:t>Evaluation tools and research artefacts / Support agreements and implementation services</a:t>
            </a:r>
          </a:p>
          <a:p xmlns:a="http://schemas.openxmlformats.org/drawingml/2006/main">
            <a:r>
              <a:t>Documented self-hosting path / Customer-specific work with explicit maintenance scope</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 packaging</a:t>
            </a:r>
          </a:p>
          <a:p xmlns:a="http://schemas.openxmlformats.org/drawingml/2006/main">
            <a:r>
              <a:t/>
            </a:r>
          </a:p>
          <a:p xmlns:a="http://schemas.openxmlformats.org/drawingml/2006/main">
            <a:r>
              <a:t/>
            </a:r>
          </a:p>
          <a:p xmlns:a="http://schemas.openxmlformats.org/drawingml/2006/main">
            <a:r>
              <a:t/>
            </a:r>
          </a:p>
          <a:p xmlns:a="http://schemas.openxmlformats.org/drawingml/2006/main">
            <a:r>
              <a:t>Human Firewall / Organisation base and active learner band</a:t>
            </a:r>
          </a:p>
          <a:p xmlns:a="http://schemas.openxmlformats.org/drawingml/2006/main">
            <a:r>
              <a:t>Security Operations / Organisation base, assets and event volume</a:t>
            </a:r>
          </a:p>
          <a:p xmlns:a="http://schemas.openxmlformats.org/drawingml/2006/main">
            <a:r>
              <a:t>Defense Box / Site/appliance and supported validation allowance</a:t>
            </a:r>
          </a:p>
          <a:p xmlns:a="http://schemas.openxmlformats.org/drawingml/2006/main">
            <a:r>
              <a:t>Agent Security / Organisation/workloads and execution usage</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Support effort changes the price floor</a:t>
            </a:r>
          </a:p>
          <a:p xmlns:a="http://schemas.openxmlformats.org/drawingml/2006/main">
            <a:r>
              <a:t/>
            </a:r>
          </a:p>
          <a:p xmlns:a="http://schemas.openxmlformats.org/drawingml/2006/main">
            <a:r>
              <a:t/>
            </a:r>
          </a:p>
          <a:p xmlns:a="http://schemas.openxmlformats.org/drawingml/2006/main">
            <a:r>
              <a:t/>
            </a:r>
          </a:p>
          <a:p xmlns:a="http://schemas.openxmlformats.org/drawingml/2006/main">
            <a:r>
              <a:t>Infrastructure, backup and model use / EUR 85 / EUR 85</a:t>
            </a:r>
          </a:p>
          <a:p xmlns:a="http://schemas.openxmlformats.org/drawingml/2006/main">
            <a:r>
              <a:t>Support at EUR 40 per hour / EUR 80 / EUR 160</a:t>
            </a:r>
          </a:p>
          <a:p xmlns:a="http://schemas.openxmlformats.org/drawingml/2006/main">
            <a:r>
              <a:t>Direct monthly cost / EUR 165 / EUR 245</a:t>
            </a:r>
          </a:p>
          <a:p xmlns:a="http://schemas.openxmlformats.org/drawingml/2006/main">
            <a:r>
              <a:t>Price at a hypothetical 60% margin / EUR 412.50 / EUR 612.50</a:t>
            </a:r>
          </a:p>
          <a:p xmlns:a="http://schemas.openxmlformats.org/drawingml/2006/main">
            <a:r>
              <a:t/>
            </a:r>
          </a:p>
          <a:p xmlns:a="http://schemas.openxmlformats.org/drawingml/2006/main">
            <a:r>
              <a:t>Project documentation: implementation-plan/10-market-business-model.md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https://www.enisa.europa.eu/publications/nis-investments-2025</a:t>
            </a:r>
          </a:p>
          <a:p xmlns:a="http://schemas.openxmlformats.org/drawingml/2006/main">
            <a:r>
              <a:t>https://netbird.io/pricing</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https://www.knowbe4.com/press/knowbe4-launches-aida-orchestration-as-the-first-fully-autonomous-agent-for-human-risk-management</a:t>
            </a:r>
          </a:p>
          <a:p xmlns:a="http://schemas.openxmlformats.org/drawingml/2006/main">
            <a:r>
              <a:t>https://tailscale.com/blog/aperture-public-beta</a:t>
            </a:r>
          </a:p>
          <a:p xmlns:a="http://schemas.openxmlformats.org/drawingml/2006/main">
            <a:r>
              <a:t>https://netbird.io/knowledge-hub/norsk-helsenett</a:t>
            </a:r>
          </a:p>
          <a:p xmlns:a="http://schemas.openxmlformats.org/drawingml/2006/main">
            <a:r>
              <a:t>https://wazuh.com/resources/case-studies/digifors-mssp-services/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and privacy risks</a:t>
            </a:r>
          </a:p>
          <a:p xmlns:a="http://schemas.openxmlformats.org/drawingml/2006/main">
            <a:r>
              <a:t/>
            </a:r>
          </a:p>
          <a:p xmlns:a="http://schemas.openxmlformats.org/drawingml/2006/main">
            <a:r>
              <a:t/>
            </a:r>
          </a:p>
          <a:p xmlns:a="http://schemas.openxmlformats.org/drawingml/2006/main">
            <a:r>
              <a:t/>
            </a:r>
          </a:p>
          <a:p xmlns:a="http://schemas.openxmlformats.org/drawingml/2006/main">
            <a:r>
              <a:t>Cross-customer access / Isolated stacks and object-level authorisation</a:t>
            </a:r>
          </a:p>
          <a:p xmlns:a="http://schemas.openxmlformats.org/drawingml/2006/main">
            <a:r>
              <a:t>Agent or collector compromise / Scoped identities, revocation and execution isolation</a:t>
            </a:r>
          </a:p>
          <a:p xmlns:a="http://schemas.openxmlformats.org/drawingml/2006/main">
            <a:r>
              <a:t>Repeated or destructive action / Bound approvals and reconciliation</a:t>
            </a:r>
          </a:p>
          <a:p xmlns:a="http://schemas.openxmlformats.org/drawingml/2006/main">
            <a:r>
              <a:t>Employee surveillance / Separate purposes and restricted learning data</a:t>
            </a:r>
          </a:p>
          <a:p xmlns:a="http://schemas.openxmlformats.org/drawingml/2006/main">
            <a:r>
              <a:t>Unsafe validation / Explicit scope, limits, abort and cleanup</a:t>
            </a:r>
          </a:p>
          <a:p xmlns:a="http://schemas.openxmlformats.org/drawingml/2006/main">
            <a:r>
              <a:t/>
            </a:r>
          </a:p>
          <a:p xmlns:a="http://schemas.openxmlformats.org/drawingml/2006/main">
            <a:r>
              <a:t>Project documentation: implementation-plan/11-security-privacy-regulation.md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https://digital-strategy.ec.europa.eu/en/policies/cra-reporting</a:t>
            </a:r>
          </a:p>
          <a:p xmlns:a="http://schemas.openxmlformats.org/drawingml/2006/main">
            <a:r>
              <a:t>https://dyn.cncs.gov.pt/pt/detalhe/art/135998/novo-regime-juridico-da-ciberseguranca-entra-em-vigor</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Security, privacy and regulatory applicability</a:t>
            </a:r>
          </a:p>
          <a:p xmlns:a="http://schemas.openxmlformats.org/drawingml/2006/main">
            <a:r>
              <a:t/>
            </a:r>
          </a:p>
          <a:p xmlns:a="http://schemas.openxmlformats.org/drawingml/2006/main">
            <a:r>
              <a:t>[Index](README.md) · Owner: Platform/Security Lead with Product Lead · Design controls, not a compliance certification</a:t>
            </a:r>
          </a:p>
          <a:p xmlns:a="http://schemas.openxmlformats.org/drawingml/2006/main">
            <a:r>
              <a:t/>
            </a:r>
          </a:p>
          <a:p xmlns:a="http://schemas.openxmlformats.org/drawingml/2006/main">
            <a:r>
              <a:t>## Threat model and controls</a:t>
            </a:r>
          </a:p>
          <a:p xmlns:a="http://schemas.openxmlformats.org/drawingml/2006/main">
            <a:r>
              <a:t/>
            </a:r>
          </a:p>
          <a:p xmlns:a="http://schemas.openxmlformats.org/drawingml/2006/main">
            <a:r>
              <a:t>| Threat | Required control | Verification |</a:t>
            </a:r>
          </a:p>
          <a:p xmlns:a="http://schemas.openxmlformats.org/drawingml/2006/main">
            <a:r>
              <a:t>|---|---|---|</a:t>
            </a:r>
          </a:p>
          <a:p xmlns:a="http://schemas.openxmlformats.org/drawingml/2006/main">
            <a:r>
              <a:t>| Cross-customer access | Separate stacks/credentials plus application object checks | Cross-organisation API/evidence/export tests |</a:t>
            </a:r>
          </a:p>
          <a:p xmlns:a="http://schemas.openxmlformats.org/drawingml/2006/main">
            <a:r>
              <a:t>| Compromised collector | Revocable workload identity, minimum routes, bounded configuration | Credential theft/revocation exercise |</a:t>
            </a:r>
          </a:p>
          <a:p xmlns:a="http://schemas.openxmlformats.org/drawingml/2006/main">
            <a:r>
              <a:t>| Prompt injection or poisoned memory | Untrusted-data separation, deterministic tool policy, isolated runtime | R6 adversarial suite and denied-action audit |</a:t>
            </a:r>
          </a:p>
          <a:p xmlns:a="http://schemas.openxmlformats.org/drawingml/2006/main">
            <a:r>
              <a:t>| Destructive or repeated automation | Parameter-bound approval, precondition checks, idempotency/reconciliation | Lost-response, retry and expired-approval tests |</a:t>
            </a:r>
          </a:p>
          <a:p xmlns:a="http://schemas.openxmlformats.org/drawingml/2006/main">
            <a:r>
              <a:t>| Software supply-chain compromise | Pinned dependencies, SBOM, scanning, signed release provenance, update policy | Build inventory and tampered-update rejection |</a:t>
            </a:r>
          </a:p>
          <a:p xmlns:a="http://schemas.openxmlformats.org/drawingml/2006/main">
            <a:r>
              <a:t>| Employee surveillance/purpose expansion | Separate learning/security stores and purposes; access restrictions | Data-flow/role review and privacy tests |</a:t>
            </a:r>
          </a:p>
          <a:p xmlns:a="http://schemas.openxmlformats.org/drawingml/2006/main">
            <a:r>
              <a:t>| Unsafe active validation | Exact scope, isolated runner, expiry, abort and cleanup | Out-of-scope and disconnect tests |</a:t>
            </a:r>
          </a:p>
          <a:p xmlns:a="http://schemas.openxmlformats.org/drawingml/2006/main">
            <a:r>
              <a:t>| Telemetry/log data leakage | Local minimisation, redaction, limited retention, secret isolation | Payload/log inspection and deletion exercise |</a:t>
            </a:r>
          </a:p>
          <a:p xmlns:a="http://schemas.openxmlformats.org/drawingml/2006/main">
            <a:r>
              <a:t>| Operating outage or stale policy | Health/freshness indicators, backup/restore and emergency procedure | Controlled failure and restore drills |</a:t>
            </a:r>
          </a:p>
          <a:p xmlns:a="http://schemas.openxmlformats.org/drawingml/2006/main">
            <a:r>
              <a:t/>
            </a:r>
          </a:p>
          <a:p xmlns:a="http://schemas.openxmlformats.org/drawingml/2006/main">
            <a:r>
              <a:t>## Data handling defaults</a:t>
            </a:r>
          </a:p>
          <a:p xmlns:a="http://schemas.openxmlformats.org/drawingml/2006/main">
            <a:r>
              <a:t/>
            </a:r>
          </a:p>
          <a:p xmlns:a="http://schemas.openxmlformats.org/drawingml/2006/main">
            <a:r>
              <a:t>| Data | Default location and retention | Access/purpose |</a:t>
            </a:r>
          </a:p>
          <a:p xmlns:a="http://schemas.openxmlformats.org/drawingml/2006/main">
            <a:r>
              <a:t>|---|---|---|</a:t>
            </a:r>
          </a:p>
          <a:p xmlns:a="http://schemas.openxmlformats.org/drawingml/2006/main">
            <a:r>
              <a:t>| Identity/role mapping | Customer stack, active account plus documented offboarding period | Authentication/administration; restricted operator access |</a:t>
            </a:r>
          </a:p>
          <a:p xmlns:a="http://schemas.openxmlformats.org/drawingml/2006/main">
            <a:r>
              <a:t>| Learning outcome | Customer stack, 180 days | Assignment and learning evaluation; no employment risk score |</a:t>
            </a:r>
          </a:p>
          <a:p xmlns:a="http://schemas.openxmlformats.org/drawingml/2006/main">
            <a:r>
              <a:t>| Voluntary feedback | Customer stack, minimise free text; 180 days maximum default | Learning improvement; aggregate reporting where possible |</a:t>
            </a:r>
          </a:p>
          <a:p xmlns:a="http://schemas.openxmlformats.org/drawingml/2006/main">
            <a:r>
              <a:t>| Raw packet payload | Disabled | Separate specific approval and purpose if ever enabled |</a:t>
            </a:r>
          </a:p>
          <a:p xmlns:a="http://schemas.openxmlformats.org/drawingml/2006/main">
            <a:r>
              <a:t>| Local metadata buffer | Edge, seven-day maximum and size cap | Reliable delivery/diagnosis; visible loss on overflow |</a:t>
            </a:r>
          </a:p>
          <a:p xmlns:a="http://schemas.openxmlformats.org/drawingml/2006/main">
            <a:r>
              <a:t>| Operational observation | Customer stack, 30 days | Security investigation; source and freshness preserved |</a:t>
            </a:r>
          </a:p>
          <a:p xmlns:a="http://schemas.openxmlformats.org/drawingml/2006/main">
            <a:r>
              <a:t>| Findings and audit | Customer stack, 180 days | Evidence, change history and accountability |</a:t>
            </a:r>
          </a:p>
          <a:p xmlns:a="http://schemas.openxmlformats.org/drawingml/2006/main">
            <a:r>
              <a:t>| Research export | Separate research environment, explicit project retention | Purpose-limited pseudonymised or approved data only |</a:t>
            </a:r>
          </a:p>
          <a:p xmlns:a="http://schemas.openxmlformats.org/drawingml/2006/main">
            <a:r>
              <a:t>| Backup | Separate encrypted backup, 30-day rolling expiry | Recovery; restore access restricted |</a:t>
            </a:r>
          </a:p>
          <a:p xmlns:a="http://schemas.openxmlformats.org/drawingml/2006/main">
            <a:r>
              <a:t/>
            </a:r>
          </a:p>
          <a:p xmlns:a="http://schemas.openxmlformats.org/drawingml/2006/main">
            <a:r>
              <a:t>These are product defaults, not statutory periods. Before onboarding, document customer purpose, lawful basis, controller/processor roles, retention, subprocessors and international transfers. Adjust through configuration and approved policy. Pseudonymous events remain potentially personal data. Rights workflows must locate related records, export/correct/delete where applicable, propagate deletion to indexes and derived stores, and replay deletion tombstones after backup restoration. Immutable evidence needs a documented lawful retention exception rather than a blanket refusal to delete.</a:t>
            </a:r>
          </a:p>
          <a:p xmlns:a="http://schemas.openxmlformats.org/drawingml/2006/main">
            <a:r>
              <a:t/>
            </a:r>
          </a:p>
          <a:p xmlns:a="http://schemas.openxmlformats.org/drawingml/2006/main">
            <a:r>
              <a:t>## Applicability matrix</a:t>
            </a:r>
          </a:p>
          <a:p xmlns:a="http://schemas.openxmlformats.org/drawingml/2006/main">
            <a:r>
              <a:t/>
            </a:r>
          </a:p>
          <a:p xmlns:a="http://schemas.openxmlformats.org/drawingml/2006/main">
            <a:r>
              <a:t>| Framework | Relevant question | Required project action |</a:t>
            </a:r>
          </a:p>
          <a:p xmlns:a="http://schemas.openxmlformats.org/drawingml/2006/main">
            <a:r>
              <a:t>|---|---|---|</a:t>
            </a:r>
          </a:p>
          <a:p xmlns:a="http://schemas.openxmlformats.org/drawingml/2006/main">
            <a:r>
              <a:t>| GDPR | What personal data/purpose, roles and lawful basis apply? Is a DPIA required? | Processing inventory, minimisation, customer terms, rights process and risk assessment before pilot |</a:t>
            </a:r>
          </a:p>
          <a:p xmlns:a="http://schemas.openxmlformats.org/drawingml/2006/main">
            <a:r>
              <a:t>| EU AI Act | What is each feature's intended use and provider/deployer role? | Feature-level classification and oversight; no automatic assumption that all cybersecurity AI is high-risk |</a:t>
            </a:r>
          </a:p>
          <a:p xmlns:a="http://schemas.openxmlformats.org/drawingml/2006/main">
            <a:r>
              <a:t>| Portuguese cybersecurity regime/NIS2 | Is AegisAI or the customer in scope, and for which service? | Entity/service assessment and review of current implementing requirements |</a:t>
            </a:r>
          </a:p>
          <a:p xmlns:a="http://schemas.openxmlformats.org/drawingml/2006/main">
            <a:r>
              <a:t>| Cyber Resilience Act | Is a shipped software/appliance product in scope, and who is manufacturer/steward? | Product classification, vulnerability handling, update/support period and reporting readiness |</a:t>
            </a:r>
          </a:p>
          <a:p xmlns:a="http://schemas.openxmlformats.org/drawingml/2006/main">
            <a:r>
              <a:t>| NIST CSF/Cyber AI Profile | Which controls and AI-related risks are relevant? | Map Govern, Identify, Protect, Detect, Respond, Recover to evidence; label draft guidance accurately |</a:t>
            </a:r>
          </a:p>
          <a:p xmlns:a="http://schemas.openxmlformats.org/drawingml/2006/main">
            <a:r>
              <a:t/>
            </a:r>
          </a:p>
          <a:p xmlns:a="http://schemas.openxmlformats.org/drawingml/2006/main">
            <a:r>
              <a:t>Sources: [GDPR](https://eur-lex.europa.eu/eli/reg/2016/679/oj/), [AI Act text](https://eur-lex.europa.eu/eli/reg/2024/1689/oj), [current Commission AI guidance](https://digital-strategy.ec.europa.eu/en/policies/regulatory-framework-ai), [CRA summary](https://digital-strategy.ec.europa.eu/en/policies/cra-summary), [NIST profile](https://www.nccoe.nist.gov/projects/cyber-ai-profile).</a:t>
            </a:r>
          </a:p>
          <a:p xmlns:a="http://schemas.openxmlformats.org/drawingml/2006/main">
            <a:r>
              <a:t/>
            </a:r>
          </a:p>
          <a:p xmlns:a="http://schemas.openxmlformats.org/drawingml/2006/main">
            <a:r>
              <a:t>Workplace emotion recognition is subject to specific AI Act prohibitions and narrow exceptions; client products exclude biometric emotion inference. Consent is not treated as a universal workaround. Voluntary feedback and supportive UX remain possible design choices subject to ordinary data-purpose review.</a:t>
            </a:r>
          </a:p>
          <a:p xmlns:a="http://schemas.openxmlformats.org/drawingml/2006/main">
            <a:r>
              <a:t/>
            </a:r>
          </a:p>
          <a:p xmlns:a="http://schemas.openxmlformats.org/drawingml/2006/main">
            <a:r>
              <a:t>CRA Article 14 reporting applies from 11 September 2026 for covered manufacturers; the Commission states general applicability from 11 December 2027. Those are external legal dates and do not move with project kickoff. Determine scope rather than assuming every SaaS function is automatically covered. [CRA reporting](https://digital-strategy.ec.europa.eu/en/policies/cra-reporting).</a:t>
            </a:r>
          </a:p>
          <a:p xmlns:a="http://schemas.openxmlformats.org/drawingml/2006/main">
            <a:r>
              <a:t/>
            </a:r>
          </a:p>
          <a:p xmlns:a="http://schemas.openxmlformats.org/drawingml/2006/main">
            <a:r>
              <a:t>The CNCS notice previously reviewed reports the new Portuguese regime under Decree-Law 125/2025. Its linked notice produced a redirect loop in the 18 September refresh; obtain the authoritative text and current regulations during the applicability review before relying on detailed scope/deadlines. Do not reuse the old local legal memo as current authority. [CNCS notice](https://dyn.cncs.gov.pt/pt/detalhe/art/135998/novo-regime-juridico-da-ciberseguranca-entra-em-vigor).</a:t>
            </a:r>
          </a:p>
          <a:p xmlns:a="http://schemas.openxmlformats.org/drawingml/2006/main">
            <a:r>
              <a:t/>
            </a:r>
          </a:p>
          <a:p xmlns:a="http://schemas.openxmlformats.org/drawingml/2006/main">
            <a:r>
              <a:t>## Risk register and accountable response</a:t>
            </a:r>
          </a:p>
          <a:p xmlns:a="http://schemas.openxmlformats.org/drawingml/2006/main">
            <a:r>
              <a:t/>
            </a:r>
          </a:p>
          <a:p xmlns:a="http://schemas.openxmlformats.org/drawingml/2006/main">
            <a:r>
              <a:t>| Risk | Owner | Trigger / response |</a:t>
            </a:r>
          </a:p>
          <a:p xmlns:a="http://schemas.openxmlformats.org/drawingml/2006/main">
            <a:r>
              <a:t>|---|---|---|</a:t>
            </a:r>
          </a:p>
          <a:p xmlns:a="http://schemas.openxmlformats.org/drawingml/2006/main">
            <a:r>
              <a:t>| Portfolio exceeds lean-team capacity | PL | Support &gt;20% for two sprints: pause expansion and fix operating burden |</a:t>
            </a:r>
          </a:p>
          <a:p xmlns:a="http://schemas.openxmlformats.org/drawingml/2006/main">
            <a:r>
              <a:t>| Legacy results cannot reproduce | RL | Keep claim excluded; publish limitation and rerun protocol |</a:t>
            </a:r>
          </a:p>
          <a:p xmlns:a="http://schemas.openxmlformats.org/drawingml/2006/main">
            <a:r>
              <a:t>| Training offers weak customer value | PL | Revisit content/package; do not claim efficacy from engagement |</a:t>
            </a:r>
          </a:p>
          <a:p xmlns:a="http://schemas.openxmlformats.org/drawingml/2006/main">
            <a:r>
              <a:t>| Upstream licence/enterprise cost changes | PS/PL | Recheck pinned bill of materials and quote; adjust adapter or package |</a:t>
            </a:r>
          </a:p>
          <a:p xmlns:a="http://schemas.openxmlformats.org/drawingml/2006/main">
            <a:r>
              <a:t>| Unacceptable false-alert burden | RL/PS | Keep model in shadow mode or remove it; use baseline |</a:t>
            </a:r>
          </a:p>
          <a:p xmlns:a="http://schemas.openxmlformats.org/drawingml/2006/main">
            <a:r>
              <a:t>| Agent authority bypass | PS | Block affected release, revoke capability and investigate |</a:t>
            </a:r>
          </a:p>
          <a:p xmlns:a="http://schemas.openxmlformats.org/drawingml/2006/main">
            <a:r>
              <a:t>| Industrial process impact | PS/customer operator | Keep passive-only; no active pilot without process-safety approval |</a:t>
            </a:r>
          </a:p>
          <a:p xmlns:a="http://schemas.openxmlformats.org/drawingml/2006/main">
            <a:r>
              <a:t>| Legal role or data purpose unclear | PL | Block affected processing, continue independent work, obtain scoped advice |</a:t>
            </a:r>
          </a:p>
          <a:p xmlns:a="http://schemas.openxmlformats.org/drawingml/2006/main">
            <a:r>
              <a:t/>
            </a:r>
          </a:p>
          <a:p xmlns:a="http://schemas.openxmlformats.org/drawingml/2006/main">
            <a:r>
              <a:t>Legal review is targeted to actual intended use and customer commitments. Product documentation must describe supported evidence and controls without asserting certification, full compliance or insurer acceptance that has not been established.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Regulatory applicability</a:t>
            </a:r>
          </a:p>
          <a:p xmlns:a="http://schemas.openxmlformats.org/drawingml/2006/main">
            <a:r>
              <a:t/>
            </a:r>
          </a:p>
          <a:p xmlns:a="http://schemas.openxmlformats.org/drawingml/2006/main">
            <a:r>
              <a:t/>
            </a:r>
          </a:p>
          <a:p xmlns:a="http://schemas.openxmlformats.org/drawingml/2006/main">
            <a:r>
              <a:t/>
            </a:r>
          </a:p>
          <a:p xmlns:a="http://schemas.openxmlformats.org/drawingml/2006/main">
            <a:r>
              <a:t>GDPR / Data purpose, roles, lawful basis, rights and DPIA</a:t>
            </a:r>
          </a:p>
          <a:p xmlns:a="http://schemas.openxmlformats.org/drawingml/2006/main">
            <a:r>
              <a:t>EU AI Act / Feature intended use and provider/deployer obligations</a:t>
            </a:r>
          </a:p>
          <a:p xmlns:a="http://schemas.openxmlformats.org/drawingml/2006/main">
            <a:r>
              <a:t>Portugal / NIS2 / Entity and service scope under current requirements</a:t>
            </a:r>
          </a:p>
          <a:p xmlns:a="http://schemas.openxmlformats.org/drawingml/2006/main">
            <a:r>
              <a:t>Cyber Resilience Act / Product scope, manufacturer role and reporting</a:t>
            </a:r>
          </a:p>
          <a:p xmlns:a="http://schemas.openxmlformats.org/drawingml/2006/main">
            <a:r>
              <a:t>NIST Cyber AI Profile / Control mapping with draft status clearly identified</a:t>
            </a:r>
          </a:p>
          <a:p xmlns:a="http://schemas.openxmlformats.org/drawingml/2006/main">
            <a:r>
              <a:t/>
            </a:r>
          </a:p>
          <a:p xmlns:a="http://schemas.openxmlformats.org/drawingml/2006/main">
            <a:r>
              <a:t>Project documentation: implementation-plan/11-security-privacy-regulation.md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https://digital-strategy.ec.europa.eu/en/policies/cra-reporting</a:t>
            </a:r>
          </a:p>
          <a:p xmlns:a="http://schemas.openxmlformats.org/drawingml/2006/main">
            <a:r>
              <a:t>https://dyn.cncs.gov.pt/pt/detalhe/art/135998/novo-regime-juridico-da-ciberseguranca-entra-em-vigor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Production readiness at every release</a:t>
            </a:r>
          </a:p>
          <a:p xmlns:a="http://schemas.openxmlformats.org/drawingml/2006/main">
            <a:r>
              <a:t/>
            </a:r>
          </a:p>
          <a:p xmlns:a="http://schemas.openxmlformats.org/drawingml/2006/main">
            <a:r>
              <a:t/>
            </a:r>
          </a:p>
          <a:p xmlns:a="http://schemas.openxmlformats.org/drawingml/2006/main">
            <a:r>
              <a:t/>
            </a:r>
          </a:p>
          <a:p xmlns:a="http://schemas.openxmlformats.org/drawingml/2006/main">
            <a:r>
              <a:t>Common pilot requirements: Isolation, secrets, monitoring, restore evidence and scoped customer agreement.</a:t>
            </a:r>
          </a:p>
          <a:p xmlns:a="http://schemas.openxmlformats.org/drawingml/2006/main">
            <a:r>
              <a:t/>
            </a:r>
          </a:p>
          <a:p xmlns:a="http://schemas.openxmlformats.org/drawingml/2006/main">
            <a:r>
              <a:t>General availability: Independent assessment, resolved critical/high findings, capacity and recovery evidence.</a:t>
            </a:r>
          </a:p>
          <a:p xmlns:a="http://schemas.openxmlformats.org/drawingml/2006/main">
            <a:r>
              <a:t/>
            </a:r>
          </a:p>
          <a:p xmlns:a="http://schemas.openxmlformats.org/drawingml/2006/main">
            <a:r>
              <a:t>Product-specific acceptance: Useful learning, manageable alerts, safe validation or enforced agent authority.</a:t>
            </a:r>
          </a:p>
          <a:p xmlns:a="http://schemas.openxmlformats.org/drawingml/2006/main">
            <a:r>
              <a:t/>
            </a:r>
          </a:p>
          <a:p xmlns:a="http://schemas.openxmlformats.org/drawingml/2006/main">
            <a:r>
              <a:t>Gate decision: Pass with evidence, reduce scope or move dependent work. All gates are currently pending.</a:t>
            </a:r>
          </a:p>
          <a:p xmlns:a="http://schemas.openxmlformats.org/drawingml/2006/main">
            <a:r>
              <a:t/>
            </a:r>
          </a:p>
          <a:p xmlns:a="http://schemas.openxmlformats.org/drawingml/2006/main">
            <a:r>
              <a:t>Project documentation: implementation-plan/12-production-handbook.md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Production, pilot and release handbook</a:t>
            </a:r>
          </a:p>
          <a:p xmlns:a="http://schemas.openxmlformats.org/drawingml/2006/main">
            <a:r>
              <a:t/>
            </a:r>
          </a:p>
          <a:p xmlns:a="http://schemas.openxmlformats.org/drawingml/2006/main">
            <a:r>
              <a:t>[Index](README.md) · Owner: Platform/Security Lead · All gates initially pending</a:t>
            </a:r>
          </a:p>
          <a:p xmlns:a="http://schemas.openxmlformats.org/drawingml/2006/main">
            <a:r>
              <a:t/>
            </a:r>
          </a:p>
          <a:p xmlns:a="http://schemas.openxmlformats.org/drawingml/2006/main">
            <a:r>
              <a:t>## Gate evidence</a:t>
            </a:r>
          </a:p>
          <a:p xmlns:a="http://schemas.openxmlformats.org/drawingml/2006/main">
            <a:r>
              <a:t/>
            </a:r>
          </a:p>
          <a:p xmlns:a="http://schemas.openxmlformats.org/drawingml/2006/main">
            <a:r>
              <a:t>| Gate | Target | Product-specific evidence, in addition to common controls |</a:t>
            </a:r>
          </a:p>
          <a:p xmlns:a="http://schemas.openxmlformats.org/drawingml/2006/main">
            <a:r>
              <a:t>|---|---|---|</a:t>
            </a:r>
          </a:p>
          <a:p xmlns:a="http://schemas.openxmlformats.org/drawingml/2006/main">
            <a:r>
              <a:t>| G1 | M3 Human Firewall pilot | Complete admin/learner journey, three interactive scenarios, reviewed programme, pilot protocol and onboarding rehearsal |</a:t>
            </a:r>
          </a:p>
          <a:p xmlns:a="http://schemas.openxmlformats.org/drawingml/2006/main">
            <a:r>
              <a:t>| G2 | M4–6 Human Firewall GA | Twelve reviewed scenarios, usable reports, operational support and customer value assessment; no unsupported efficacy claim |</a:t>
            </a:r>
          </a:p>
          <a:p xmlns:a="http://schemas.openxmlformats.org/drawingml/2006/main">
            <a:r>
              <a:t>| G3 | M7–9 Operations pilot | Asset/SBOM → finding → investigation → remediation evidence; source freshness/loss visible |</a:t>
            </a:r>
          </a:p>
          <a:p xmlns:a="http://schemas.openxmlformats.org/drawingml/2006/main">
            <a:r>
              <a:t>| G4 | M10–12 Operations GA | Measured alert workload, supported connectors, approval tests, 48-hour soak at agreed volume |</a:t>
            </a:r>
          </a:p>
          <a:p xmlns:a="http://schemas.openxmlformats.org/drawingml/2006/main">
            <a:r>
              <a:t>| G5 | M13–15 Defense Box pilot | Stable passive collection, approved validation, measured resource use and successful abort/cleanup |</a:t>
            </a:r>
          </a:p>
          <a:p xmlns:a="http://schemas.openxmlformats.org/drawingml/2006/main">
            <a:r>
              <a:t>| G6 | M16–18 Defense Box GA | Supported installation profile, upgrade/rollback, five checks and remediation retest evidence |</a:t>
            </a:r>
          </a:p>
          <a:p xmlns:a="http://schemas.openxmlformats.org/drawingml/2006/main">
            <a:r>
              <a:t>| G7 | M19–21 Agent Security pilot | Two customer workflows under enforced tool/identity/budget policies |</a:t>
            </a:r>
          </a:p>
          <a:p xmlns:a="http://schemas.openxmlformats.org/drawingml/2006/main">
            <a:r>
              <a:t>| G8 | M22–24 Agent Security GA | Isolation, revocation, injection/recovery evaluations, compatibility and cost accounting |</a:t>
            </a:r>
          </a:p>
          <a:p xmlns:a="http://schemas.openxmlformats.org/drawingml/2006/main">
            <a:r>
              <a:t/>
            </a:r>
          </a:p>
          <a:p xmlns:a="http://schemas.openxmlformats.org/drawingml/2006/main">
            <a:r>
              <a:t>Common pilot controls: access/isolation tests, secrets inventory, monitoring, restore evidence, documented data purpose/retention, scoped agreement, support contact and rollback. Common GA controls: independent security assessment of the changed surface; all critical/high findings remediated and retested; load/capacity evidence; dependency/licence inventory; vulnerability process; runbooks; customer acceptance and release sign-off. No gate is marked passed by this document.</a:t>
            </a:r>
          </a:p>
          <a:p xmlns:a="http://schemas.openxmlformats.org/drawingml/2006/main">
            <a:r>
              <a:t/>
            </a:r>
          </a:p>
          <a:p xmlns:a="http://schemas.openxmlformats.org/drawingml/2006/main">
            <a:r>
              <a:t>## Service objectives and support boundary</a:t>
            </a:r>
          </a:p>
          <a:p xmlns:a="http://schemas.openxmlformats.org/drawingml/2006/main">
            <a:r>
              <a:t/>
            </a:r>
          </a:p>
          <a:p xmlns:a="http://schemas.openxmlformats.org/drawingml/2006/main">
            <a:r>
              <a:t>Engineering target: 99.9% monthly application availability, measured at the customer-facing service boundary with a declared measurement method. Client ISP/device downtime and upstream dependencies must be explained, not silently excluded from customer impact reports. A target becomes an SLA only after architecture, monitoring, staffing and contract review support it.</a:t>
            </a:r>
          </a:p>
          <a:p xmlns:a="http://schemas.openxmlformats.org/drawingml/2006/main">
            <a:r>
              <a:t/>
            </a:r>
          </a:p>
          <a:p xmlns:a="http://schemas.openxmlformats.org/drawingml/2006/main">
            <a:r>
              <a:t>Pilot recovery targets: RPO 24 hours and RTO four hours. GA: RPO one hour and RTO four hours for managed application data, demonstrated by restore tests. These do not promise zero loss of unacknowledged edge buffers or restoration of the customer's own infrastructure. Implement point-in-time recovery or equivalent before claiming the tighter RPO.</a:t>
            </a:r>
          </a:p>
          <a:p xmlns:a="http://schemas.openxmlformats.org/drawingml/2006/main">
            <a:r>
              <a:t/>
            </a:r>
          </a:p>
          <a:p xmlns:a="http://schemas.openxmlformats.org/drawingml/2006/main">
            <a:r>
              <a:t>Initial staffed support: Portuguese business hours, with named incident escalation arrangements in each pilot agreement. Automated monitoring may run continuously; this does not imply 24/7 staffed response. No numerical response SLA is sold before staffing is costed.</a:t>
            </a:r>
          </a:p>
          <a:p xmlns:a="http://schemas.openxmlformats.org/drawingml/2006/main">
            <a:r>
              <a:t/>
            </a:r>
          </a:p>
          <a:p xmlns:a="http://schemas.openxmlformats.org/drawingml/2006/main">
            <a:r>
              <a:t>## Runbook: customer onboarding</a:t>
            </a:r>
          </a:p>
          <a:p xmlns:a="http://schemas.openxmlformats.org/drawingml/2006/main">
            <a:r>
              <a:t/>
            </a:r>
          </a:p>
          <a:p xmlns:a="http://schemas.openxmlformats.org/drawingml/2006/main">
            <a:r>
              <a:t>1. PL confirms product scope, supported sources, buyer/operator, support hours and pilot outcomes.</a:t>
            </a:r>
          </a:p>
          <a:p xmlns:a="http://schemas.openxmlformats.org/drawingml/2006/main">
            <a:r>
              <a:t>2. PS records architecture, region, data purpose/retention, identity integration and permitted routes; legal/privacy review covers affected processing.</a:t>
            </a:r>
          </a:p>
          <a:p xmlns:a="http://schemas.openxmlformats.org/drawingml/2006/main">
            <a:r>
              <a:t>3. Deploy isolated stack from pinned manifests; rotate bootstrap secrets; verify backup and health.</a:t>
            </a:r>
          </a:p>
          <a:p xmlns:a="http://schemas.openxmlformats.org/drawingml/2006/main">
            <a:r>
              <a:t>4. Enrol only approved collectors/users; run positive and negative access tests.</a:t>
            </a:r>
          </a:p>
          <a:p xmlns:a="http://schemas.openxmlformats.org/drawingml/2006/main">
            <a:r>
              <a:t>5. Rehearse the principal customer journey and export evidence; document known limits and emergency contact.</a:t>
            </a:r>
          </a:p>
          <a:p xmlns:a="http://schemas.openxmlformats.org/drawingml/2006/main">
            <a:r>
              <a:t>6. Record baseline usage/cost and acceptance. Enable only purchased/approved modules.</a:t>
            </a:r>
          </a:p>
          <a:p xmlns:a="http://schemas.openxmlformats.org/drawingml/2006/main">
            <a:r>
              <a:t/>
            </a:r>
          </a:p>
          <a:p xmlns:a="http://schemas.openxmlformats.org/drawingml/2006/main">
            <a:r>
              <a:t>## Runbook: release, upgrade and rollback</a:t>
            </a:r>
          </a:p>
          <a:p xmlns:a="http://schemas.openxmlformats.org/drawingml/2006/main">
            <a:r>
              <a:t/>
            </a:r>
          </a:p>
          <a:p xmlns:a="http://schemas.openxmlformats.org/drawingml/2006/main">
            <a:r>
              <a:t>Build signed/versioned artefacts with dependency inventory and migration notes. Test in staging against a representative prior-version backup. Record irreversible migration risks and recovery path. Review release diff and permissions, take a verified backup, communicate the agreed maintenance window, deploy to a canary customer/test stack, and observe errors, job lag and data correctness before expansion. Roll back application/configuration only when schema compatibility permits; otherwise use the tested restore/forward-fix procedure. Never assume downgrade is safe after migration.</a:t>
            </a:r>
          </a:p>
          <a:p xmlns:a="http://schemas.openxmlformats.org/drawingml/2006/main">
            <a:r>
              <a:t/>
            </a:r>
          </a:p>
          <a:p xmlns:a="http://schemas.openxmlformats.org/drawingml/2006/main">
            <a:r>
              <a:t>## Runbook: incident and credential compromise</a:t>
            </a:r>
          </a:p>
          <a:p xmlns:a="http://schemas.openxmlformats.org/drawingml/2006/main">
            <a:r>
              <a:t/>
            </a:r>
          </a:p>
          <a:p xmlns:a="http://schemas.openxmlformats.org/drawingml/2006/main">
            <a:r>
              <a:t>Detect and classify affected customers/components; preserve necessary evidence and open an incident record. Restrict compromised credentials/workloads and isolate the affected execution boundary. Stop unsafe automation; inspect pending approvals and uncertain side effects. Restore known-good operation, verify integrity and reconcile jobs. PL coordinates contractual/regulatory communications after applicability review; this handbook does not send any notifications. Record timeline, root cause, customer impact and corrective tests.</a:t>
            </a:r>
          </a:p>
          <a:p xmlns:a="http://schemas.openxmlformats.org/drawingml/2006/main">
            <a:r>
              <a:t/>
            </a:r>
          </a:p>
          <a:p xmlns:a="http://schemas.openxmlformats.org/drawingml/2006/main">
            <a:r>
              <a:t>If control-plane connectivity is lost, do not assume a policy revocation reached the edge. Use the documented local enforcement/emergency path and record confirmation. Restoration includes verification that stale credentials and rules are not re-enabled.</a:t>
            </a:r>
          </a:p>
          <a:p xmlns:a="http://schemas.openxmlformats.org/drawingml/2006/main">
            <a:r>
              <a:t/>
            </a:r>
          </a:p>
          <a:p xmlns:a="http://schemas.openxmlformats.org/drawingml/2006/main">
            <a:r>
              <a:t>## Runbook: backup restoration and data rights</a:t>
            </a:r>
          </a:p>
          <a:p xmlns:a="http://schemas.openxmlformats.org/drawingml/2006/main">
            <a:r>
              <a:t/>
            </a:r>
          </a:p>
          <a:p xmlns:a="http://schemas.openxmlformats.org/drawingml/2006/main">
            <a:r>
              <a:t>Restore to an isolated environment, verify integrity and timestamps, measure actual RPO/RTO, replay deletion tombstones, rotate credentials where exposure is possible, and test application/connector behaviour before making the restored environment active. Retain a signed exercise record with backup identity, operator, duration and discrepancies. Perform before each GA and after material storage changes; schedule periodic operational drills after launch.</a:t>
            </a:r>
          </a:p>
          <a:p xmlns:a="http://schemas.openxmlformats.org/drawingml/2006/main">
            <a:r>
              <a:t/>
            </a:r>
          </a:p>
          <a:p xmlns:a="http://schemas.openxmlformats.org/drawingml/2006/main">
            <a:r>
              <a:t>Rights/offboarding: verify requester authority, export permitted records, revoke users/collectors/provider mappings, remove routes, disable jobs, purge active data under agreed policy and expire backups on schedule. Document retained legal evidence and deletion timing. Ensure the customer can uninstall the edge component without residual trust.</a:t>
            </a:r>
          </a:p>
          <a:p xmlns:a="http://schemas.openxmlformats.org/drawingml/2006/main">
            <a:r>
              <a:t/>
            </a:r>
          </a:p>
          <a:p xmlns:a="http://schemas.openxmlformats.org/drawingml/2006/main">
            <a:r>
              <a:t>## Runbook: validation and agent execution</a:t>
            </a:r>
          </a:p>
          <a:p xmlns:a="http://schemas.openxmlformats.org/drawingml/2006/main">
            <a:r>
              <a:t/>
            </a:r>
          </a:p>
          <a:p xmlns:a="http://schemas.openxmlformats.org/drawingml/2006/main">
            <a:r>
              <a:t>Validate target/task scope, authority, expiry, resource limits and cleanup before starting. Monitor heartbeats and budget. Abort on out-of-scope access, safety trigger, loss of required control, or operator request. Preserve partial results and cleanup status. Reconcile external effects before retries. Agent audit replay must not execute tools. Rotate task credentials after completion or suspected compromise.</a:t>
            </a:r>
          </a:p>
          <a:p xmlns:a="http://schemas.openxmlformats.org/drawingml/2006/main">
            <a:r>
              <a:t/>
            </a:r>
          </a:p>
          <a:p xmlns:a="http://schemas.openxmlformats.org/drawingml/2006/main">
            <a:r>
              <a:t>## Release record template</a:t>
            </a:r>
          </a:p>
          <a:p xmlns:a="http://schemas.openxmlformats.org/drawingml/2006/main">
            <a:r>
              <a:t/>
            </a:r>
          </a:p>
          <a:p xmlns:a="http://schemas.openxmlformats.org/drawingml/2006/main">
            <a:r>
              <a:t>Record: product/version; gate; owner/reviewer; deployment and schema versions; source/model versions; supported capacity; test artefacts; security assessment/retests; restore/rollback evidence; customer acceptance; cost/support profile; unresolved low/medium risks and owners; final go/no-go decision. A failed material criterion results in no-go or reduced scope, not an undocumented exception.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Operating targets and runbooks</a:t>
            </a:r>
          </a:p>
          <a:p xmlns:a="http://schemas.openxmlformats.org/drawingml/2006/main">
            <a:r>
              <a:t/>
            </a:r>
          </a:p>
          <a:p xmlns:a="http://schemas.openxmlformats.org/drawingml/2006/main">
            <a:r>
              <a:t/>
            </a:r>
          </a:p>
          <a:p xmlns:a="http://schemas.openxmlformats.org/drawingml/2006/main">
            <a:r>
              <a:t/>
            </a:r>
          </a:p>
          <a:p xmlns:a="http://schemas.openxmlformats.org/drawingml/2006/main">
            <a:r>
              <a:t>Availability / 99.9% monthly application target before any contractual SLA</a:t>
            </a:r>
          </a:p>
          <a:p xmlns:a="http://schemas.openxmlformats.org/drawingml/2006/main">
            <a:r>
              <a:t>Pilot recovery / 24-hour recovery point and four-hour recovery time</a:t>
            </a:r>
          </a:p>
          <a:p xmlns:a="http://schemas.openxmlformats.org/drawingml/2006/main">
            <a:r>
              <a:t>GA recovery / One-hour recovery point and four-hour recovery time</a:t>
            </a:r>
          </a:p>
          <a:p xmlns:a="http://schemas.openxmlformats.org/drawingml/2006/main">
            <a:r>
              <a:t>Support / Portuguese business hours with named escalation arrangements</a:t>
            </a:r>
          </a:p>
          <a:p xmlns:a="http://schemas.openxmlformats.org/drawingml/2006/main">
            <a:r>
              <a:t>Runbooks / Onboard, upgrade, roll back, respond, restore and offboard</a:t>
            </a:r>
          </a:p>
          <a:p xmlns:a="http://schemas.openxmlformats.org/drawingml/2006/main">
            <a:r>
              <a:t/>
            </a:r>
          </a:p>
          <a:p xmlns:a="http://schemas.openxmlformats.org/drawingml/2006/main">
            <a:r>
              <a:t>Project documentation: implementation-plan/12-production-handbook.md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Kickoff decisions and immediate actions</a:t>
            </a:r>
          </a:p>
          <a:p xmlns:a="http://schemas.openxmlformats.org/drawingml/2006/main">
            <a:r>
              <a:t/>
            </a:r>
          </a:p>
          <a:p xmlns:a="http://schemas.openxmlformats.org/drawingml/2006/main">
            <a:r>
              <a:t/>
            </a:r>
          </a:p>
          <a:p xmlns:a="http://schemas.openxmlformats.org/drawingml/2006/main">
            <a:r>
              <a:t/>
            </a:r>
          </a:p>
          <a:p xmlns:a="http://schemas.openxmlformats.org/drawingml/2006/main">
            <a:r>
              <a:t>People and schedule: Assign role owners and record the kickoff date.</a:t>
            </a:r>
          </a:p>
          <a:p xmlns:a="http://schemas.openxmlformats.org/drawingml/2006/main">
            <a:r>
              <a:t/>
            </a:r>
          </a:p>
          <a:p xmlns:a="http://schemas.openxmlformats.org/drawingml/2006/main">
            <a:r>
              <a:t>First sprint: Create issues for the first 90 days using the existing task IDs and acceptance criteria.</a:t>
            </a:r>
          </a:p>
          <a:p xmlns:a="http://schemas.openxmlformats.org/drawingml/2006/main">
            <a:r>
              <a:t/>
            </a:r>
          </a:p>
          <a:p xmlns:a="http://schemas.openxmlformats.org/drawingml/2006/main">
            <a:r>
              <a:t>Customer discovery: Confirm interview candidates, buying roles and pilot selection criteria.</a:t>
            </a:r>
          </a:p>
          <a:p xmlns:a="http://schemas.openxmlformats.org/drawingml/2006/main">
            <a:r>
              <a:t/>
            </a:r>
          </a:p>
          <a:p xmlns:a="http://schemas.openxmlformats.org/drawingml/2006/main">
            <a:r>
              <a:t>External validation: Resolve provider terms, processing roles and model licences before the relevant commitment.</a:t>
            </a:r>
          </a:p>
          <a:p xmlns:a="http://schemas.openxmlformats.org/drawingml/2006/main">
            <a:r>
              <a:t/>
            </a:r>
          </a:p>
          <a:p xmlns:a="http://schemas.openxmlformats.org/drawingml/2006/main">
            <a:r>
              <a:t>Project documentation: implementation-plan/14-decisions.md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 reference</a:t>
            </a:r>
          </a:p>
          <a:p xmlns:a="http://schemas.openxmlformats.org/drawingml/2006/main">
            <a:r>
              <a:t/>
            </a:r>
          </a:p>
          <a:p xmlns:a="http://schemas.openxmlformats.org/drawingml/2006/main">
            <a:r>
              <a:t>Architecture continuity and implementation detail</a:t>
            </a:r>
          </a:p>
          <a:p xmlns:a="http://schemas.openxmlformats.org/drawingml/2006/main">
            <a:r>
              <a:t/>
            </a:r>
          </a:p>
          <a:p xmlns:a="http://schemas.openxmlformats.org/drawingml/2006/main">
            <a:r>
              <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Source assessment and traceability</a:t>
            </a:r>
          </a:p>
          <a:p xmlns:a="http://schemas.openxmlformats.org/drawingml/2006/main">
            <a:r>
              <a:t/>
            </a:r>
          </a:p>
          <a:p xmlns:a="http://schemas.openxmlformats.org/drawingml/2006/main">
            <a:r>
              <a:t>[Index](README.md) · Owner: Product Lead and Research Lead</a:t>
            </a:r>
          </a:p>
          <a:p xmlns:a="http://schemas.openxmlformats.org/drawingml/2006/main">
            <a:r>
              <a:t/>
            </a:r>
          </a:p>
          <a:p xmlns:a="http://schemas.openxmlformats.org/drawingml/2006/main">
            <a:r>
              <a:t>## Source inventory and interpretation</a:t>
            </a:r>
          </a:p>
          <a:p xmlns:a="http://schemas.openxmlformats.org/drawingml/2006/main">
            <a:r>
              <a:t/>
            </a:r>
          </a:p>
          <a:p xmlns:a="http://schemas.openxmlformats.org/drawingml/2006/main">
            <a:r>
              <a:t>| ID | Local source | Retained context | Revision needed |</a:t>
            </a:r>
          </a:p>
          <a:p xmlns:a="http://schemas.openxmlformats.org/drawingml/2006/main">
            <a:r>
              <a:t>|---|---|---|---|</a:t>
            </a:r>
          </a:p>
          <a:p xmlns:a="http://schemas.openxmlformats.org/drawingml/2006/main">
            <a:r>
              <a:t>| L01 | [AegisAI Project Blueprint](../AegisAI%20Project%20Blueprint.pdf) | Integrated SME security; human and technical protection; SCA, UEBA, simulations, recovery, future OT and partnerships | Remove old dates, blanket efficacy/compliance claims, and assumption that every function ships together |</a:t>
            </a:r>
          </a:p>
          <a:p xmlns:a="http://schemas.openxmlformats.org/drawingml/2006/main">
            <a:r>
              <a:t>| L02 | [Work packages](../workpackages.pdf) | WP1–7, Human Boundary Ecosystem, local processing, data rights and SME operation | Extend beyond training; retain governance throughout all products |</a:t>
            </a:r>
          </a:p>
          <a:p xmlns:a="http://schemas.openxmlformats.org/drawingml/2006/main">
            <a:r>
              <a:t>| L03 | [Platform architecture](../platform-architecture-doc.md) | Thirteen layers; five integrated squad products; packaging, federation and five research areas | Bring operational foundations forward; use one product stream; replace framework/version prescriptions with evaluated choices |</a:t>
            </a:r>
          </a:p>
          <a:p xmlns:a="http://schemas.openxmlformats.org/drawingml/2006/main">
            <a:r>
              <a:t>| L04 | [Research paper](../aegisai_icsa_2026_latest.pdf) | Existing experimental hypotheses and results | Reconcile dataset versions, real/synthetic labels, splits and reported metrics before reuse |</a:t>
            </a:r>
          </a:p>
          <a:p xmlns:a="http://schemas.openxmlformats.org/drawingml/2006/main">
            <a:r>
              <a:t>| L05 | [Regulatory analysis](../AEGISAE_EU_Portugal_Regulatory_Analysis.docx) | Portuguese/EU market and governance questions | Recheck current law and intended-use applicability; remove generic high-risk-AI classification and automatic-compliance implications |</a:t>
            </a:r>
          </a:p>
          <a:p xmlns:a="http://schemas.openxmlformats.org/drawingml/2006/main">
            <a:r>
              <a:t>| L06 | [NIST Cyber AI document](../cybersecurity-framework-for-ai.pdf) | Secure, Defend and Thwart perspectives across cybersecurity governance | Keep preliminary-draft status visible; use current publication status from evidence register |</a:t>
            </a:r>
          </a:p>
          <a:p xmlns:a="http://schemas.openxmlformats.org/drawingml/2006/main">
            <a:r>
              <a:t>| L07 | [Perplexity note](../perplexity-deepsearch.md) | Model/tool contracts, provenance, scientific writing, local routing | Validate citations and model/hardware claims; use as design input |</a:t>
            </a:r>
          </a:p>
          <a:p xmlns:a="http://schemas.openxmlformats.org/drawingml/2006/main">
            <a:r>
              <a:t>| L08 | [GPT note](../gpt-deepsearch.md) | Agent engineering and research environment ideas | Compare against bounded workflow baseline; no automatic adoption of every framework |</a:t>
            </a:r>
          </a:p>
          <a:p xmlns:a="http://schemas.openxmlformats.org/drawingml/2006/main">
            <a:r>
              <a:t>| L09 | [Gemini note](../gemini-deepsearch.md) | Local agent workspace and reusable infrastructure | Proposed names and technology stacks are suggestions, not accepted branding or proven requirements |</a:t>
            </a:r>
          </a:p>
          <a:p xmlns:a="http://schemas.openxmlformats.org/drawingml/2006/main">
            <a:r>
              <a:t>| L10 | [Deep research report (4)](../deep-research-report%20(4).md) | Persistent state, memory, capability controls, browser tools, long-duration agents, evaluation and agent training | Replace the full frontier-platform-in-90-days proposal with staged internal validation and later Agent Security commercialisation |</a:t>
            </a:r>
          </a:p>
          <a:p xmlns:a="http://schemas.openxmlformats.org/drawingml/2006/main">
            <a:r>
              <a:t>| L11 | [Approved portfolio plan](../plan.md) | Latest user-approved sequence and 24-month direction | Expanded by this pack; preserve original as decision history |</a:t>
            </a:r>
          </a:p>
          <a:p xmlns:a="http://schemas.openxmlformats.org/drawingml/2006/main">
            <a:r>
              <a:t/>
            </a:r>
          </a:p>
          <a:p xmlns:a="http://schemas.openxmlformats.org/drawingml/2006/main">
            <a:r>
              <a:t>Read-only inspection also found a Docusaurus portal under the parent source tree and Python experiments under the parent research tree. This pack does not modify those assets. The inspected research reports and code are prototypes, not evidence of an operating client product.</a:t>
            </a:r>
          </a:p>
          <a:p xmlns:a="http://schemas.openxmlformats.org/drawingml/2006/main">
            <a:r>
              <a:t/>
            </a:r>
          </a:p>
          <a:p xmlns:a="http://schemas.openxmlformats.org/drawingml/2006/main">
            <a:r>
              <a:t>### Reproducibility issues to resolve</a:t>
            </a:r>
          </a:p>
          <a:p xmlns:a="http://schemas.openxmlformats.org/drawingml/2006/main">
            <a:r>
              <a:t/>
            </a:r>
          </a:p>
          <a:p xmlns:a="http://schemas.openxmlformats.org/drawingml/2006/main">
            <a:r>
              <a:t>The inspected fusion report describes Mock-CERT results that differ from the paper's reported metrics. Some code paths contain placeholder or generated labels when ground truth is absent. Separate real-data loader paths also exist; do not infer that every result uses the fallback. R0 must map each published result to its exact execution path and dataset. Synthetic phishing/emotion outputs demonstrate a simulated mechanism, not effectiveness with employees. Preserve the historical results and label their scope rather than rewriting them to imply stronger evidence.</a:t>
            </a:r>
          </a:p>
          <a:p xmlns:a="http://schemas.openxmlformats.org/drawingml/2006/main">
            <a:r>
              <a:t/>
            </a:r>
          </a:p>
          <a:p xmlns:a="http://schemas.openxmlformats.org/drawingml/2006/main">
            <a:r>
              <a:t>## Blueprint capability mapping</a:t>
            </a:r>
          </a:p>
          <a:p xmlns:a="http://schemas.openxmlformats.org/drawingml/2006/main">
            <a:r>
              <a:t/>
            </a:r>
          </a:p>
          <a:p xmlns:a="http://schemas.openxmlformats.org/drawingml/2006/main">
            <a:r>
              <a:t>| ID | Original capability | Disposition and reason | Destination |</a:t>
            </a:r>
          </a:p>
          <a:p xmlns:a="http://schemas.openxmlformats.org/drawingml/2006/main">
            <a:r>
              <a:t>|---|---|---|---|</a:t>
            </a:r>
          </a:p>
          <a:p xmlns:a="http://schemas.openxmlformats.org/drawingml/2006/main">
            <a:r>
              <a:t>| B01 | Asset discovery and inventory | Retained; imported/passive evidence first, explicit scope for active discovery | Security Operations, G3–G4 |</a:t>
            </a:r>
          </a:p>
          <a:p xmlns:a="http://schemas.openxmlformats.org/drawingml/2006/main">
            <a:r>
              <a:t>| B02 | Software composition and dependencies | Retained; SBOM/advisory ingestion and remediation tracking | Security Operations, G3–G4 |</a:t>
            </a:r>
          </a:p>
          <a:p xmlns:a="http://schemas.openxmlformats.org/drawingml/2006/main">
            <a:r>
              <a:t>| B03 | Gamification and role-based training | Retained; supportive mechanics and validated content | Human Firewall, G1–G2 |</a:t>
            </a:r>
          </a:p>
          <a:p xmlns:a="http://schemas.openxmlformats.org/drawingml/2006/main">
            <a:r>
              <a:t>| B04 | User/entity baselines and drift | Revised; alert utility instead of personal risk rankings | R2; Security Operations after validation |</a:t>
            </a:r>
          </a:p>
          <a:p xmlns:a="http://schemas.openxmlformats.org/drawingml/2006/main">
            <a:r>
              <a:t>| B05 | Relationship/social graph analytics | Research-only initially; no social surveillance by default | R2, months 7–12 |</a:t>
            </a:r>
          </a:p>
          <a:p xmlns:a="http://schemas.openxmlformats.org/drawingml/2006/main">
            <a:r>
              <a:t>| B06 | Cross-domain event correlation | Retained with limited initial connectors | Security Operations, G3–G4 |</a:t>
            </a:r>
          </a:p>
          <a:p xmlns:a="http://schemas.openxmlformats.org/drawingml/2006/main">
            <a:r>
              <a:t>| B07 | 24/7 AI hunting | Revised to continuous collection/rules with explicit service hours; no 24/7 human SOC promise | Security Operations |</a:t>
            </a:r>
          </a:p>
          <a:p xmlns:a="http://schemas.openxmlformats.org/drawingml/2006/main">
            <a:r>
              <a:t>| B08 | Access recommendations | Retained as evidence-backed proposals; no training-score denial | Security Operations; shared approvals |</a:t>
            </a:r>
          </a:p>
          <a:p xmlns:a="http://schemas.openxmlformats.org/drawingml/2006/main">
            <a:r>
              <a:t>| B09 | Automated containment | Revised to approved, scoped actions; deterministic pre-authorised automation considered later | G4 onward |</a:t>
            </a:r>
          </a:p>
          <a:p xmlns:a="http://schemas.openxmlformats.org/drawingml/2006/main">
            <a:r>
              <a:t>| B10 | Guided remediation | Retained with execution/verification evidence | Security Operations |</a:t>
            </a:r>
          </a:p>
          <a:p xmlns:a="http://schemas.openxmlformats.org/drawingml/2006/main">
            <a:r>
              <a:t>| B11 | Adversarial simulation/GANs | Revised; safe scripted baseline before generative methods | Defense Box, R4 |</a:t>
            </a:r>
          </a:p>
          <a:p xmlns:a="http://schemas.openxmlformats.org/drawingml/2006/main">
            <a:r>
              <a:t>| B12 | Explainable alerts | Revised; provenance, features and uncertainty rather than claimed faithful chain-of-thought | All products, R3 |</a:t>
            </a:r>
          </a:p>
          <a:p xmlns:a="http://schemas.openxmlformats.org/drawingml/2006/main">
            <a:r>
              <a:t>| B13 | Local lightweight models | Retained where measured quality and resource use justify them | Workspace, edge, R5 |</a:t>
            </a:r>
          </a:p>
          <a:p xmlns:a="http://schemas.openxmlformats.org/drawingml/2006/main">
            <a:r>
              <a:t>| B14 | Central Synaptic Data Lake | Revised to classified evidence storage and local raw telemetry; no universal raw-data centralisation | Shared architecture |</a:t>
            </a:r>
          </a:p>
          <a:p xmlns:a="http://schemas.openxmlformats.org/drawingml/2006/main">
            <a:r>
              <a:t>| B15 | Federated intelligence/privacy | Research-only until local utility, permissions and privacy threat model exist | R5, months 16–24 |</a:t>
            </a:r>
          </a:p>
          <a:p xmlns:a="http://schemas.openxmlformats.org/drawingml/2006/main">
            <a:r>
              <a:t>| B16 | Integrity monitoring | Retained via selected collector integration | Security Operations/Defense Box |</a:t>
            </a:r>
          </a:p>
          <a:p xmlns:a="http://schemas.openxmlformats.org/drawingml/2006/main">
            <a:r>
              <a:t>| B17 | Recovery and resilience drills | Retained; runbooks and restore evidence precede simulations | Every gate; Defense Box |</a:t>
            </a:r>
          </a:p>
          <a:p xmlns:a="http://schemas.openxmlformats.org/drawingml/2006/main">
            <a:r>
              <a:t>| B18 | Compliance/national frameworks | Retained as traceable evidence mapping, not certification | WP5 and reports |</a:t>
            </a:r>
          </a:p>
          <a:p xmlns:a="http://schemas.openxmlformats.org/drawingml/2006/main">
            <a:r>
              <a:t>| B19 | IoT/OT monitoring | Deferred customer deployment; passive lab before scoped pilot | Months 16–24, conditional |</a:t>
            </a:r>
          </a:p>
          <a:p xmlns:a="http://schemas.openxmlformats.org/drawingml/2006/main">
            <a:r>
              <a:t>| B20 | Cyber-insurance integration | Deferred partnership discovery and evidence export | Months 22–24; no discount promise |</a:t>
            </a:r>
          </a:p>
          <a:p xmlns:a="http://schemas.openxmlformats.org/drawingml/2006/main">
            <a:r>
              <a:t>| B21 | MSP channel and enterprise integration | Retained after direct SME validation | WP6/WP8; G4 onward |</a:t>
            </a:r>
          </a:p>
          <a:p xmlns:a="http://schemas.openxmlformats.org/drawingml/2006/main">
            <a:r>
              <a:t>| B22 | Angola/Lusophone expansion | Deferred market validation after Portuguese retention and support economics | Months 22–24 strategy |</a:t>
            </a:r>
          </a:p>
          <a:p xmlns:a="http://schemas.openxmlformats.org/drawingml/2006/main">
            <a:r>
              <a:t/>
            </a:r>
          </a:p>
          <a:p xmlns:a="http://schemas.openxmlformats.org/drawingml/2006/main">
            <a:r>
              <a:t>## All thirteen architecture layers</a:t>
            </a:r>
          </a:p>
          <a:p xmlns:a="http://schemas.openxmlformats.org/drawingml/2006/main">
            <a:r>
              <a:t/>
            </a:r>
          </a:p>
          <a:p xmlns:a="http://schemas.openxmlformats.org/drawingml/2006/main">
            <a:r>
              <a:t>| Layer | Disposition | Implementation destination |</a:t>
            </a:r>
          </a:p>
          <a:p xmlns:a="http://schemas.openxmlformats.org/drawingml/2006/main">
            <a:r>
              <a:t>|---|---|---|</a:t>
            </a:r>
          </a:p>
          <a:p xmlns:a="http://schemas.openxmlformats.org/drawingml/2006/main">
            <a:r>
              <a:t>| 1 Training/dynamic testing UI | Retained; defer immersive 3D until evidence of value | Human Firewall |</a:t>
            </a:r>
          </a:p>
          <a:p xmlns:a="http://schemas.openxmlformats.org/drawingml/2006/main">
            <a:r>
              <a:t>| 2 Multi-agent orchestration | Revised; bounded single workflows first | Internal workspace, R6, Agent Security |</a:t>
            </a:r>
          </a:p>
          <a:p xmlns:a="http://schemas.openxmlformats.org/drawingml/2006/main">
            <a:r>
              <a:t>| 3 LLM/classical ML | Retained; benchmark before selection/fine-tuning | Research/model adapter |</a:t>
            </a:r>
          </a:p>
          <a:p xmlns:a="http://schemas.openxmlformats.org/drawingml/2006/main">
            <a:r>
              <a:t>| 4 Local SLM | Retained; no assumed zero leakage or fixed latency | Edge/workspace, R5 |</a:t>
            </a:r>
          </a:p>
          <a:p xmlns:a="http://schemas.openxmlformats.org/drawingml/2006/main">
            <a:r>
              <a:t>| 5 SNA/UEBA | Revised; operational findings and controlled graph research | Security Operations, R2 |</a:t>
            </a:r>
          </a:p>
          <a:p xmlns:a="http://schemas.openxmlformats.org/drawingml/2006/main">
            <a:r>
              <a:t>| 6 XAI/AI UX | Revised to evidence-grounded explanation | Shared evidence UI, R3 |</a:t>
            </a:r>
          </a:p>
          <a:p xmlns:a="http://schemas.openxmlformats.org/drawingml/2006/main">
            <a:r>
              <a:t>| 7 GAN/adversarial components | Revised; GAN is experimental candidate, not dependency | Defense Box, R4 |</a:t>
            </a:r>
          </a:p>
          <a:p xmlns:a="http://schemas.openxmlformats.org/drawingml/2006/main">
            <a:r>
              <a:t>| 8 Workflow automation | Retained; persistent jobs and approvals before multiple workflow engines | Shared platform |</a:t>
            </a:r>
          </a:p>
          <a:p xmlns:a="http://schemas.openxmlformats.org/drawingml/2006/main">
            <a:r>
              <a:t>| 9 Monitoring/traceability | Retained and brought into month 1 | WP9, all gates |</a:t>
            </a:r>
          </a:p>
          <a:p xmlns:a="http://schemas.openxmlformats.org/drawingml/2006/main">
            <a:r>
              <a:t>| 10 Security/privacy | Retained; advanced cryptography conditional on threat model | WP5/WP7; R5 |</a:t>
            </a:r>
          </a:p>
          <a:p xmlns:a="http://schemas.openxmlformats.org/drawingml/2006/main">
            <a:r>
              <a:t>| 11 Integration | Retained; small connector set and versioned contracts | WP6, API/SDK |</a:t>
            </a:r>
          </a:p>
          <a:p xmlns:a="http://schemas.openxmlformats.org/drawingml/2006/main">
            <a:r>
              <a:t>| 12 Defense Box | Retained as software appliance before custom hardware | G5–G6 |</a:t>
            </a:r>
          </a:p>
          <a:p xmlns:a="http://schemas.openxmlformats.org/drawingml/2006/main">
            <a:r>
              <a:t>| 13 Desktop integration | Revised; edge service first, desktop shell if offline/install needs warrant | Defense Box/Agent Security |</a:t>
            </a:r>
          </a:p>
          <a:p xmlns:a="http://schemas.openxmlformats.org/drawingml/2006/main">
            <a:r>
              <a:t/>
            </a:r>
          </a:p>
          <a:p xmlns:a="http://schemas.openxmlformats.org/drawingml/2006/main">
            <a:r>
              <a:t>Packaging/deployment appears outside the numbered layers in the source diagram. It is retained as WP9 from month 1, rather than delayed until portfolio integration.</a:t>
            </a:r>
          </a:p>
          <a:p xmlns:a="http://schemas.openxmlformats.org/drawingml/2006/main">
            <a:r>
              <a:t/>
            </a:r>
          </a:p>
          <a:p xmlns:a="http://schemas.openxmlformats.org/drawingml/2006/main">
            <a:r>
              <a:t>## Five original integrated squad products</a:t>
            </a:r>
          </a:p>
          <a:p xmlns:a="http://schemas.openxmlformats.org/drawingml/2006/main">
            <a:r>
              <a:t/>
            </a:r>
          </a:p>
          <a:p xmlns:a="http://schemas.openxmlformats.org/drawingml/2006/main">
            <a:r>
              <a:t>| Original squad | Disposition | Destination |</a:t>
            </a:r>
          </a:p>
          <a:p xmlns:a="http://schemas.openxmlformats.org/drawingml/2006/main">
            <a:r>
              <a:t>|---|---|---|</a:t>
            </a:r>
          </a:p>
          <a:p xmlns:a="http://schemas.openxmlformats.org/drawingml/2006/main">
            <a:r>
              <a:t>| Intelligent Training System | Retained; decouple from UEBA risk scoring | Human Firewall, G1–G2 |</a:t>
            </a:r>
          </a:p>
          <a:p xmlns:a="http://schemas.openxmlformats.org/drawingml/2006/main">
            <a:r>
              <a:t>| Adversarial Testing Platform | Retained; safe emulation and retest evidence | Defense Box and Validation, G5–G6 |</a:t>
            </a:r>
          </a:p>
          <a:p xmlns:a="http://schemas.openxmlformats.org/drawingml/2006/main">
            <a:r>
              <a:t>| Privacy-First Analytics | Combined with local detection; federation remains conditional research | Security Operations + R5 |</a:t>
            </a:r>
          </a:p>
          <a:p xmlns:a="http://schemas.openxmlformats.org/drawingml/2006/main">
            <a:r>
              <a:t>| Enterprise Integration Hub | Combined into shared adapters, approvals and response workflows | Security Operations, later enterprise packaging |</a:t>
            </a:r>
          </a:p>
          <a:p xmlns:a="http://schemas.openxmlformats.org/drawingml/2006/main">
            <a:r>
              <a:t>| Desktop Security Assistant | Combined into edge/local AI capabilities; standalone endpoint protection claims deferred | Defense Box + Agent Security |</a:t>
            </a:r>
          </a:p>
          <a:p xmlns:a="http://schemas.openxmlformats.org/drawingml/2006/main">
            <a:r>
              <a:t/>
            </a:r>
          </a:p>
          <a:p xmlns:a="http://schemas.openxmlformats.org/drawingml/2006/main">
            <a:r>
              <a:t>WP1–7 are all preserved and expanded in the [work-package register](09-work-packages.md). Research continuity is specified in [R0–R6](06-research-programme.md), including human factors, explainability, federation and empathic UX. Old promises such as zero false positives, fixed detection percentages, or improvements for every federation participant become hypotheses with baselines and confidence intervals.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layers 1–7</a:t>
            </a:r>
          </a:p>
          <a:p xmlns:a="http://schemas.openxmlformats.org/drawingml/2006/main">
            <a:r>
              <a:t/>
            </a:r>
          </a:p>
          <a:p xmlns:a="http://schemas.openxmlformats.org/drawingml/2006/main">
            <a:r>
              <a:t/>
            </a:r>
          </a:p>
          <a:p xmlns:a="http://schemas.openxmlformats.org/drawingml/2006/main">
            <a:r>
              <a:t/>
            </a:r>
          </a:p>
          <a:p xmlns:a="http://schemas.openxmlformats.org/drawingml/2006/main">
            <a:r>
              <a:t>1  Training UI / Human Firewall with accessible web delivery</a:t>
            </a:r>
          </a:p>
          <a:p xmlns:a="http://schemas.openxmlformats.org/drawingml/2006/main">
            <a:r>
              <a:t>2  Agent orchestration / Internal workflows, then Agent Security</a:t>
            </a:r>
          </a:p>
          <a:p xmlns:a="http://schemas.openxmlformats.org/drawingml/2006/main">
            <a:r>
              <a:t>3–4  Models and local SLMs / Evaluated model adapters and edge inference</a:t>
            </a:r>
          </a:p>
          <a:p xmlns:a="http://schemas.openxmlformats.org/drawingml/2006/main">
            <a:r>
              <a:t>5  SNA / UEBA / Security Operations research and shadow mode</a:t>
            </a:r>
          </a:p>
          <a:p xmlns:a="http://schemas.openxmlformats.org/drawingml/2006/main">
            <a:r>
              <a:t>6–7  XAI and adversarial generation / Evidence-based explanation and controlled validation</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layers 8–13</a:t>
            </a:r>
          </a:p>
          <a:p xmlns:a="http://schemas.openxmlformats.org/drawingml/2006/main">
            <a:r>
              <a:t/>
            </a:r>
          </a:p>
          <a:p xmlns:a="http://schemas.openxmlformats.org/drawingml/2006/main">
            <a:r>
              <a:t/>
            </a:r>
          </a:p>
          <a:p xmlns:a="http://schemas.openxmlformats.org/drawingml/2006/main">
            <a:r>
              <a:t/>
            </a:r>
          </a:p>
          <a:p xmlns:a="http://schemas.openxmlformats.org/drawingml/2006/main">
            <a:r>
              <a:t>8  Workflow automation / Persistent jobs and reviewed actions</a:t>
            </a:r>
          </a:p>
          <a:p xmlns:a="http://schemas.openxmlformats.org/drawingml/2006/main">
            <a:r>
              <a:t>9–10  Observability and privacy / Shared platform from the first release</a:t>
            </a:r>
          </a:p>
          <a:p xmlns:a="http://schemas.openxmlformats.org/drawingml/2006/main">
            <a:r>
              <a:t>11  Integrations / Versioned adapters and conformance tests</a:t>
            </a:r>
          </a:p>
          <a:p xmlns:a="http://schemas.openxmlformats.org/drawingml/2006/main">
            <a:r>
              <a:t>12  Defense Box / Software appliance before custom hardware</a:t>
            </a:r>
          </a:p>
          <a:p xmlns:a="http://schemas.openxmlformats.org/drawingml/2006/main">
            <a:r>
              <a:t>13  Desktop integration / Edge service first, shell if needed</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five original integrated products</a:t>
            </a:r>
          </a:p>
          <a:p xmlns:a="http://schemas.openxmlformats.org/drawingml/2006/main">
            <a:r>
              <a:t/>
            </a:r>
          </a:p>
          <a:p xmlns:a="http://schemas.openxmlformats.org/drawingml/2006/main">
            <a:r>
              <a:t/>
            </a:r>
          </a:p>
          <a:p xmlns:a="http://schemas.openxmlformats.org/drawingml/2006/main">
            <a:r>
              <a:t/>
            </a:r>
          </a:p>
          <a:p xmlns:a="http://schemas.openxmlformats.org/drawingml/2006/main">
            <a:r>
              <a:t>Intelligent Training System / Human Firewall without compulsory UEBA scoring</a:t>
            </a:r>
          </a:p>
          <a:p xmlns:a="http://schemas.openxmlformats.org/drawingml/2006/main">
            <a:r>
              <a:t>Adversarial Testing Platform / Defense Box and Validation</a:t>
            </a:r>
          </a:p>
          <a:p xmlns:a="http://schemas.openxmlformats.org/drawingml/2006/main">
            <a:r>
              <a:t>Privacy-First Analytics / Local detection plus conditional federation research</a:t>
            </a:r>
          </a:p>
          <a:p xmlns:a="http://schemas.openxmlformats.org/drawingml/2006/main">
            <a:r>
              <a:t>Enterprise Integration Hub / Shared adapters, approvals and response workflows</a:t>
            </a:r>
          </a:p>
          <a:p xmlns:a="http://schemas.openxmlformats.org/drawingml/2006/main">
            <a:r>
              <a:t>Desktop Security Assistant / Edge/local AI in Defense Box and Agent Security</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Longer-term capabilities remain in scope</a:t>
            </a:r>
          </a:p>
          <a:p xmlns:a="http://schemas.openxmlformats.org/drawingml/2006/main">
            <a:r>
              <a:t/>
            </a:r>
          </a:p>
          <a:p xmlns:a="http://schemas.openxmlformats.org/drawingml/2006/main">
            <a:r>
              <a:t/>
            </a:r>
          </a:p>
          <a:p xmlns:a="http://schemas.openxmlformats.org/drawingml/2006/main">
            <a:r>
              <a:t/>
            </a:r>
          </a:p>
          <a:p xmlns:a="http://schemas.openxmlformats.org/drawingml/2006/main">
            <a:r>
              <a:t>Federated intelligence / Useful local models, participants and privacy controls</a:t>
            </a:r>
          </a:p>
          <a:p xmlns:a="http://schemas.openxmlformats.org/drawingml/2006/main">
            <a:r>
              <a:t>Industrial / IoT monitoring / Passive lab evidence and an operator-sponsored safe pilot</a:t>
            </a:r>
          </a:p>
          <a:p xmlns:a="http://schemas.openxmlformats.org/drawingml/2006/main">
            <a:r>
              <a:t>Insurance evidence / Partner demand and permitted evidence exchange</a:t>
            </a:r>
          </a:p>
          <a:p xmlns:a="http://schemas.openxmlformats.org/drawingml/2006/main">
            <a:r>
              <a:t>Lusophone expansion / Portuguese retention and support economics</a:t>
            </a:r>
          </a:p>
          <a:p xmlns:a="http://schemas.openxmlformats.org/drawingml/2006/main">
            <a:r>
              <a:t>Advanced automation / Measured benefit with bounded authority and rollback</a:t>
            </a:r>
          </a:p>
          <a:p xmlns:a="http://schemas.openxmlformats.org/drawingml/2006/main">
            <a:r>
              <a:t/>
            </a:r>
          </a:p>
          <a:p xmlns:a="http://schemas.openxmlformats.org/drawingml/2006/main">
            <a:r>
              <a:t>Project documentation: implementation-plan/02-source-traceability.md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Default data retention</a:t>
            </a:r>
          </a:p>
          <a:p xmlns:a="http://schemas.openxmlformats.org/drawingml/2006/main">
            <a:r>
              <a:t/>
            </a:r>
          </a:p>
          <a:p xmlns:a="http://schemas.openxmlformats.org/drawingml/2006/main">
            <a:r>
              <a:t/>
            </a:r>
          </a:p>
          <a:p xmlns:a="http://schemas.openxmlformats.org/drawingml/2006/main">
            <a:r>
              <a:t/>
            </a:r>
          </a:p>
          <a:p xmlns:a="http://schemas.openxmlformats.org/drawingml/2006/main">
            <a:r>
              <a:t>Local metadata buffer / Seven days with a size cap</a:t>
            </a:r>
          </a:p>
          <a:p xmlns:a="http://schemas.openxmlformats.org/drawingml/2006/main">
            <a:r>
              <a:t>Operational observations / 30 days in the customer stack</a:t>
            </a:r>
          </a:p>
          <a:p xmlns:a="http://schemas.openxmlformats.org/drawingml/2006/main">
            <a:r>
              <a:t>Findings, audit and learning outcomes / 180 days</a:t>
            </a:r>
          </a:p>
          <a:p xmlns:a="http://schemas.openxmlformats.org/drawingml/2006/main">
            <a:r>
              <a:t>Raw packet payload / Disabled by default</a:t>
            </a:r>
          </a:p>
          <a:p xmlns:a="http://schemas.openxmlformats.org/drawingml/2006/main">
            <a:r>
              <a:t>Encrypted backups / 30-day rolling expiry with deletion replay</a:t>
            </a:r>
          </a:p>
          <a:p xmlns:a="http://schemas.openxmlformats.org/drawingml/2006/main">
            <a:r>
              <a:t/>
            </a:r>
          </a:p>
          <a:p xmlns:a="http://schemas.openxmlformats.org/drawingml/2006/main">
            <a:r>
              <a:t>Project documentation: implementation-plan/11-security-privacy-regulation.md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https://digital-strategy.ec.europa.eu/en/policies/cra-reporting</a:t>
            </a:r>
          </a:p>
          <a:p xmlns:a="http://schemas.openxmlformats.org/drawingml/2006/main">
            <a:r>
              <a:t>https://dyn.cncs.gov.pt/pt/detalhe/art/135998/novo-regime-juridico-da-ciberseguranca-entra-em-vigor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Contract and failure tests</a:t>
            </a:r>
          </a:p>
          <a:p xmlns:a="http://schemas.openxmlformats.org/drawingml/2006/main">
            <a:r>
              <a:t/>
            </a:r>
          </a:p>
          <a:p xmlns:a="http://schemas.openxmlformats.org/drawingml/2006/main">
            <a:r>
              <a:t/>
            </a:r>
          </a:p>
          <a:p xmlns:a="http://schemas.openxmlformats.org/drawingml/2006/main">
            <a:r>
              <a:t/>
            </a:r>
          </a:p>
          <a:p xmlns:a="http://schemas.openxmlformats.org/drawingml/2006/main">
            <a:r>
              <a:t>Wrong organisation or revoked identity / Deny access, including nested evidence references</a:t>
            </a:r>
          </a:p>
          <a:p xmlns:a="http://schemas.openxmlformats.org/drawingml/2006/main">
            <a:r>
              <a:t>Duplicate, late or unsupported event / Deduplicate, preserve timing or reject explicitly</a:t>
            </a:r>
          </a:p>
          <a:p xmlns:a="http://schemas.openxmlformats.org/drawingml/2006/main">
            <a:r>
              <a:t>Expired or changed approval / Require a new valid approval</a:t>
            </a:r>
          </a:p>
          <a:p xmlns:a="http://schemas.openxmlformats.org/drawingml/2006/main">
            <a:r>
              <a:t>Lost response after side effect / Reconcile before retry</a:t>
            </a:r>
          </a:p>
          <a:p xmlns:a="http://schemas.openxmlformats.org/drawingml/2006/main">
            <a:r>
              <a:t>Offline source or stale feed / Show uncertainty, last success and loss counters</a:t>
            </a:r>
          </a:p>
          <a:p xmlns:a="http://schemas.openxmlformats.org/drawingml/2006/main">
            <a:r>
              <a:t/>
            </a:r>
          </a:p>
          <a:p xmlns:a="http://schemas.openxmlformats.org/drawingml/2006/main">
            <a:r>
              <a:t>Project documentation: implementation-plan/05-interface-contracts.md</a:t>
            </a:r>
          </a:p>
          <a:p xmlns:a="http://schemas.openxmlformats.org/drawingml/2006/main">
            <a:r>
              <a:t>Documentation baseline: 18 September 2026. Schedule values are targets measured from kickoff.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promotion record</a:t>
            </a:r>
          </a:p>
          <a:p xmlns:a="http://schemas.openxmlformats.org/drawingml/2006/main">
            <a:r>
              <a:t/>
            </a:r>
          </a:p>
          <a:p xmlns:a="http://schemas.openxmlformats.org/drawingml/2006/main">
            <a:r>
              <a:t/>
            </a:r>
          </a:p>
          <a:p xmlns:a="http://schemas.openxmlformats.org/drawingml/2006/main">
            <a:r>
              <a:t/>
            </a:r>
          </a:p>
          <a:p xmlns:a="http://schemas.openxmlformats.org/drawingml/2006/main">
            <a:r>
              <a:t>Data and method / Provenance, rights, split, labels and baseline</a:t>
            </a:r>
          </a:p>
          <a:p xmlns:a="http://schemas.openxmlformats.org/drawingml/2006/main">
            <a:r>
              <a:t>Reproduction / Code, configuration, seed, dependencies and output</a:t>
            </a:r>
          </a:p>
          <a:p xmlns:a="http://schemas.openxmlformats.org/drawingml/2006/main">
            <a:r>
              <a:t>Operational evaluation / Cost, failure cases, utility and uncertainty</a:t>
            </a:r>
          </a:p>
          <a:p xmlns:a="http://schemas.openxmlformats.org/drawingml/2006/main">
            <a:r>
              <a:t>Product integration / Feature flag, monitoring and rollback</a:t>
            </a:r>
          </a:p>
          <a:p xmlns:a="http://schemas.openxmlformats.org/drawingml/2006/main">
            <a:r>
              <a:t>Approval / Research, security and product-owner review</a:t>
            </a:r>
          </a:p>
          <a:p xmlns:a="http://schemas.openxmlformats.org/drawingml/2006/main">
            <a:r>
              <a:t/>
            </a:r>
          </a:p>
          <a:p xmlns:a="http://schemas.openxmlformats.org/drawingml/2006/main">
            <a:r>
              <a:t>Project documentation: implementation-plan/06-research-programme.md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https://www.sysnet.ucsd.edu/~voelker/pubs/phishtrain-oakland25.pdf</a:t>
            </a:r>
          </a:p>
          <a:p xmlns:a="http://schemas.openxmlformats.org/drawingml/2006/main">
            <a:r>
              <a:t>https://www.nist.gov/blogs/cybersecurity-insights/privacy-attacks-federated-learning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evidence and developments</a:t>
            </a:r>
          </a:p>
          <a:p xmlns:a="http://schemas.openxmlformats.org/drawingml/2006/main">
            <a:r>
              <a:t/>
            </a:r>
          </a:p>
          <a:p xmlns:a="http://schemas.openxmlformats.org/drawingml/2006/main">
            <a:r>
              <a:t/>
            </a:r>
          </a:p>
          <a:p xmlns:a="http://schemas.openxmlformats.org/drawingml/2006/main">
            <a:r>
              <a:t/>
            </a:r>
          </a:p>
          <a:p xmlns:a="http://schemas.openxmlformats.org/drawingml/2006/main">
            <a:r>
              <a:t>NetBird Draft Mode, September 2026 / Reviewable changes and policy UX</a:t>
            </a:r>
          </a:p>
          <a:p xmlns:a="http://schemas.openxmlformats.org/drawingml/2006/main">
            <a:r>
              <a:t>NetBird Norsk Helsenett case, August 2026 / Organisational provisioning and support needs</a:t>
            </a:r>
          </a:p>
          <a:p xmlns:a="http://schemas.openxmlformats.org/drawingml/2006/main">
            <a:r>
              <a:t>AgentFlow, August 2026 / Policy and data-flow research</a:t>
            </a:r>
          </a:p>
          <a:p xmlns:a="http://schemas.openxmlformats.org/drawingml/2006/main">
            <a:r>
              <a:t>AgentLAB / AMA-Bench, February 2026 / Long-horizon attacks and memory evaluation</a:t>
            </a:r>
          </a:p>
          <a:p xmlns:a="http://schemas.openxmlformats.org/drawingml/2006/main">
            <a:r>
              <a:t>Field training study, IEEE S&amp;P 2025 / Controlled evaluation of learning effectiveness</a:t>
            </a:r>
          </a:p>
          <a:p xmlns:a="http://schemas.openxmlformats.org/drawingml/2006/main">
            <a:r>
              <a:t/>
            </a:r>
          </a:p>
          <a:p xmlns:a="http://schemas.openxmlformats.org/drawingml/2006/main">
            <a:r>
              <a:t>Project documentation: implementation-plan/13-evidence-register.md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External references in the underlying source:</a:t>
            </a:r>
          </a:p>
          <a:p xmlns:a="http://schemas.openxmlformats.org/drawingml/2006/main">
            <a:r>
              <a:t>https://docs.netbird.io/about-netbird/how-netbird-works</a:t>
            </a:r>
          </a:p>
          <a:p xmlns:a="http://schemas.openxmlformats.org/drawingml/2006/main">
            <a:r>
              <a:t>https://docs.netbird.io/manage/networks/how-routing-peers-work</a:t>
            </a:r>
          </a:p>
          <a:p xmlns:a="http://schemas.openxmlformats.org/drawingml/2006/main">
            <a:r>
              <a:t>https://docs.netbird.io/selfhosted/enterprise</a:t>
            </a:r>
          </a:p>
          <a:p xmlns:a="http://schemas.openxmlformats.org/drawingml/2006/main">
            <a:r>
              <a:t>https://github.com/netbirdio/netbird/blob/main/LICENSE</a:t>
            </a:r>
          </a:p>
          <a:p xmlns:a="http://schemas.openxmlformats.org/drawingml/2006/main">
            <a:r>
              <a:t>https://netbird.io/pricing</a:t>
            </a:r>
          </a:p>
          <a:p xmlns:a="http://schemas.openxmlformats.org/drawingml/2006/main">
            <a:r>
              <a:t>https://docs.netbird.io/agent-network</a:t>
            </a:r>
          </a:p>
          <a:p xmlns:a="http://schemas.openxmlformats.org/drawingml/2006/main">
            <a:r>
              <a:t>https://docs.netbird.io/agent-network/how-it-works</a:t>
            </a:r>
          </a:p>
          <a:p xmlns:a="http://schemas.openxmlformats.org/drawingml/2006/main">
            <a:r>
              <a:t>https://docs.netbird.io/agent-network/quickstart</a:t>
            </a:r>
          </a:p>
          <a:p xmlns:a="http://schemas.openxmlformats.org/drawingml/2006/main">
            <a:r>
              <a:t>https://tailscale.com/pricing</a:t>
            </a:r>
          </a:p>
          <a:p xmlns:a="http://schemas.openxmlformats.org/drawingml/2006/main">
            <a:r>
              <a:t>https://www.firezone.dev/pricing</a:t>
            </a:r>
          </a:p>
          <a:p xmlns:a="http://schemas.openxmlformats.org/drawingml/2006/main">
            <a:r>
              <a:t>https://wazuh.com/cloud/</a:t>
            </a:r>
          </a:p>
          <a:p xmlns:a="http://schemas.openxmlformats.org/drawingml/2006/main">
            <a:r>
              <a:t>https://netbird.io/knowledge-hub/control-center-draft-mode</a:t>
            </a:r>
          </a:p>
          <a:p xmlns:a="http://schemas.openxmlformats.org/drawingml/2006/main">
            <a:r>
              <a:t>https://netbird.io/knowledge-hub/norsk-helsenett</a:t>
            </a:r>
          </a:p>
          <a:p xmlns:a="http://schemas.openxmlformats.org/drawingml/2006/main">
            <a:r>
              <a:t>https://netbird.io/knowledge-hub/security-advisory-daemon-ipc-local-privilege-escalation</a:t>
            </a:r>
          </a:p>
          <a:p xmlns:a="http://schemas.openxmlformats.org/drawingml/2006/main">
            <a:r>
              <a:t>https://tailscale.com/blog/aperture-public-beta</a:t>
            </a:r>
          </a:p>
          <a:p xmlns:a="http://schemas.openxmlformats.org/drawingml/2006/main">
            <a:r>
              <a:t>https://www.knowbe4.com/press/knowbe4-launches-aida-orchestration-as-the-first-fully-autonomous-agent-for-human-risk-management</a:t>
            </a:r>
          </a:p>
          <a:p xmlns:a="http://schemas.openxmlformats.org/drawingml/2006/main">
            <a:r>
              <a:t>https://wazuh.com/resources/case-studies/digifors-mssp-services/</a:t>
            </a:r>
          </a:p>
          <a:p xmlns:a="http://schemas.openxmlformats.org/drawingml/2006/main">
            <a:r>
              <a:t>https://digital-strategy.ec.europa.eu/en/policies/cra-reporting</a:t>
            </a:r>
          </a:p>
          <a:p xmlns:a="http://schemas.openxmlformats.org/drawingml/2006/main">
            <a:r>
              <a:t>https://www.sysnet.ucsd.edu/~voelker/pubs/phishtrain-oakland25.pdf</a:t>
            </a:r>
          </a:p>
          <a:p xmlns:a="http://schemas.openxmlformats.org/drawingml/2006/main">
            <a:r>
              <a:t>https://arxiv.org/abs/2602.16901</a:t>
            </a:r>
          </a:p>
          <a:p xmlns:a="http://schemas.openxmlformats.org/drawingml/2006/main">
            <a:r>
              <a:t>https://arxiv.org/abs/2602.22769</a:t>
            </a:r>
          </a:p>
          <a:p xmlns:a="http://schemas.openxmlformats.org/drawingml/2006/main">
            <a:r>
              <a:t>https://arxiv.org/abs/2608.22868</a:t>
            </a:r>
          </a:p>
          <a:p xmlns:a="http://schemas.openxmlformats.org/drawingml/2006/main">
            <a:r>
              <a:t>https://www.anthropic.com/engineering/demystifying-evals-for-ai-agents</a:t>
            </a:r>
          </a:p>
          <a:p xmlns:a="http://schemas.openxmlformats.org/drawingml/2006/main">
            <a:r>
              <a:t>https://www.anthropic.com/engineering/building-c-compiler</a:t>
            </a:r>
          </a:p>
          <a:p xmlns:a="http://schemas.openxmlformats.org/drawingml/2006/main">
            <a:r>
              <a:t>https://www.nist.gov/blogs/cybersecurity-insights/privacy-attacks-federated-learning</a:t>
            </a:r>
          </a:p>
          <a:p xmlns:a="http://schemas.openxmlformats.org/drawingml/2006/main">
            <a:r>
              <a:t>https://docs.openhands.dev/sdk/arch/security</a:t>
            </a:r>
          </a:p>
          <a:p xmlns:a="http://schemas.openxmlformats.org/drawingml/2006/main">
            <a:r>
              <a:t>https://cyclonedx.org/specification/overview/</a:t>
            </a:r>
          </a:p>
          <a:p xmlns:a="http://schemas.openxmlformats.org/drawingml/2006/main">
            <a:r>
              <a:t>https://osv.dev/</a:t>
            </a:r>
          </a:p>
          <a:p xmlns:a="http://schemas.openxmlformats.org/drawingml/2006/main">
            <a:r>
              <a:t>https://github.com/apache/caldera</a:t>
            </a:r>
          </a:p>
          <a:p xmlns:a="http://schemas.openxmlformats.org/drawingml/2006/main">
            <a:r>
              <a:t>https://attack.mitre.org/tactics/ics/</a:t>
            </a:r>
          </a:p>
          <a:p xmlns:a="http://schemas.openxmlformats.org/drawingml/2006/main">
            <a:r>
              <a:t>https://attack.mitre.org/mitigations/ics/</a:t>
            </a:r>
          </a:p>
          <a:p xmlns:a="http://schemas.openxmlformats.org/drawingml/2006/main">
            <a:r>
              <a:t>https://www.enisa.europa.eu/publications/nis-investments-2025</a:t>
            </a:r>
          </a:p>
          <a:p xmlns:a="http://schemas.openxmlformats.org/drawingml/2006/main">
            <a:r>
              <a:t>https://www.enisa.europa.eu/news/nis360-the-bigger-picture-on-maturity-and-criticality-of-nis-critical-sectors</a:t>
            </a:r>
          </a:p>
          <a:p xmlns:a="http://schemas.openxmlformats.org/drawingml/2006/main">
            <a:r>
              <a:t>https://dyn.cncs.gov.pt/pt/detalhe/art/135998/novo-regime-juridico-da-ciberseguranca-entra-em-vigor</a:t>
            </a:r>
          </a:p>
          <a:p xmlns:a="http://schemas.openxmlformats.org/drawingml/2006/main">
            <a:r>
              <a:t>https://eur-lex.europa.eu/eli/reg/2016/679/oj/</a:t>
            </a:r>
          </a:p>
          <a:p xmlns:a="http://schemas.openxmlformats.org/drawingml/2006/main">
            <a:r>
              <a:t>https://eur-lex.europa.eu/eli/reg/2024/1689/oj</a:t>
            </a:r>
          </a:p>
          <a:p xmlns:a="http://schemas.openxmlformats.org/drawingml/2006/main">
            <a:r>
              <a:t>https://digital-strategy.ec.europa.eu/en/policies/regulatory-framework-ai</a:t>
            </a:r>
          </a:p>
          <a:p xmlns:a="http://schemas.openxmlformats.org/drawingml/2006/main">
            <a:r>
              <a:t>https://digital-strategy.ec.europa.eu/en/policies/cra-summary</a:t>
            </a:r>
          </a:p>
          <a:p xmlns:a="http://schemas.openxmlformats.org/drawingml/2006/main">
            <a:r>
              <a:t>https://www.nccoe.nist.gov/projects/cyber-ai-profile</a:t>
            </a:r>
          </a:p>
          <a:p xmlns:a="http://schemas.openxmlformats.org/drawingml/2006/main">
            <a:r>
              <a:t>https://www.nccoe.nist.gov/publications/csf-profile/nist-ir-8596-ipd-cybersecurity-framework-profile-artificial-intelligence</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Evidence register, current developments and research path</a:t>
            </a:r>
          </a:p>
          <a:p xmlns:a="http://schemas.openxmlformats.org/drawingml/2006/main">
            <a:r>
              <a:t/>
            </a:r>
          </a:p>
          <a:p xmlns:a="http://schemas.openxmlformats.org/drawingml/2006/main">
            <a:r>
              <a:t>[Index](README.md) · Research snapshot: 17–18 September 2026 · Owner: Research Lead</a:t>
            </a:r>
          </a:p>
          <a:p xmlns:a="http://schemas.openxmlformats.org/drawingml/2006/main">
            <a:r>
              <a:t/>
            </a:r>
          </a:p>
          <a:p xmlns:a="http://schemas.openxmlformats.org/drawingml/2006/main">
            <a:r>
              <a:t>This is a curated primary-source register, not an exhaustive literature review or a claim that every linked technology has been tested. Publication date, page update and access date are different. “Living” means no fixed publication date is relied upon. An unavailable page is explicitly marked. Recheck mutable documentation, pricing and law at adoption. Local-source inventory is in [traceability](02-source-traceability.md).</a:t>
            </a:r>
          </a:p>
          <a:p xmlns:a="http://schemas.openxmlformats.org/drawingml/2006/main">
            <a:r>
              <a:t/>
            </a:r>
          </a:p>
          <a:p xmlns:a="http://schemas.openxmlformats.org/drawingml/2006/main">
            <a:r>
              <a:t>## Networking, agent access and business</a:t>
            </a:r>
          </a:p>
          <a:p xmlns:a="http://schemas.openxmlformats.org/drawingml/2006/main">
            <a:r>
              <a:t/>
            </a:r>
          </a:p>
          <a:p xmlns:a="http://schemas.openxmlformats.org/drawingml/2006/main">
            <a:r>
              <a:t>| ID | Source / publisher | Publication or update; accessed | Type and supported use | Limitation / project action |</a:t>
            </a:r>
          </a:p>
          <a:p xmlns:a="http://schemas.openxmlformats.org/drawingml/2006/main">
            <a:r>
              <a:t>|---|---|---|---|---|</a:t>
            </a:r>
          </a:p>
          <a:p xmlns:a="http://schemas.openxmlformats.org/drawingml/2006/main">
            <a:r>
              <a:t>| E01 | [How NetBird works — NetBird](https://docs.netbird.io/about-netbird/how-netbird-works) | Updated 2026-08-21; 2026-09-18 | Official architecture; client/control/data-plane explanation | Contains old/new relay context; use release-matched deployment docs |</a:t>
            </a:r>
          </a:p>
          <a:p xmlns:a="http://schemas.openxmlformats.org/drawingml/2006/main">
            <a:r>
              <a:t>| E02 | [Routing peers — NetBird](https://docs.netbird.io/manage/networks/how-routing-peers-work) | Living; 2026-09-17 | Official forwarding/NAT design | Overlay protection does not describe the entire LAN path; test routing |</a:t>
            </a:r>
          </a:p>
          <a:p xmlns:a="http://schemas.openxmlformats.org/drawingml/2006/main">
            <a:r>
              <a:t>| E03 | [Self-hosted enterprise — NetBird](https://docs.netbird.io/selfhosted/enterprise) | Updated 2026-09-16; 2026-09-18 | Official feature, isolation and operating constraints | Commercial terms require confirmation for intended customer model |</a:t>
            </a:r>
          </a:p>
          <a:p xmlns:a="http://schemas.openxmlformats.org/drawingml/2006/main">
            <a:r>
              <a:t>| E04 | [Repository licence — NetBird](https://github.com/netbirdio/netbird/blob/main/LICENSE) | Living main branch; 2026-09-17 | Primary licence text | Pin release and inspect all distributed components |</a:t>
            </a:r>
          </a:p>
          <a:p xmlns:a="http://schemas.openxmlformats.org/drawingml/2006/main">
            <a:r>
              <a:t>| E05 | [Cloud pricing — NetBird](https://netbird.io/pricing) | Living; 2026-09-18 | Vendor pricing snapshot | Cloud EUR values are not self-hosted quotes; no resale assumption |</a:t>
            </a:r>
          </a:p>
          <a:p xmlns:a="http://schemas.openxmlformats.org/drawingml/2006/main">
            <a:r>
              <a:t>| E06 | [Agent Network overview — NetBird](https://docs.netbird.io/agent-network) | June 2026 page; 2026-09-17 | Official beta/product status | Internal experiment, not first-release dependency |</a:t>
            </a:r>
          </a:p>
          <a:p xmlns:a="http://schemas.openxmlformats.org/drawingml/2006/main">
            <a:r>
              <a:t>| E07 | [Agent Network architecture — NetBird](https://docs.netbird.io/agent-network/how-it-works) | Living; 2026-09-17 | Official proxy/direct-resource distinction | Application/tool permission still required |</a:t>
            </a:r>
          </a:p>
          <a:p xmlns:a="http://schemas.openxmlformats.org/drawingml/2006/main">
            <a:r>
              <a:t>| E08 | [Agent Network quickstart — NetBird](https://docs.netbird.io/agent-network/quickstart) | Updated 2026-06-30; 2026-09-17 | Official release-candidate setup | Do not apply beta defaults to client production |</a:t>
            </a:r>
          </a:p>
          <a:p xmlns:a="http://schemas.openxmlformats.org/drawingml/2006/main">
            <a:r>
              <a:t>| E09 | [Pricing — Tailscale](https://tailscale.com/pricing) | Living; 2026-09-18 | Vendor packaging comparison | Billing and free-use restrictions change; refresh before quote |</a:t>
            </a:r>
          </a:p>
          <a:p xmlns:a="http://schemas.openxmlformats.org/drawingml/2006/main">
            <a:r>
              <a:t>| E10 | [Pricing — Firezone](https://www.firezone.dev/pricing) | Living; 2026-09-18 | Vendor free/team/enterprise comparison | Does not by itself establish repository licence rights |</a:t>
            </a:r>
          </a:p>
          <a:p xmlns:a="http://schemas.openxmlformats.org/drawingml/2006/main">
            <a:r>
              <a:t>| E11 | [Cloud — Wazuh](https://wazuh.com/cloud/) | Living; 2026-09-18 | Managed open-source security offering | Compare service scope and operating cost, not price alone |</a:t>
            </a:r>
          </a:p>
          <a:p xmlns:a="http://schemas.openxmlformats.org/drawingml/2006/main">
            <a:r>
              <a:t/>
            </a:r>
          </a:p>
          <a:p xmlns:a="http://schemas.openxmlformats.org/drawingml/2006/main">
            <a:r>
              <a:t>## Recent news and use cases</a:t>
            </a:r>
          </a:p>
          <a:p xmlns:a="http://schemas.openxmlformats.org/drawingml/2006/main">
            <a:r>
              <a:t/>
            </a:r>
          </a:p>
          <a:p xmlns:a="http://schemas.openxmlformats.org/drawingml/2006/main">
            <a:r>
              <a:t>Selected developments available at research time; “recent” does not mean a complete worldwide news feed.</a:t>
            </a:r>
          </a:p>
          <a:p xmlns:a="http://schemas.openxmlformats.org/drawingml/2006/main">
            <a:r>
              <a:t/>
            </a:r>
          </a:p>
          <a:p xmlns:a="http://schemas.openxmlformats.org/drawingml/2006/main">
            <a:r>
              <a:t>| ID / date | Source | What it changes for AegisAI |</a:t>
            </a:r>
          </a:p>
          <a:p xmlns:a="http://schemas.openxmlformats.org/drawingml/2006/main">
            <a:r>
              <a:t>|---|---|---|</a:t>
            </a:r>
          </a:p>
          <a:p xmlns:a="http://schemas.openxmlformats.org/drawingml/2006/main">
            <a:r>
              <a:t>| N01 · 2026-09-04 | [NetBird Control Center Draft Mode](https://netbird.io/knowledge-hub/control-center-draft-mode) | Vendor product update: reviewable configuration changes are a useful UX reference. AegisAI should bind approvals to durable proposed changes and execution evidence. |</a:t>
            </a:r>
          </a:p>
          <a:p xmlns:a="http://schemas.openxmlformats.org/drawingml/2006/main">
            <a:r>
              <a:t>| N02 · 2026-08-03 | [NetBird / Norsk Helsenett case](https://netbird.io/knowledge-hub/norsk-helsenett) | Vendor case: provisioning, identity and operational simplicity matter in organisational adoption. It does not validate our future healthcare readiness. |</a:t>
            </a:r>
          </a:p>
          <a:p xmlns:a="http://schemas.openxmlformats.org/drawingml/2006/main">
            <a:r>
              <a:t>| N03 · 2026-07-30 | [NetBird client-daemon security advisory](https://netbird.io/knowledge-hub/security-advisory-daemon-ipc-local-privilege-escalation) | Primary vendor advisory: include local privileged-service attack surfaces and patch management in the edge threat model. Select a currently supported patched release at adoption. |</a:t>
            </a:r>
          </a:p>
          <a:p xmlns:a="http://schemas.openxmlformats.org/drawingml/2006/main">
            <a:r>
              <a:t>| N04 · 2026-04-23 | [Tailscale Aperture beta](https://tailscale.com/blog/aperture-public-beta) | Vendor announcement: networking companies are expanding into AI access governance; validate task-level control differentiation. |</a:t>
            </a:r>
          </a:p>
          <a:p xmlns:a="http://schemas.openxmlformats.org/drawingml/2006/main">
            <a:r>
              <a:t>| N05 · 2026-02-24 | [KnowBe4 AIDA orchestration launch](https://www.knowbe4.com/press/knowbe4-launches-aida-orchestration-as-the-first-fully-autonomous-agent-for-human-risk-management) | Vendor announcement: autonomous training orchestration is an established competitive claim, not our unique novelty. |</a:t>
            </a:r>
          </a:p>
          <a:p xmlns:a="http://schemas.openxmlformats.org/drawingml/2006/main">
            <a:r>
              <a:t>| N06 · Date not relied upon | [Wazuh / DigiFors MSSP case](https://wazuh.com/resources/case-studies/digifors-mssp-services/) | Vendor case: services and supported integrations can form a business around an open platform. Validate our own margins. |</a:t>
            </a:r>
          </a:p>
          <a:p xmlns:a="http://schemas.openxmlformats.org/drawingml/2006/main">
            <a:r>
              <a:t>| N07 · Updated 2026-09-11 | [Commission CRA reporting guidance](https://digital-strategy.ec.europa.eu/en/policies/cra-reporting) | Official update: relevant reporting provisions are now in application; assess product/manufacturer scope early. |</a:t>
            </a:r>
          </a:p>
          <a:p xmlns:a="http://schemas.openxmlformats.org/drawingml/2006/main">
            <a:r>
              <a:t/>
            </a:r>
          </a:p>
          <a:p xmlns:a="http://schemas.openxmlformats.org/drawingml/2006/main">
            <a:r>
              <a:t>All N01–N07 links were opened on 2026-09-18. These entries are not evidence of independent outcome audits or guaranteed future availability.</a:t>
            </a:r>
          </a:p>
          <a:p xmlns:a="http://schemas.openxmlformats.org/drawingml/2006/main">
            <a:r>
              <a:t/>
            </a:r>
          </a:p>
          <a:p xmlns:a="http://schemas.openxmlformats.org/drawingml/2006/main">
            <a:r>
              <a:t>## Research and frontier agents</a:t>
            </a:r>
          </a:p>
          <a:p xmlns:a="http://schemas.openxmlformats.org/drawingml/2006/main">
            <a:r>
              <a:t/>
            </a:r>
          </a:p>
          <a:p xmlns:a="http://schemas.openxmlformats.org/drawingml/2006/main">
            <a:r>
              <a:t>| ID | Source | Date / access | Evidence and decision |</a:t>
            </a:r>
          </a:p>
          <a:p xmlns:a="http://schemas.openxmlformats.org/drawingml/2006/main">
            <a:r>
              <a:t>|---|---|---|---|</a:t>
            </a:r>
          </a:p>
          <a:p xmlns:a="http://schemas.openxmlformats.org/drawingml/2006/main">
            <a:r>
              <a:t>| R01 | [Understanding the Efficacy of Phishing Training in Practice — Ho et al.](https://www.sysnet.ucsd.edu/~voelker/pubs/phishtrain-oakland25.pdf) | IEEE S&amp;P 2025; 2026-09-18 | Primary field study; limited benefits in its setting. Use control comparisons and delayed outcomes, not assumed efficacy. |</a:t>
            </a:r>
          </a:p>
          <a:p xmlns:a="http://schemas.openxmlformats.org/drawingml/2006/main">
            <a:r>
              <a:t>| R02 | [AgentLAB](https://arxiv.org/abs/2602.16901) | 2026-02 preprint; 2026-09-18 | Long-horizon agent attacks; informs R6 adversarial task design. Benchmark transfer remains unproven. |</a:t>
            </a:r>
          </a:p>
          <a:p xmlns:a="http://schemas.openxmlformats.org/drawingml/2006/main">
            <a:r>
              <a:t>| R03 | [AMA-Bench](https://arxiv.org/abs/2602.22769) | 2026-02 preprint; 2026-09-18 | Memory evaluation; compare explicit state/retrieval before increasing memory complexity. |</a:t>
            </a:r>
          </a:p>
          <a:p xmlns:a="http://schemas.openxmlformats.org/drawingml/2006/main">
            <a:r>
              <a:t>| R04 | [AgentFlow](https://arxiv.org/abs/2608.22868) | 2026-08 preprint; 2026-09-18 | Policy/data-flow enforcement; test independent authorisation and evidence provenance. Research results are not universal safety guarantees. |</a:t>
            </a:r>
          </a:p>
          <a:p xmlns:a="http://schemas.openxmlformats.org/drawingml/2006/main">
            <a:r>
              <a:t>| R05 | [Demystifying evals for AI agents — Anthropic](https://www.anthropic.com/engineering/demystifying-evals-for-ai-agents) | 2026-01; 2026-09-18 | First-party engineering guidance; evaluate complete workflows, repeated runs and failure recovery. |</a:t>
            </a:r>
          </a:p>
          <a:p xmlns:a="http://schemas.openxmlformats.org/drawingml/2006/main">
            <a:r>
              <a:t>| R06 | [Building a C compiler — Anthropic](https://www.anthropic.com/engineering/building-c-compiler) | 2026-02-05; 2026-09-18 | First-party multi-agent engineering account; useful as a scale/cost caution, not a lean-team requirement. |</a:t>
            </a:r>
          </a:p>
          <a:p xmlns:a="http://schemas.openxmlformats.org/drawingml/2006/main">
            <a:r>
              <a:t>| R07 | [Privacy attacks in federated learning — NIST](https://www.nist.gov/blogs/cybersecurity-insights/privacy-attacks-federated-learning) | 2024-01-24; 2026-09-18 | Official research discussion: updates and trained models can leak data. Design and evaluate privacy protections rather than assuming federation is sufficient. |</a:t>
            </a:r>
          </a:p>
          <a:p xmlns:a="http://schemas.openxmlformats.org/drawingml/2006/main">
            <a:r>
              <a:t>| R08 | [OpenHands security architecture](https://docs.openhands.dev/sdk/arch/security) | Living; 2026-09-18 | Official runtime controls; benchmark independently and enforce deterministic boundaries outside model judgement. |</a:t>
            </a:r>
          </a:p>
          <a:p xmlns:a="http://schemas.openxmlformats.org/drawingml/2006/main">
            <a:r>
              <a:t/>
            </a:r>
          </a:p>
          <a:p xmlns:a="http://schemas.openxmlformats.org/drawingml/2006/main">
            <a:r>
              <a:t>Prioritised research path: R0 evidence repair → R1 human outcomes + R6 internal agent baseline → R2/R3 operational detection/explanation → R4/R5 local validation → external R6 product evaluation and conditional federation/OT. Follow citations into primary methods and datasets; do not treat AI-generated local notes as authoritative references. Record model, dataset and benchmark revisions at every experimental run.</a:t>
            </a:r>
          </a:p>
          <a:p xmlns:a="http://schemas.openxmlformats.org/drawingml/2006/main">
            <a:r>
              <a:t/>
            </a:r>
          </a:p>
          <a:p xmlns:a="http://schemas.openxmlformats.org/drawingml/2006/main">
            <a:r>
              <a:t>## Security operations, validation and industrial foundations</a:t>
            </a:r>
          </a:p>
          <a:p xmlns:a="http://schemas.openxmlformats.org/drawingml/2006/main">
            <a:r>
              <a:t/>
            </a:r>
          </a:p>
          <a:p xmlns:a="http://schemas.openxmlformats.org/drawingml/2006/main">
            <a:r>
              <a:t>| ID | Source | Date / access | Use and limitation |</a:t>
            </a:r>
          </a:p>
          <a:p xmlns:a="http://schemas.openxmlformats.org/drawingml/2006/main">
            <a:r>
              <a:t>|---|---|---|---|</a:t>
            </a:r>
          </a:p>
          <a:p xmlns:a="http://schemas.openxmlformats.org/drawingml/2006/main">
            <a:r>
              <a:t>| T01 | [CycloneDX specification overview](https://cyclonedx.org/specification/overview/) | Living; 2026-09-18 | SBOM contract reference; implementation must declare supported schema version |</a:t>
            </a:r>
          </a:p>
          <a:p xmlns:a="http://schemas.openxmlformats.org/drawingml/2006/main">
            <a:r>
              <a:t>| T02 | [OSV](https://osv.dev/) | Living; 2026-09-18 | Advisory source/API ecosystem; missing match does not prove absence of exposure |</a:t>
            </a:r>
          </a:p>
          <a:p xmlns:a="http://schemas.openxmlformats.org/drawingml/2006/main">
            <a:r>
              <a:t>| T03 | [Apache Caldera repository](https://github.com/apache/caldera) | Living; 2026-09-18 | Original MITRE URL redirected here during review; validate current release/licence before reuse |</a:t>
            </a:r>
          </a:p>
          <a:p xmlns:a="http://schemas.openxmlformats.org/drawingml/2006/main">
            <a:r>
              <a:t>| T04 | [ATT&amp;CK for ICS tactics — MITRE](https://attack.mitre.org/tactics/ics/) | Living; 2026-09-18 | Threat taxonomy; not an active-test authorisation |</a:t>
            </a:r>
          </a:p>
          <a:p xmlns:a="http://schemas.openxmlformats.org/drawingml/2006/main">
            <a:r>
              <a:t>| T05 | [ATT&amp;CK for ICS mitigations — MITRE](https://attack.mitre.org/mitigations/ics/) | Living; 2026-09-18 | Industrial control/safety context; validate techniques in representative lab first |</a:t>
            </a:r>
          </a:p>
          <a:p xmlns:a="http://schemas.openxmlformats.org/drawingml/2006/main">
            <a:r>
              <a:t/>
            </a:r>
          </a:p>
          <a:p xmlns:a="http://schemas.openxmlformats.org/drawingml/2006/main">
            <a:r>
              <a:t>## Market, law and governance</a:t>
            </a:r>
          </a:p>
          <a:p xmlns:a="http://schemas.openxmlformats.org/drawingml/2006/main">
            <a:r>
              <a:t/>
            </a:r>
          </a:p>
          <a:p xmlns:a="http://schemas.openxmlformats.org/drawingml/2006/main">
            <a:r>
              <a:t>| ID | Source | Date / access | Claim supported / limit |</a:t>
            </a:r>
          </a:p>
          <a:p xmlns:a="http://schemas.openxmlformats.org/drawingml/2006/main">
            <a:r>
              <a:t>|---|---|---|---|</a:t>
            </a:r>
          </a:p>
          <a:p xmlns:a="http://schemas.openxmlformats.org/drawingml/2006/main">
            <a:r>
              <a:t>| G01 | [NIS Investments 2025 — ENISA](https://www.enisa.europa.eu/publications/nis-investments-2025) | 2025-12-08; 2026-09-18 | Official survey with predominantly large organisations; not representative SME pricing evidence |</a:t>
            </a:r>
          </a:p>
          <a:p xmlns:a="http://schemas.openxmlformats.org/drawingml/2006/main">
            <a:r>
              <a:t>| G02 | [NIS360 maturity update — ENISA](https://www.enisa.europa.eu/news/nis360-the-bigger-picture-on-maturity-and-criticality-of-nis-critical-sectors) | 2026-05-28; 2026-09-17 | Sector maturity context; local buyer discovery remains necessary |</a:t>
            </a:r>
          </a:p>
          <a:p xmlns:a="http://schemas.openxmlformats.org/drawingml/2006/main">
            <a:r>
              <a:t>| G03 | [Portuguese regime notice — CNCS](https://dyn.cncs.gov.pt/pt/detalhe/art/135998/novo-regime-juridico-da-ciberseguranca-entra-em-vigor) | 2026-04-06; read 2026-09-17, refresh failed 2026-09-18 | Official notice; redirect loop on refresh. Obtain authoritative decree/current regulations before scope advice |</a:t>
            </a:r>
          </a:p>
          <a:p xmlns:a="http://schemas.openxmlformats.org/drawingml/2006/main">
            <a:r>
              <a:t>| G04 | [GDPR — EUR-Lex](https://eur-lex.europa.eu/eli/reg/2016/679/oj/) | Regulation 2016/679; searched 2026-09-18 | Primary legislation: data purpose, rights, processor roles, DPIA; apply to actual processing |</a:t>
            </a:r>
          </a:p>
          <a:p xmlns:a="http://schemas.openxmlformats.org/drawingml/2006/main">
            <a:r>
              <a:t>| G05 | [AI Act — EUR-Lex](https://eur-lex.europa.eu/eli/reg/2024/1689/oj) | Regulation 2024/1689; searched 2026-09-18 | Primary legislation; feature/intended-use classification, including workplace emotion restrictions |</a:t>
            </a:r>
          </a:p>
          <a:p xmlns:a="http://schemas.openxmlformats.org/drawingml/2006/main">
            <a:r>
              <a:t>| G06 | [AI regulatory framework — Commission](https://digital-strategy.ec.europa.eu/en/policies/regulatory-framework-ai) | Living; 2026-09-18 | Current implementation context; check amended/consolidated law before legal deadlines are promised |</a:t>
            </a:r>
          </a:p>
          <a:p xmlns:a="http://schemas.openxmlformats.org/drawingml/2006/main">
            <a:r>
              <a:t>| G07 | [CRA legislative summary — Commission](https://digital-strategy.ec.europa.eu/en/policies/cra-summary) | Living; 2026-09-18 | General and phased applicability; determine software/appliance scope and responsible role |</a:t>
            </a:r>
          </a:p>
          <a:p xmlns:a="http://schemas.openxmlformats.org/drawingml/2006/main">
            <a:r>
              <a:t>| G08 | [Cyber AI Profile — NIST NCCoE](https://www.nccoe.nist.gov/projects/cyber-ai-profile) | Living; 2026-09-18 | Development/status reference; draft guidance is not certification |</a:t>
            </a:r>
          </a:p>
          <a:p xmlns:a="http://schemas.openxmlformats.org/drawingml/2006/main">
            <a:r>
              <a:t>| G09 | [NIST IR 8596 initial preliminary draft](https://www.nccoe.nist.gov/publications/csf-profile/nist-ir-8596-ipd-cybersecurity-framework-profile-artificial-intelligence) | Preliminary draft; 2026-09-18 | Status of source framework; track next version rather than implying final standard |</a:t>
            </a:r>
          </a:p>
          <a:p xmlns:a="http://schemas.openxmlformats.org/drawingml/2006/main">
            <a:r>
              <a:t/>
            </a:r>
          </a:p>
          <a:p xmlns:a="http://schemas.openxmlformats.org/drawingml/2006/main">
            <a:r>
              <a:t>## Evidence gaps and maintenance</a:t>
            </a:r>
          </a:p>
          <a:p xmlns:a="http://schemas.openxmlformats.org/drawingml/2006/main">
            <a:r>
              <a:t/>
            </a:r>
          </a:p>
          <a:p xmlns:a="http://schemas.openxmlformats.org/drawingml/2006/main">
            <a:r>
              <a:t>Open items: actual customer willingness to pay, named pilot partners, hosting/licence quotations, per-product legal applicability, model hardware benchmarks, reproducible legacy result mapping and independent product security tests. None is silently filled with vendor claims or invented numbers.</a:t>
            </a:r>
          </a:p>
          <a:p xmlns:a="http://schemas.openxmlformats.org/drawingml/2006/main">
            <a:r>
              <a:t/>
            </a:r>
          </a:p>
          <a:p xmlns:a="http://schemas.openxmlformats.org/drawingml/2006/main">
            <a:r>
              <a:t>RL reviews literature quarterly and before a research promotion; PL refreshes competitors/pricing before packaging decisions; PS checks upstream releases/advisories before adoption and during the future operating lifecycle. This pack does not create a scheduled monitor. New entries must identify source type, publication/update date if known, access status, precise supported claim, limitation and affected decision.</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Documentation and team follow-through</a:t>
            </a:r>
          </a:p>
          <a:p xmlns:a="http://schemas.openxmlformats.org/drawingml/2006/main">
            <a:r>
              <a:t/>
            </a:r>
          </a:p>
          <a:p xmlns:a="http://schemas.openxmlformats.org/drawingml/2006/main">
            <a:r>
              <a:t/>
            </a:r>
          </a:p>
          <a:p xmlns:a="http://schemas.openxmlformats.org/drawingml/2006/main">
            <a:r>
              <a:t/>
            </a:r>
          </a:p>
          <a:p xmlns:a="http://schemas.openxmlformats.org/drawingml/2006/main">
            <a:r>
              <a:t>Implementation handbook: The index links 19 documents covering product, research and operations.</a:t>
            </a:r>
          </a:p>
          <a:p xmlns:a="http://schemas.openxmlformats.org/drawingml/2006/main">
            <a:r>
              <a:t/>
            </a:r>
          </a:p>
          <a:p xmlns:a="http://schemas.openxmlformats.org/drawingml/2006/main">
            <a:r>
              <a:t>Source traceability: All 13 layers, five squad products and original work packages have a destination.</a:t>
            </a:r>
          </a:p>
          <a:p xmlns:a="http://schemas.openxmlformats.org/drawingml/2006/main">
            <a:r>
              <a:t/>
            </a:r>
          </a:p>
          <a:p xmlns:a="http://schemas.openxmlformats.org/drawingml/2006/main">
            <a:r>
              <a:t>Delivery control: Task IDs, owner roles, dependencies and gate evidence guide implementation.</a:t>
            </a:r>
          </a:p>
          <a:p xmlns:a="http://schemas.openxmlformats.org/drawingml/2006/main">
            <a:r>
              <a:t/>
            </a:r>
          </a:p>
          <a:p xmlns:a="http://schemas.openxmlformats.org/drawingml/2006/main">
            <a:r>
              <a:t>Team cadence: Two-week product reviews, monthly research/commercial reviews and release sign-off.</a:t>
            </a:r>
          </a:p>
          <a:p xmlns:a="http://schemas.openxmlformats.org/drawingml/2006/main">
            <a:r>
              <a:t/>
            </a:r>
          </a:p>
          <a:p xmlns:a="http://schemas.openxmlformats.org/drawingml/2006/main">
            <a:r>
              <a:t>Project documentation: implementation-plan/README.md</a:t>
            </a:r>
          </a:p>
          <a:p xmlns:a="http://schemas.openxmlformats.org/drawingml/2006/main">
            <a:r>
              <a:t>Documentation baseline: 18 September 2026. Schedule values are targets measured from kickoff.</a:t>
            </a:r>
          </a:p>
          <a:p xmlns:a="http://schemas.openxmlformats.org/drawingml/2006/main">
            <a:r>
              <a:t/>
            </a:r>
          </a:p>
          <a:p xmlns:a="http://schemas.openxmlformats.org/drawingml/2006/main">
            <a:r>
              <a:t/>
            </a:r>
          </a:p>
          <a:p xmlns:a="http://schemas.openxmlformats.org/drawingml/2006/main">
            <a:r>
              <a:t>DETAILED PROJECT REFERENCE</a:t>
            </a:r>
          </a:p>
          <a:p xmlns:a="http://schemas.openxmlformats.org/drawingml/2006/main">
            <a:r>
              <a:t/>
            </a:r>
          </a:p>
          <a:p xmlns:a="http://schemas.openxmlformats.org/drawingml/2006/main">
            <a:r>
              <a:t># AegisAI implementation and research handbook</a:t>
            </a:r>
          </a:p>
          <a:p xmlns:a="http://schemas.openxmlformats.org/drawingml/2006/main">
            <a:r>
              <a:t/>
            </a:r>
          </a:p>
          <a:p xmlns:a="http://schemas.openxmlformats.org/drawingml/2006/main">
            <a:r>
              <a:t>Version 1.0 · Prepared 18 September 2026 · Owner: Product Lead</a:t>
            </a:r>
          </a:p>
          <a:p xmlns:a="http://schemas.openxmlformats.org/drawingml/2006/main">
            <a:r>
              <a:t/>
            </a:r>
          </a:p>
          <a:p xmlns:a="http://schemas.openxmlformats.org/drawingml/2006/main">
            <a:r>
              <a:t>**Status: approved direction translated into implementation specifications. Product development, customer validation, security testing, and legal applicability reviews remain future work.** Nothing in this pack certifies an existing production deployment.</a:t>
            </a:r>
          </a:p>
          <a:p xmlns:a="http://schemas.openxmlformats.org/drawingml/2006/main">
            <a:r>
              <a:t/>
            </a:r>
          </a:p>
          <a:p xmlns:a="http://schemas.openxmlformats.org/drawingml/2006/main">
            <a:r>
              <a:t>AegisAI will build four independently usable products on a shared platform: Human Firewall in months 3–6, Security Operations in months 10–12, Defense Box and Validation in months 16–18, and Agent Security in months 22–24. Months run from an explicitly recorded future kickoff, not from the date of this document. Release gates control progression.</a:t>
            </a:r>
          </a:p>
          <a:p xmlns:a="http://schemas.openxmlformats.org/drawingml/2006/main">
            <a:r>
              <a:t/>
            </a:r>
          </a:p>
          <a:p xmlns:a="http://schemas.openxmlformats.org/drawingml/2006/main">
            <a:r>
              <a:t>NetBird is an architectural and commercial reference and an optional upstream connectivity provider. AegisAI owns its product experience, evidence model, integrations, intelligence, and lifecycle. Training is not a prerequisite for the other products.</a:t>
            </a:r>
          </a:p>
          <a:p xmlns:a="http://schemas.openxmlformats.org/drawingml/2006/main">
            <a:r>
              <a:t/>
            </a:r>
          </a:p>
          <a:p xmlns:a="http://schemas.openxmlformats.org/drawingml/2006/main">
            <a:r>
              <a:t>## Reading order</a:t>
            </a:r>
          </a:p>
          <a:p xmlns:a="http://schemas.openxmlformats.org/drawingml/2006/main">
            <a:r>
              <a:t/>
            </a:r>
          </a:p>
          <a:p xmlns:a="http://schemas.openxmlformats.org/drawingml/2006/main">
            <a:r>
              <a:t>| Document | Decisions and practical use |</a:t>
            </a:r>
          </a:p>
          <a:p xmlns:a="http://schemas.openxmlformats.org/drawingml/2006/main">
            <a:r>
              <a:t>|---|---|</a:t>
            </a:r>
          </a:p>
          <a:p xmlns:a="http://schemas.openxmlformats.org/drawingml/2006/main">
            <a:r>
              <a:t>| [Portfolio strategy](01-portfolio-strategy.md) | Customers, product sequence, ownership, scope and assumptions |</a:t>
            </a:r>
          </a:p>
          <a:p xmlns:a="http://schemas.openxmlformats.org/drawingml/2006/main">
            <a:r>
              <a:t>| [Source assessment and traceability](02-source-traceability.md) | Original blueprint, WP1–7, all 13 layers and five squad products; retained and revised ambitions |</a:t>
            </a:r>
          </a:p>
          <a:p xmlns:a="http://schemas.openxmlformats.org/drawingml/2006/main">
            <a:r>
              <a:t>| [Shared architecture](03-shared-architecture.md) | Trust boundaries, deployment, data flows and build/reuse choices |</a:t>
            </a:r>
          </a:p>
          <a:p xmlns:a="http://schemas.openxmlformats.org/drawingml/2006/main">
            <a:r>
              <a:t>| [NetBird study](04-netbird-study.md) | How it works, limitations, component reuse, integration and business lessons |</a:t>
            </a:r>
          </a:p>
          <a:p xmlns:a="http://schemas.openxmlformats.org/drawingml/2006/main">
            <a:r>
              <a:t>| [Interface contracts](05-interface-contracts.md) | Versioned API design, event envelope, jobs, approvals and adapter boundaries |</a:t>
            </a:r>
          </a:p>
          <a:p xmlns:a="http://schemas.openxmlformats.org/drawingml/2006/main">
            <a:r>
              <a:t>| [Human Firewall](products/01-human-firewall.md) | Months 1–6 specification, backlog and release acceptance |</a:t>
            </a:r>
          </a:p>
          <a:p xmlns:a="http://schemas.openxmlformats.org/drawingml/2006/main">
            <a:r>
              <a:t>| [Security Operations](products/02-security-operations.md) | Months 7–12 specification, backlog and release acceptance |</a:t>
            </a:r>
          </a:p>
          <a:p xmlns:a="http://schemas.openxmlformats.org/drawingml/2006/main">
            <a:r>
              <a:t>| [Defense Box and Validation](products/03-defense-box.md) | Months 13–18 specification, backlog and release acceptance |</a:t>
            </a:r>
          </a:p>
          <a:p xmlns:a="http://schemas.openxmlformats.org/drawingml/2006/main">
            <a:r>
              <a:t>| [Agent Security](products/04-agent-security.md) | Months 19–24 specification, backlog and release acceptance |</a:t>
            </a:r>
          </a:p>
          <a:p xmlns:a="http://schemas.openxmlformats.org/drawingml/2006/main">
            <a:r>
              <a:t>| [Research programme](06-research-programme.md) | Experiments, baselines, evaluation protocols and promotion rules |</a:t>
            </a:r>
          </a:p>
          <a:p xmlns:a="http://schemas.openxmlformats.org/drawingml/2006/main">
            <a:r>
              <a:t>| [Internal agent workspace](07-internal-agent-workspace.md) | Early research/engineering tooling, model evaluation and containment |</a:t>
            </a:r>
          </a:p>
          <a:p xmlns:a="http://schemas.openxmlformats.org/drawingml/2006/main">
            <a:r>
              <a:t>| [Roadmap and first 90 days](08-roadmap-backlog.md) | Milestones, dependencies, ownership and capacity rules |</a:t>
            </a:r>
          </a:p>
          <a:p xmlns:a="http://schemas.openxmlformats.org/drawingml/2006/main">
            <a:r>
              <a:t>| [Work packages](09-work-packages.md) | WP1–10 deliverables, acceptance and responsibilities |</a:t>
            </a:r>
          </a:p>
          <a:p xmlns:a="http://schemas.openxmlformats.org/drawingml/2006/main">
            <a:r>
              <a:t>| [Market and commercial model](10-market-business-model.md) | Competitors, discovery, pricing hypotheses, costs, open-core boundary |</a:t>
            </a:r>
          </a:p>
          <a:p xmlns:a="http://schemas.openxmlformats.org/drawingml/2006/main">
            <a:r>
              <a:t>| [Security, privacy and regulation](11-security-privacy-regulation.md) | Threat model, data handling, legal applicability and risk register |</a:t>
            </a:r>
          </a:p>
          <a:p xmlns:a="http://schemas.openxmlformats.org/drawingml/2006/main">
            <a:r>
              <a:t>| [Production and pilot handbook](12-production-handbook.md) | Release gates, runbooks, customer lifecycle and support |</a:t>
            </a:r>
          </a:p>
          <a:p xmlns:a="http://schemas.openxmlformats.org/drawingml/2006/main">
            <a:r>
              <a:t>| [Evidence and current developments](13-evidence-register.md) | Primary sources, dated news, use cases and limitations |</a:t>
            </a:r>
          </a:p>
          <a:p xmlns:a="http://schemas.openxmlformats.org/drawingml/2006/main">
            <a:r>
              <a:t>| [Decision register](14-decisions.md) | Accepted defaults, revisit triggers and outstanding external validations |</a:t>
            </a:r>
          </a:p>
          <a:p xmlns:a="http://schemas.openxmlformats.org/drawingml/2006/main">
            <a:r>
              <a:t/>
            </a:r>
          </a:p>
          <a:p xmlns:a="http://schemas.openxmlformats.org/drawingml/2006/main">
            <a:r>
              <a:t>## How to use this pack</a:t>
            </a:r>
          </a:p>
          <a:p xmlns:a="http://schemas.openxmlformats.org/drawingml/2006/main">
            <a:r>
              <a:t/>
            </a:r>
          </a:p>
          <a:p xmlns:a="http://schemas.openxmlformats.org/drawingml/2006/main">
            <a:r>
              <a:t>1. Assign actual people to the owner roles and record kickoff in the [roadmap](08-roadmap-backlog.md).</a:t>
            </a:r>
          </a:p>
          <a:p xmlns:a="http://schemas.openxmlformats.org/drawingml/2006/main">
            <a:r>
              <a:t>2. Import only the first-90-day backlog into the chosen issue tracker; preserve task IDs and acceptance evidence.</a:t>
            </a:r>
          </a:p>
          <a:p xmlns:a="http://schemas.openxmlformats.org/drawingml/2006/main">
            <a:r>
              <a:t>3. Store implementation and test artefacts against their task and release gate. A checkbox without evidence does not close a gate.</a:t>
            </a:r>
          </a:p>
          <a:p xmlns:a="http://schemas.openxmlformats.org/drawingml/2006/main">
            <a:r>
              <a:t>4. Review scope every two weeks, customer value monthly, and portfolio progression at each release gate.</a:t>
            </a:r>
          </a:p>
          <a:p xmlns:a="http://schemas.openxmlformats.org/drawingml/2006/main">
            <a:r>
              <a:t>5. Update source dates and legal/pricing checks before a customer commitment. Evidence is a dated snapshot, not a monitoring service.</a:t>
            </a:r>
          </a:p>
          <a:p xmlns:a="http://schemas.openxmlformats.org/drawingml/2006/main">
            <a:r>
              <a:t/>
            </a:r>
          </a:p>
          <a:p xmlns:a="http://schemas.openxmlformats.org/drawingml/2006/main">
            <a:r>
              <a:t>## Evidence conventions</a:t>
            </a:r>
          </a:p>
          <a:p xmlns:a="http://schemas.openxmlformats.org/drawingml/2006/main">
            <a:r>
              <a:t/>
            </a:r>
          </a:p>
          <a:p xmlns:a="http://schemas.openxmlformats.org/drawingml/2006/main">
            <a:r>
              <a:t>- **Local:** a project source or inspected prototype; does not establish external validity.</a:t>
            </a:r>
          </a:p>
          <a:p xmlns:a="http://schemas.openxmlformats.org/drawingml/2006/main">
            <a:r>
              <a:t>- **Primary research:** authors' paper or original study; preprints are labelled and findings remain bounded by evaluation conditions.</a:t>
            </a:r>
          </a:p>
          <a:p xmlns:a="http://schemas.openxmlformats.org/drawingml/2006/main">
            <a:r>
              <a:t>- **Official documentation:** upstream functionality or standards information; verify the pinned version during implementation.</a:t>
            </a:r>
          </a:p>
          <a:p xmlns:a="http://schemas.openxmlformats.org/drawingml/2006/main">
            <a:r>
              <a:t>- **Vendor claim/case:** vendor-reported positioning or outcome, not independent proof.</a:t>
            </a:r>
          </a:p>
          <a:p xmlns:a="http://schemas.openxmlformats.org/drawingml/2006/main">
            <a:r>
              <a:t>- **Design decision / hypothesis:** an AegisAI choice or proposed experiment, not a finding.</a:t>
            </a:r>
          </a:p>
          <a:p xmlns:a="http://schemas.openxmlformats.org/drawingml/2006/main">
            <a:r>
              <a:t/>
            </a:r>
          </a:p>
          <a:p xmlns:a="http://schemas.openxmlformats.org/drawingml/2006/main">
            <a:r>
              <a:t>Existing source files, [the approved plan](../plan.md), and the separate documentation portal are preserved. Relative links and ordinary Markdown keep this pack suitable for later Docusaurus import. This delivery creates documentation only; no product application, cloud deployment, vendor purchase, or customer communication is represented as completed.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0fa039f9f342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852259195d4ab1" /><Relationship Type="http://schemas.openxmlformats.org/officeDocument/2006/relationships/slideLayout" Target="/ppt/slideLayouts/slideLayout1.xml" Id="R231867f9d40446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1867f9d40446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a1bc245d4464b3e" /><Relationship Type="http://schemas.openxmlformats.org/officeDocument/2006/relationships/notesSlide" Target="/ppt/notesSlides/notesSlide1.xml" Id="R035147a1c488479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174ad0224ce4137" /><Relationship Type="http://schemas.openxmlformats.org/officeDocument/2006/relationships/notesSlide" Target="/ppt/notesSlides/notesSlide2.xml" Id="Ra4d14a7bef90465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5fdbb1e2f534816" /><Relationship Type="http://schemas.openxmlformats.org/officeDocument/2006/relationships/notesSlide" Target="/ppt/notesSlides/notesSlide3.xml" Id="R5faf73436f5c440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958533bc6a4488" /><Relationship Type="http://schemas.openxmlformats.org/officeDocument/2006/relationships/notesSlide" Target="/ppt/notesSlides/notesSlide4.xml" Id="R1d92b1131c944f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fdbdee73594076" /><Relationship Type="http://schemas.openxmlformats.org/officeDocument/2006/relationships/notesSlide" Target="/ppt/notesSlides/notesSlide5.xml" Id="Rbb6418335e5b4c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349519060c14df9" /><Relationship Type="http://schemas.openxmlformats.org/officeDocument/2006/relationships/notesSlide" Target="/ppt/notesSlides/notesSlide6.xml" Id="Rd8cad7b1e5bc4e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386f324ac8d4bbd" /><Relationship Type="http://schemas.openxmlformats.org/officeDocument/2006/relationships/notesSlide" Target="/ppt/notesSlides/notesSlide7.xml" Id="Rbe89ae5132964c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1b1c2f43254297" /><Relationship Type="http://schemas.openxmlformats.org/officeDocument/2006/relationships/notesSlide" Target="/ppt/notesSlides/notesSlide8.xml" Id="R8aaa10a3543441f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c6a02fdffe45c7" /><Relationship Type="http://schemas.openxmlformats.org/officeDocument/2006/relationships/notesSlide" Target="/ppt/notesSlides/notesSlide9.xml" Id="Rb6552578927546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2468d2f8be04b5c" /><Relationship Type="http://schemas.openxmlformats.org/officeDocument/2006/relationships/notesSlide" Target="/ppt/notesSlides/notesSlide10.xml" Id="R39f94ac0e60b4e8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185316be264cda" /><Relationship Type="http://schemas.openxmlformats.org/officeDocument/2006/relationships/notesSlide" Target="/ppt/notesSlides/notesSlide11.xml" Id="R144d42e0c1084a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34941e229604d7f" /><Relationship Type="http://schemas.openxmlformats.org/officeDocument/2006/relationships/notesSlide" Target="/ppt/notesSlides/notesSlide12.xml" Id="Rc601b940aa5e49c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6dc437c18454e09" /><Relationship Type="http://schemas.openxmlformats.org/officeDocument/2006/relationships/notesSlide" Target="/ppt/notesSlides/notesSlide13.xml" Id="R4b1ff84ff224411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a1740e5a1824c7b" /><Relationship Type="http://schemas.openxmlformats.org/officeDocument/2006/relationships/notesSlide" Target="/ppt/notesSlides/notesSlide14.xml" Id="Re5ca9f78bb9f4a0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b2536ce86ce4ac5" /><Relationship Type="http://schemas.openxmlformats.org/officeDocument/2006/relationships/notesSlide" Target="/ppt/notesSlides/notesSlide15.xml" Id="R70957c48456446e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598c81833f34bd0" /><Relationship Type="http://schemas.openxmlformats.org/officeDocument/2006/relationships/notesSlide" Target="/ppt/notesSlides/notesSlide16.xml" Id="Rf017eacd20bc43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7a8d251e6d84fe2" /><Relationship Type="http://schemas.openxmlformats.org/officeDocument/2006/relationships/notesSlide" Target="/ppt/notesSlides/notesSlide17.xml" Id="R45ea14987fd74c5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52949015e934978" /><Relationship Type="http://schemas.openxmlformats.org/officeDocument/2006/relationships/notesSlide" Target="/ppt/notesSlides/notesSlide18.xml" Id="R8490d8630ffe4ec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fa50a4838f14074" /><Relationship Type="http://schemas.openxmlformats.org/officeDocument/2006/relationships/notesSlide" Target="/ppt/notesSlides/notesSlide19.xml" Id="R6be0f2ae125a404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bf1c6d4438434a77" /><Relationship Type="http://schemas.openxmlformats.org/officeDocument/2006/relationships/notesSlide" Target="/ppt/notesSlides/notesSlide20.xml" Id="Ra9239362556d4e9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546365662ac54402" /><Relationship Type="http://schemas.openxmlformats.org/officeDocument/2006/relationships/notesSlide" Target="/ppt/notesSlides/notesSlide21.xml" Id="R10cdee1a7bc7402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4be5f6d19f44b8e" /><Relationship Type="http://schemas.openxmlformats.org/officeDocument/2006/relationships/notesSlide" Target="/ppt/notesSlides/notesSlide22.xml" Id="Refd5cfe0b05c4ff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190499404f9435e" /><Relationship Type="http://schemas.openxmlformats.org/officeDocument/2006/relationships/notesSlide" Target="/ppt/notesSlides/notesSlide23.xml" Id="R3f94d14f88fc4db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d350dbd59024d56" /><Relationship Type="http://schemas.openxmlformats.org/officeDocument/2006/relationships/notesSlide" Target="/ppt/notesSlides/notesSlide24.xml" Id="R3d4d99faa50a437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01202a24ba2041e1" /><Relationship Type="http://schemas.openxmlformats.org/officeDocument/2006/relationships/notesSlide" Target="/ppt/notesSlides/notesSlide25.xml" Id="R8c2cd5dc75cb4e21"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79e53945440476c" /><Relationship Type="http://schemas.openxmlformats.org/officeDocument/2006/relationships/notesSlide" Target="/ppt/notesSlides/notesSlide26.xml" Id="R3e3715cda58948a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5f6561a0fd042f5" /><Relationship Type="http://schemas.openxmlformats.org/officeDocument/2006/relationships/notesSlide" Target="/ppt/notesSlides/notesSlide27.xml" Id="R18ab5e9999c848d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e5a7f9b3367f4771" /><Relationship Type="http://schemas.openxmlformats.org/officeDocument/2006/relationships/notesSlide" Target="/ppt/notesSlides/notesSlide28.xml" Id="R945e360591b84a07"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97689934727b49ee" /><Relationship Type="http://schemas.openxmlformats.org/officeDocument/2006/relationships/notesSlide" Target="/ppt/notesSlides/notesSlide29.xml" Id="R09a8b4a1a62e448a"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d4331ae6b8514802" /><Relationship Type="http://schemas.openxmlformats.org/officeDocument/2006/relationships/notesSlide" Target="/ppt/notesSlides/notesSlide30.xml" Id="R210244d3462f4f4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3e9b115964254ba0" /><Relationship Type="http://schemas.openxmlformats.org/officeDocument/2006/relationships/notesSlide" Target="/ppt/notesSlides/notesSlide31.xml" Id="Rc60df601ee894cc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f45978f4ceea4e23" /><Relationship Type="http://schemas.openxmlformats.org/officeDocument/2006/relationships/notesSlide" Target="/ppt/notesSlides/notesSlide32.xml" Id="Rfb8f279e41a1462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92e9a584d305457b" /><Relationship Type="http://schemas.openxmlformats.org/officeDocument/2006/relationships/notesSlide" Target="/ppt/notesSlides/notesSlide33.xml" Id="R6d3520164c2145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a94f80df7474f01" /><Relationship Type="http://schemas.openxmlformats.org/officeDocument/2006/relationships/notesSlide" Target="/ppt/notesSlides/notesSlide34.xml" Id="Re0d009ec8b6b4f0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30feb8136bb4d3b" /><Relationship Type="http://schemas.openxmlformats.org/officeDocument/2006/relationships/notesSlide" Target="/ppt/notesSlides/notesSlide35.xml" Id="R17d9244aaf634ea4"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d410655cbc2b4c5a" /><Relationship Type="http://schemas.openxmlformats.org/officeDocument/2006/relationships/notesSlide" Target="/ppt/notesSlides/notesSlide36.xml" Id="R6cf48296e4b148e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23df68351bbe438c" /><Relationship Type="http://schemas.openxmlformats.org/officeDocument/2006/relationships/notesSlide" Target="/ppt/notesSlides/notesSlide37.xml" Id="R416558452d47420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b86376a8cfa94e1f" /><Relationship Type="http://schemas.openxmlformats.org/officeDocument/2006/relationships/notesSlide" Target="/ppt/notesSlides/notesSlide38.xml" Id="R6b3439f0ce654ca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83b6d0ccfbdf4d3b" /><Relationship Type="http://schemas.openxmlformats.org/officeDocument/2006/relationships/notesSlide" Target="/ppt/notesSlides/notesSlide39.xml" Id="R90dc97c133854bb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b1a1197db3e24b3b" /><Relationship Type="http://schemas.openxmlformats.org/officeDocument/2006/relationships/notesSlide" Target="/ppt/notesSlides/notesSlide40.xml" Id="Rabe0eeeb6a4d48b3"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b953434343bf4678" /><Relationship Type="http://schemas.openxmlformats.org/officeDocument/2006/relationships/notesSlide" Target="/ppt/notesSlides/notesSlide41.xml" Id="Rceb27c0d890b43c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c1ec4e6052784c92" /><Relationship Type="http://schemas.openxmlformats.org/officeDocument/2006/relationships/notesSlide" Target="/ppt/notesSlides/notesSlide42.xml" Id="R066c6420e7f741cb"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0e77665211e74a6e" /><Relationship Type="http://schemas.openxmlformats.org/officeDocument/2006/relationships/notesSlide" Target="/ppt/notesSlides/notesSlide43.xml" Id="Rd83f89c4690741c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22423bea73cc4472" /><Relationship Type="http://schemas.openxmlformats.org/officeDocument/2006/relationships/notesSlide" Target="/ppt/notesSlides/notesSlide44.xml" Id="R3726ffaeb8cc4a6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f99412b7e8cb4552" /><Relationship Type="http://schemas.openxmlformats.org/officeDocument/2006/relationships/notesSlide" Target="/ppt/notesSlides/notesSlide45.xml" Id="R1f8e7fe66d874d1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ca5459bd4084162" /><Relationship Type="http://schemas.openxmlformats.org/officeDocument/2006/relationships/notesSlide" Target="/ppt/notesSlides/notesSlide46.xml" Id="Rcab6f61cb1c245c1"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e7e96f3e8e364a14" /><Relationship Type="http://schemas.openxmlformats.org/officeDocument/2006/relationships/notesSlide" Target="/ppt/notesSlides/notesSlide47.xml" Id="R7383f202f4564c4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b5f77f1e4c74f8c" /><Relationship Type="http://schemas.openxmlformats.org/officeDocument/2006/relationships/notesSlide" Target="/ppt/notesSlides/notesSlide48.xml" Id="R0e36c5b7f40d463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b52971737c7242df" /><Relationship Type="http://schemas.openxmlformats.org/officeDocument/2006/relationships/notesSlide" Target="/ppt/notesSlides/notesSlide49.xml" Id="R3d8426b64c3e4879"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8d3b65038724ee4" /><Relationship Type="http://schemas.openxmlformats.org/officeDocument/2006/relationships/notesSlide" Target="/ppt/notesSlides/notesSlide50.xml" Id="Rf37ab88939b7434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e4e0b3aeacb48a2" /><Relationship Type="http://schemas.openxmlformats.org/officeDocument/2006/relationships/notesSlide" Target="/ppt/notesSlides/notesSlide51.xml" Id="R1330483ef5a14a49"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23306441868643f5" /><Relationship Type="http://schemas.openxmlformats.org/officeDocument/2006/relationships/notesSlide" Target="/ppt/notesSlides/notesSlide52.xml" Id="R8eb96db7e52047bd"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a77943f52a3d403d" /><Relationship Type="http://schemas.openxmlformats.org/officeDocument/2006/relationships/notesSlide" Target="/ppt/notesSlides/notesSlide53.xml" Id="Rbfd80002d2d5465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976fe334389745b9" /><Relationship Type="http://schemas.openxmlformats.org/officeDocument/2006/relationships/notesSlide" Target="/ppt/notesSlides/notesSlide54.xml" Id="R9adf9c205f4e4be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f82f1da47a4645a1" /><Relationship Type="http://schemas.openxmlformats.org/officeDocument/2006/relationships/notesSlide" Target="/ppt/notesSlides/notesSlide55.xml" Id="Ra964ca43ac664e2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481f6b22f2bb4221" /><Relationship Type="http://schemas.openxmlformats.org/officeDocument/2006/relationships/notesSlide" Target="/ppt/notesSlides/notesSlide56.xml" Id="Rd3e90efedd49491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9139e3714fa44c3f" /><Relationship Type="http://schemas.openxmlformats.org/officeDocument/2006/relationships/notesSlide" Target="/ppt/notesSlides/notesSlide57.xml" Id="R64501e60dff14c1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f18a10e3c05a4e4f" /><Relationship Type="http://schemas.openxmlformats.org/officeDocument/2006/relationships/notesSlide" Target="/ppt/notesSlides/notesSlide58.xml" Id="R5e6704eb03614409"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16907591dc2b47ec" /><Relationship Type="http://schemas.openxmlformats.org/officeDocument/2006/relationships/notesSlide" Target="/ppt/notesSlides/notesSlide59.xml" Id="Rcef67831e5fc4e31"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235e7f24f39c417d" /><Relationship Type="http://schemas.openxmlformats.org/officeDocument/2006/relationships/notesSlide" Target="/ppt/notesSlides/notesSlide60.xml" Id="R720084cb4b5f4b6b"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d55d0f99d7ea474d" /><Relationship Type="http://schemas.openxmlformats.org/officeDocument/2006/relationships/notesSlide" Target="/ppt/notesSlides/notesSlide61.xml" Id="R5d3e4e7be1bb4c5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a77abd270d744dfc" /><Relationship Type="http://schemas.openxmlformats.org/officeDocument/2006/relationships/notesSlide" Target="/ppt/notesSlides/notesSlide62.xml" Id="R4022dc64a85a40ee"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087322b82ae3400d" /><Relationship Type="http://schemas.openxmlformats.org/officeDocument/2006/relationships/notesSlide" Target="/ppt/notesSlides/notesSlide63.xml" Id="R07663c8390b74862" /></Relationships>
</file>

<file path=ppt/slides/slide1.xml><?xml version="1.0" encoding="utf-8"?>
<p:sld xmlns:p="http://schemas.openxmlformats.org/presentationml/2006/main">
  <p:cSld>
    <p:bg>
      <p:bgPr>
        <a:solidFill xmlns:a="http://schemas.openxmlformats.org/drawingml/2006/main">
          <a:srgbClr val="10293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0AA8462-520A-4847-BCD3-CF7650806A0D}"/>
              </a:ext>
            </a:extLst>
          </p:cNvPr>
          <p:cNvSpPr>
            <a:spLocks xmlns:a="http://schemas.openxmlformats.org/drawingml/2006/main" noGrp="1"/>
          </p:cNvSpPr>
          <p:nvPr/>
        </p:nvSpPr>
        <p:spPr>
          <a:xfrm xmlns:a="http://schemas.openxmlformats.org/drawingml/2006/main">
            <a:off x="685800" y="14763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AegisAI</a:t>
            </a:r>
          </a:p>
        </p:txBody>
      </p:sp>
      <p:sp>
        <p:nvSpPr>
          <p:cNvPr id="2" name="">
            <a:extLst xmlns:a="http://schemas.openxmlformats.org/drawingml/2006/main">
              <a:ext uri="{FF2B5EF4-FFF2-40B4-BE49-F238E27FC236}">
                <a16:creationId xmlns:a16="http://schemas.microsoft.com/office/drawing/2014/main" id="{72FEC178-2D58-4905-BD00-775F55947892}"/>
              </a:ext>
            </a:extLst>
          </p:cNvPr>
          <p:cNvSpPr>
            <a:spLocks xmlns:a="http://schemas.openxmlformats.org/drawingml/2006/main" noGrp="1"/>
          </p:cNvSpPr>
          <p:nvPr/>
        </p:nvSpPr>
        <p:spPr>
          <a:xfrm xmlns:a="http://schemas.openxmlformats.org/drawingml/2006/main">
            <a:off x="723900" y="2743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A9E0DF"/>
                </a:solidFill>
                <a:latin typeface="Arial"/>
                <a:ea typeface="Arial"/>
                <a:cs typeface="Arial"/>
              </a:defRPr>
            </a:pPr>
            <a:r>
              <a:rPr sz="2850" b="0">
                <a:solidFill>
                  <a:srgbClr val="A9E0DF"/>
                </a:solidFill>
                <a:latin typeface="Arial"/>
                <a:ea typeface="Arial"/>
                <a:cs typeface="Arial"/>
              </a:rPr>
              <a:t>Product portfolio and research programme</a:t>
            </a:r>
          </a:p>
        </p:txBody>
      </p:sp>
      <p:sp>
        <p:nvSpPr>
          <p:cNvPr id="3" name="">
            <a:extLst xmlns:a="http://schemas.openxmlformats.org/drawingml/2006/main">
              <a:ext uri="{FF2B5EF4-FFF2-40B4-BE49-F238E27FC236}">
                <a16:creationId xmlns:a16="http://schemas.microsoft.com/office/drawing/2014/main" id="{E81BA102-294E-4BB4-8FA5-19115530BA73}"/>
              </a:ext>
            </a:extLst>
          </p:cNvPr>
          <p:cNvSpPr>
            <a:spLocks xmlns:a="http://schemas.openxmlformats.org/drawingml/2006/main" noGrp="1"/>
          </p:cNvSpPr>
          <p:nvPr/>
        </p:nvSpPr>
        <p:spPr>
          <a:xfrm xmlns:a="http://schemas.openxmlformats.org/drawingml/2006/main">
            <a:off x="723900" y="461010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Team briefing</a:t>
            </a:r>
          </a:p>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24 months from kickoff</a:t>
            </a:r>
          </a:p>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Documentation baseline: 18 September 2026</a:t>
            </a:r>
          </a:p>
        </p:txBody>
      </p:sp>
    </p:spTree>
    <p:extLst>
      <p:ext uri="{BB962C8B-B14F-4D97-AF65-F5344CB8AC3E}">
        <p14:creationId xmlns:p14="http://schemas.microsoft.com/office/powerpoint/2010/main" val="640621100"/>
      </p:ext>
    </p:extLst>
  </p:cSld>
</p:sld>
</file>

<file path=ppt/slides/slide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AA3518A-8C97-4A8E-A05D-2B87A562122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Project direction and current status</a:t>
            </a:r>
          </a:p>
        </p:txBody>
      </p:sp>
      <p:sp>
        <p:nvSpPr>
          <p:cNvPr id="2" name="">
            <a:extLst xmlns:a="http://schemas.openxmlformats.org/drawingml/2006/main">
              <a:ext uri="{FF2B5EF4-FFF2-40B4-BE49-F238E27FC236}">
                <a16:creationId xmlns:a16="http://schemas.microsoft.com/office/drawing/2014/main" id="{A15B784F-8430-49A2-B022-F30BA98ADF9C}"/>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Four independently usable products share one platform.</a:t>
            </a:r>
          </a:p>
        </p:txBody>
      </p:sp>
      <p:sp>
        <p:nvSpPr>
          <p:cNvPr id="3" name="">
            <a:extLst xmlns:a="http://schemas.openxmlformats.org/drawingml/2006/main">
              <a:ext uri="{FF2B5EF4-FFF2-40B4-BE49-F238E27FC236}">
                <a16:creationId xmlns:a16="http://schemas.microsoft.com/office/drawing/2014/main" id="{9C12E8E4-5260-412A-8A15-17558283F68F}"/>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Own products</a:t>
            </a:r>
          </a:p>
        </p:txBody>
      </p:sp>
      <p:sp>
        <p:nvSpPr>
          <p:cNvPr id="4" name="">
            <a:extLst xmlns:a="http://schemas.openxmlformats.org/drawingml/2006/main">
              <a:ext uri="{FF2B5EF4-FFF2-40B4-BE49-F238E27FC236}">
                <a16:creationId xmlns:a16="http://schemas.microsoft.com/office/drawing/2014/main" id="{5C6C21C7-28D0-433E-8FF6-EAF05C81C85B}"/>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AegisAI owns the workflows, evidence model, customer experience and operations.</a:t>
            </a:r>
          </a:p>
        </p:txBody>
      </p:sp>
      <p:sp>
        <p:nvSpPr>
          <p:cNvPr id="5" name="">
            <a:extLst xmlns:a="http://schemas.openxmlformats.org/drawingml/2006/main">
              <a:ext uri="{FF2B5EF4-FFF2-40B4-BE49-F238E27FC236}">
                <a16:creationId xmlns:a16="http://schemas.microsoft.com/office/drawing/2014/main" id="{B310DCBE-6BDF-4806-A52B-31247B39B400}"/>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First delivery</a:t>
            </a:r>
          </a:p>
        </p:txBody>
      </p:sp>
      <p:sp>
        <p:nvSpPr>
          <p:cNvPr id="6" name="">
            <a:extLst xmlns:a="http://schemas.openxmlformats.org/drawingml/2006/main">
              <a:ext uri="{FF2B5EF4-FFF2-40B4-BE49-F238E27FC236}">
                <a16:creationId xmlns:a16="http://schemas.microsoft.com/office/drawing/2014/main" id="{57051D05-C623-42E2-B4AC-ADA9095F1ED3}"/>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Human Firewall reaches its first production release within months 3–6.</a:t>
            </a:r>
          </a:p>
        </p:txBody>
      </p:sp>
      <p:sp>
        <p:nvSpPr>
          <p:cNvPr id="7" name="">
            <a:extLst xmlns:a="http://schemas.openxmlformats.org/drawingml/2006/main">
              <a:ext uri="{FF2B5EF4-FFF2-40B4-BE49-F238E27FC236}">
                <a16:creationId xmlns:a16="http://schemas.microsoft.com/office/drawing/2014/main" id="{7AF0B3DB-6A4A-4FAB-B0F9-E27CA3F3867E}"/>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Implementation status</a:t>
            </a:r>
          </a:p>
        </p:txBody>
      </p:sp>
      <p:sp>
        <p:nvSpPr>
          <p:cNvPr id="8" name="">
            <a:extLst xmlns:a="http://schemas.openxmlformats.org/drawingml/2006/main">
              <a:ext uri="{FF2B5EF4-FFF2-40B4-BE49-F238E27FC236}">
                <a16:creationId xmlns:a16="http://schemas.microsoft.com/office/drawing/2014/main" id="{8F920FBF-9A6A-4113-B49F-2216324825F9}"/>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The documentation defines planned work. Product releases and customer validation remain ahead.</a:t>
            </a:r>
          </a:p>
        </p:txBody>
      </p:sp>
      <p:sp>
        <p:nvSpPr>
          <p:cNvPr id="9" name="">
            <a:extLst xmlns:a="http://schemas.openxmlformats.org/drawingml/2006/main">
              <a:ext uri="{FF2B5EF4-FFF2-40B4-BE49-F238E27FC236}">
                <a16:creationId xmlns:a16="http://schemas.microsoft.com/office/drawing/2014/main" id="{88195C52-4044-4231-AEDE-DF7320073FF1}"/>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Planning basis</a:t>
            </a:r>
          </a:p>
        </p:txBody>
      </p:sp>
      <p:sp>
        <p:nvSpPr>
          <p:cNvPr id="10" name="">
            <a:extLst xmlns:a="http://schemas.openxmlformats.org/drawingml/2006/main">
              <a:ext uri="{FF2B5EF4-FFF2-40B4-BE49-F238E27FC236}">
                <a16:creationId xmlns:a16="http://schemas.microsoft.com/office/drawing/2014/main" id="{27B1037C-3F5E-4360-9406-30937C7A1CA8}"/>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 lean team of 2–4 contributors runs one primary product stream.</a:t>
            </a:r>
          </a:p>
        </p:txBody>
      </p:sp>
      <p:sp>
        <p:nvSpPr>
          <p:cNvPr id="11" name="">
            <a:extLst xmlns:a="http://schemas.openxmlformats.org/drawingml/2006/main">
              <a:ext uri="{FF2B5EF4-FFF2-40B4-BE49-F238E27FC236}">
                <a16:creationId xmlns:a16="http://schemas.microsoft.com/office/drawing/2014/main" id="{69CB5AA1-9D01-4BDE-A0BE-F497FB49CAC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02</a:t>
            </a:r>
          </a:p>
        </p:txBody>
      </p:sp>
    </p:spTree>
    <p:extLst>
      <p:ext uri="{BB962C8B-B14F-4D97-AF65-F5344CB8AC3E}">
        <p14:creationId xmlns:p14="http://schemas.microsoft.com/office/powerpoint/2010/main" val="166688083"/>
      </p:ext>
    </p:extLst>
  </p:cSld>
</p:sld>
</file>

<file path=ppt/slides/slide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D589FDD-27E0-4D64-86E3-F01D48C473D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Team discussion</a:t>
            </a:r>
          </a:p>
        </p:txBody>
      </p:sp>
      <p:sp>
        <p:nvSpPr>
          <p:cNvPr id="2" name="">
            <a:extLst xmlns:a="http://schemas.openxmlformats.org/drawingml/2006/main">
              <a:ext uri="{FF2B5EF4-FFF2-40B4-BE49-F238E27FC236}">
                <a16:creationId xmlns:a16="http://schemas.microsoft.com/office/drawing/2014/main" id="{ABBCD442-1976-48D9-A48E-4D4DD34F41AF}"/>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01  Products</a:t>
            </a:r>
          </a:p>
        </p:txBody>
      </p:sp>
      <p:sp>
        <p:nvSpPr>
          <p:cNvPr id="3" name="">
            <a:extLst xmlns:a="http://schemas.openxmlformats.org/drawingml/2006/main">
              <a:ext uri="{FF2B5EF4-FFF2-40B4-BE49-F238E27FC236}">
                <a16:creationId xmlns:a16="http://schemas.microsoft.com/office/drawing/2014/main" id="{DE04A29D-7DF5-4115-AA2F-AB73A6C31A63}"/>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Customer outcomes and release boundaries</a:t>
            </a:r>
          </a:p>
        </p:txBody>
      </p:sp>
      <p:sp>
        <p:nvSpPr>
          <p:cNvPr id="4" name="">
            <a:extLst xmlns:a="http://schemas.openxmlformats.org/drawingml/2006/main">
              <a:ext uri="{FF2B5EF4-FFF2-40B4-BE49-F238E27FC236}">
                <a16:creationId xmlns:a16="http://schemas.microsoft.com/office/drawing/2014/main" id="{F50DC4B3-BC23-4888-8321-15351A8FA47B}"/>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02  Platform</a:t>
            </a:r>
          </a:p>
        </p:txBody>
      </p:sp>
      <p:sp>
        <p:nvSpPr>
          <p:cNvPr id="5" name="">
            <a:extLst xmlns:a="http://schemas.openxmlformats.org/drawingml/2006/main">
              <a:ext uri="{FF2B5EF4-FFF2-40B4-BE49-F238E27FC236}">
                <a16:creationId xmlns:a16="http://schemas.microsoft.com/office/drawing/2014/main" id="{409714DA-746A-41F2-9EB5-8DFA67C3C9AA}"/>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Architecture, NetBird and interfaces</a:t>
            </a:r>
          </a:p>
        </p:txBody>
      </p:sp>
      <p:sp>
        <p:nvSpPr>
          <p:cNvPr id="6" name="">
            <a:extLst xmlns:a="http://schemas.openxmlformats.org/drawingml/2006/main">
              <a:ext uri="{FF2B5EF4-FFF2-40B4-BE49-F238E27FC236}">
                <a16:creationId xmlns:a16="http://schemas.microsoft.com/office/drawing/2014/main" id="{55472FDB-F6DF-4E9B-A8B2-921AFC3B4B72}"/>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03  Research</a:t>
            </a:r>
          </a:p>
        </p:txBody>
      </p:sp>
      <p:sp>
        <p:nvSpPr>
          <p:cNvPr id="7" name="">
            <a:extLst xmlns:a="http://schemas.openxmlformats.org/drawingml/2006/main">
              <a:ext uri="{FF2B5EF4-FFF2-40B4-BE49-F238E27FC236}">
                <a16:creationId xmlns:a16="http://schemas.microsoft.com/office/drawing/2014/main" id="{942465D1-DE45-4AE6-BCED-0A1E39EFA3CF}"/>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Experiments, agent workspace and evidence</a:t>
            </a:r>
          </a:p>
        </p:txBody>
      </p:sp>
      <p:sp>
        <p:nvSpPr>
          <p:cNvPr id="8" name="">
            <a:extLst xmlns:a="http://schemas.openxmlformats.org/drawingml/2006/main">
              <a:ext uri="{FF2B5EF4-FFF2-40B4-BE49-F238E27FC236}">
                <a16:creationId xmlns:a16="http://schemas.microsoft.com/office/drawing/2014/main" id="{E0D4C8D5-BCA6-471A-9341-6B49F289949D}"/>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04  Delivery</a:t>
            </a:r>
          </a:p>
        </p:txBody>
      </p:sp>
      <p:sp>
        <p:nvSpPr>
          <p:cNvPr id="9" name="">
            <a:extLst xmlns:a="http://schemas.openxmlformats.org/drawingml/2006/main">
              <a:ext uri="{FF2B5EF4-FFF2-40B4-BE49-F238E27FC236}">
                <a16:creationId xmlns:a16="http://schemas.microsoft.com/office/drawing/2014/main" id="{2BE3DA50-4221-435B-B630-188649BEC040}"/>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Roadmap, owners, business model and release gates</a:t>
            </a:r>
          </a:p>
        </p:txBody>
      </p:sp>
      <p:sp>
        <p:nvSpPr>
          <p:cNvPr id="10" name="">
            <a:extLst xmlns:a="http://schemas.openxmlformats.org/drawingml/2006/main">
              <a:ext uri="{FF2B5EF4-FFF2-40B4-BE49-F238E27FC236}">
                <a16:creationId xmlns:a16="http://schemas.microsoft.com/office/drawing/2014/main" id="{620476D0-883F-49EC-AA5E-A89F0279036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03</a:t>
            </a:r>
          </a:p>
        </p:txBody>
      </p:sp>
    </p:spTree>
    <p:extLst>
      <p:ext uri="{BB962C8B-B14F-4D97-AF65-F5344CB8AC3E}">
        <p14:creationId xmlns:p14="http://schemas.microsoft.com/office/powerpoint/2010/main" val="1877905023"/>
      </p:ext>
    </p:extLst>
  </p:cSld>
</p:sld>
</file>

<file path=ppt/slides/slide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38C11B6-DAA2-4CFA-877B-8AC6FF99C9D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The original vision remains broader than training</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Security lifecycle</a:t>
                      </a:r>
                    </a:p>
                  </a:txBody>
                  <a:tcPr marL="91440" marR="91440" marT="45720" marB="45720">
                    <a:solidFill>
                      <a:srgbClr val="102938"/>
                    </a:solidFill>
                  </a:tcPr>
                </a:tc>
                <a:tc>
                  <a:txBody>
                    <a:bodyPr/>
                    <a:lstStyle/>
                    <a:p>
                      <a:r>
                        <a:rPr sz="1800" b="1">
                          <a:solidFill>
                            <a:srgbClr val="FFFFFF"/>
                          </a:solidFill>
                          <a:latin typeface="Arial"/>
                          <a:ea typeface="Arial"/>
                          <a:cs typeface="Arial"/>
                        </a:rPr>
                        <a:t>Portfolio capabilities</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Govern and identify</a:t>
                      </a:r>
                    </a:p>
                  </a:txBody>
                  <a:tcPr marL="91440" marR="91440" marT="45720" marB="45720">
                    <a:solidFill>
                      <a:srgbClr val="FFFFFF"/>
                    </a:solidFill>
                  </a:tcPr>
                </a:tc>
                <a:tc>
                  <a:txBody>
                    <a:bodyPr/>
                    <a:lstStyle/>
                    <a:p>
                      <a:r>
                        <a:rPr sz="1800" b="0">
                          <a:solidFill>
                            <a:srgbClr val="142C3E"/>
                          </a:solidFill>
                          <a:latin typeface="Arial"/>
                          <a:ea typeface="Arial"/>
                          <a:cs typeface="Arial"/>
                        </a:rPr>
                        <a:t>Evidence mapping, assets, software dependencies and data governance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Protect and detect</a:t>
                      </a:r>
                    </a:p>
                  </a:txBody>
                  <a:tcPr marL="91440" marR="91440" marT="45720" marB="45720">
                    <a:solidFill>
                      <a:srgbClr val="EEF3F5"/>
                    </a:solidFill>
                  </a:tcPr>
                </a:tc>
                <a:tc>
                  <a:txBody>
                    <a:bodyPr/>
                    <a:lstStyle/>
                    <a:p>
                      <a:r>
                        <a:rPr sz="1800" b="0">
                          <a:solidFill>
                            <a:srgbClr val="142C3E"/>
                          </a:solidFill>
                          <a:latin typeface="Arial"/>
                          <a:ea typeface="Arial"/>
                          <a:cs typeface="Arial"/>
                        </a:rPr>
                        <a:t>Learning, access recommendations, local monitoring and UEBA research</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Respond and recover</a:t>
                      </a:r>
                    </a:p>
                  </a:txBody>
                  <a:tcPr marL="91440" marR="91440" marT="45720" marB="45720">
                    <a:solidFill>
                      <a:srgbClr val="FFFFFF"/>
                    </a:solidFill>
                  </a:tcPr>
                </a:tc>
                <a:tc>
                  <a:txBody>
                    <a:bodyPr/>
                    <a:lstStyle/>
                    <a:p>
                      <a:r>
                        <a:rPr sz="1800" b="0">
                          <a:solidFill>
                            <a:srgbClr val="142C3E"/>
                          </a:solidFill>
                          <a:latin typeface="Arial"/>
                          <a:ea typeface="Arial"/>
                          <a:cs typeface="Arial"/>
                        </a:rPr>
                        <a:t>Guided remediation, approved actions and recovery exercises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Longer-term development</a:t>
                      </a:r>
                    </a:p>
                  </a:txBody>
                  <a:tcPr marL="91440" marR="91440" marT="45720" marB="45720">
                    <a:solidFill>
                      <a:srgbClr val="EEF3F5"/>
                    </a:solidFill>
                  </a:tcPr>
                </a:tc>
                <a:tc>
                  <a:txBody>
                    <a:bodyPr/>
                    <a:lstStyle/>
                    <a:p>
                      <a:r>
                        <a:rPr sz="1800" b="0">
                          <a:solidFill>
                            <a:srgbClr val="142C3E"/>
                          </a:solidFill>
                          <a:latin typeface="Arial"/>
                          <a:ea typeface="Arial"/>
                          <a:cs typeface="Arial"/>
                        </a:rPr>
                        <a:t>Federation, industrial monitoring, insurance evidence and new markets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1E478051-57AB-407A-A163-21606B44249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04</a:t>
            </a:r>
          </a:p>
        </p:txBody>
      </p:sp>
    </p:spTree>
    <p:extLst>
      <p:ext uri="{BB962C8B-B14F-4D97-AF65-F5344CB8AC3E}">
        <p14:creationId xmlns:p14="http://schemas.microsoft.com/office/powerpoint/2010/main" val="1480498811"/>
      </p:ext>
    </p:extLst>
  </p:cSld>
</p:sld>
</file>

<file path=ppt/slides/slide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ADEDD5-9685-4CF5-8E01-3AFDCDF1CAD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Decisions that reshape the earlier plans</a:t>
            </a:r>
          </a:p>
        </p:txBody>
      </p:sp>
      <p:sp>
        <p:nvSpPr>
          <p:cNvPr id="2" name="">
            <a:extLst xmlns:a="http://schemas.openxmlformats.org/drawingml/2006/main">
              <a:ext uri="{FF2B5EF4-FFF2-40B4-BE49-F238E27FC236}">
                <a16:creationId xmlns:a16="http://schemas.microsoft.com/office/drawing/2014/main" id="{E9B1BCC9-C915-430E-8B65-B84E0FFEF525}"/>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Shorter first product</a:t>
            </a:r>
          </a:p>
        </p:txBody>
      </p:sp>
      <p:sp>
        <p:nvSpPr>
          <p:cNvPr id="3" name="">
            <a:extLst xmlns:a="http://schemas.openxmlformats.org/drawingml/2006/main">
              <a:ext uri="{FF2B5EF4-FFF2-40B4-BE49-F238E27FC236}">
                <a16:creationId xmlns:a16="http://schemas.microsoft.com/office/drawing/2014/main" id="{2AA9DCF7-45E5-4D71-9FE9-DB59D94CF522}"/>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Gamification has a 3–6-month delivery window, followed by capped maintenance.</a:t>
            </a:r>
          </a:p>
        </p:txBody>
      </p:sp>
      <p:sp>
        <p:nvSpPr>
          <p:cNvPr id="4" name="">
            <a:extLst xmlns:a="http://schemas.openxmlformats.org/drawingml/2006/main">
              <a:ext uri="{FF2B5EF4-FFF2-40B4-BE49-F238E27FC236}">
                <a16:creationId xmlns:a16="http://schemas.microsoft.com/office/drawing/2014/main" id="{DB626C49-DAB0-414C-904C-C1B584E2A702}"/>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Earlier engineering foundations</a:t>
            </a:r>
          </a:p>
        </p:txBody>
      </p:sp>
      <p:sp>
        <p:nvSpPr>
          <p:cNvPr id="5" name="">
            <a:extLst xmlns:a="http://schemas.openxmlformats.org/drawingml/2006/main">
              <a:ext uri="{FF2B5EF4-FFF2-40B4-BE49-F238E27FC236}">
                <a16:creationId xmlns:a16="http://schemas.microsoft.com/office/drawing/2014/main" id="{78AC720A-F769-4B78-9136-2072EAA58FE3}"/>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Identity, deployment, observability and recovery start before the first pilot.</a:t>
            </a:r>
          </a:p>
        </p:txBody>
      </p:sp>
      <p:sp>
        <p:nvSpPr>
          <p:cNvPr id="6" name="">
            <a:extLst xmlns:a="http://schemas.openxmlformats.org/drawingml/2006/main">
              <a:ext uri="{FF2B5EF4-FFF2-40B4-BE49-F238E27FC236}">
                <a16:creationId xmlns:a16="http://schemas.microsoft.com/office/drawing/2014/main" id="{24BC4E8D-CFF6-4166-BBE8-13A579630976}"/>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Evidence before claims</a:t>
            </a:r>
          </a:p>
        </p:txBody>
      </p:sp>
      <p:sp>
        <p:nvSpPr>
          <p:cNvPr id="7" name="">
            <a:extLst xmlns:a="http://schemas.openxmlformats.org/drawingml/2006/main">
              <a:ext uri="{FF2B5EF4-FFF2-40B4-BE49-F238E27FC236}">
                <a16:creationId xmlns:a16="http://schemas.microsoft.com/office/drawing/2014/main" id="{9038F6B8-C92C-4BC6-84B5-A3FBF454C3F4}"/>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Synthetic demonstrations and research prototypes stay distinct from customer results.</a:t>
            </a:r>
          </a:p>
        </p:txBody>
      </p:sp>
      <p:sp>
        <p:nvSpPr>
          <p:cNvPr id="8" name="">
            <a:extLst xmlns:a="http://schemas.openxmlformats.org/drawingml/2006/main">
              <a:ext uri="{FF2B5EF4-FFF2-40B4-BE49-F238E27FC236}">
                <a16:creationId xmlns:a16="http://schemas.microsoft.com/office/drawing/2014/main" id="{27C3882F-3795-4710-956F-D19A97F2536A}"/>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Selective upstream reuse</a:t>
            </a:r>
          </a:p>
        </p:txBody>
      </p:sp>
      <p:sp>
        <p:nvSpPr>
          <p:cNvPr id="9" name="">
            <a:extLst xmlns:a="http://schemas.openxmlformats.org/drawingml/2006/main">
              <a:ext uri="{FF2B5EF4-FFF2-40B4-BE49-F238E27FC236}">
                <a16:creationId xmlns:a16="http://schemas.microsoft.com/office/drawing/2014/main" id="{2479AA00-2892-4FF7-9CB5-6D29634A7D61}"/>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NetBird informs architecture and business design. Its use stays optional.</a:t>
            </a:r>
          </a:p>
        </p:txBody>
      </p:sp>
      <p:sp>
        <p:nvSpPr>
          <p:cNvPr id="10" name="">
            <a:extLst xmlns:a="http://schemas.openxmlformats.org/drawingml/2006/main">
              <a:ext uri="{FF2B5EF4-FFF2-40B4-BE49-F238E27FC236}">
                <a16:creationId xmlns:a16="http://schemas.microsoft.com/office/drawing/2014/main" id="{3783112D-BAFD-43FE-BEA2-E7BA7F2C39A9}"/>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05</a:t>
            </a:r>
          </a:p>
        </p:txBody>
      </p:sp>
    </p:spTree>
    <p:extLst>
      <p:ext uri="{BB962C8B-B14F-4D97-AF65-F5344CB8AC3E}">
        <p14:creationId xmlns:p14="http://schemas.microsoft.com/office/powerpoint/2010/main" val="1076631791"/>
      </p:ext>
    </p:extLst>
  </p:cSld>
</p:sld>
</file>

<file path=ppt/slides/slide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F7507CA-8865-47AA-8758-E2922253B2B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Four products and their release windows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Product</a:t>
                      </a:r>
                    </a:p>
                  </a:txBody>
                  <a:tcPr marL="91440" marR="91440" marT="45720" marB="45720">
                    <a:solidFill>
                      <a:srgbClr val="102938"/>
                    </a:solidFill>
                  </a:tcPr>
                </a:tc>
                <a:tc>
                  <a:txBody>
                    <a:bodyPr/>
                    <a:lstStyle/>
                    <a:p>
                      <a:r>
                        <a:rPr sz="1800" b="1">
                          <a:solidFill>
                            <a:srgbClr val="FFFFFF"/>
                          </a:solidFill>
                          <a:latin typeface="Arial"/>
                          <a:ea typeface="Arial"/>
                          <a:cs typeface="Arial"/>
                        </a:rPr>
                        <a:t>Production target</a:t>
                      </a:r>
                    </a:p>
                  </a:txBody>
                  <a:tcPr marL="91440" marR="91440" marT="45720" marB="45720">
                    <a:solidFill>
                      <a:srgbClr val="102938"/>
                    </a:solidFill>
                  </a:tcPr>
                </a:tc>
                <a:tc>
                  <a:txBody>
                    <a:bodyPr/>
                    <a:lstStyle/>
                    <a:p>
                      <a:r>
                        <a:rPr sz="1800" b="1">
                          <a:solidFill>
                            <a:srgbClr val="FFFFFF"/>
                          </a:solidFill>
                          <a:latin typeface="Arial"/>
                          <a:ea typeface="Arial"/>
                          <a:cs typeface="Arial"/>
                        </a:rPr>
                        <a:t>Customer outcome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Human Firewall</a:t>
                      </a:r>
                    </a:p>
                  </a:txBody>
                  <a:tcPr marL="91440" marR="91440" marT="45720" marB="45720">
                    <a:solidFill>
                      <a:srgbClr val="FFFFFF"/>
                    </a:solidFill>
                  </a:tcPr>
                </a:tc>
                <a:tc>
                  <a:txBody>
                    <a:bodyPr/>
                    <a:lstStyle/>
                    <a:p>
                      <a:r>
                        <a:rPr sz="1800" b="0">
                          <a:solidFill>
                            <a:srgbClr val="142C3E"/>
                          </a:solidFill>
                          <a:latin typeface="Arial"/>
                          <a:ea typeface="Arial"/>
                          <a:cs typeface="Arial"/>
                        </a:rPr>
                        <a:t>Months 3–6</a:t>
                      </a:r>
                    </a:p>
                  </a:txBody>
                  <a:tcPr marL="91440" marR="91440" marT="45720" marB="45720">
                    <a:solidFill>
                      <a:srgbClr val="FFFFFF"/>
                    </a:solidFill>
                  </a:tcPr>
                </a:tc>
                <a:tc>
                  <a:txBody>
                    <a:bodyPr/>
                    <a:lstStyle/>
                    <a:p>
                      <a:r>
                        <a:rPr sz="1800" b="0">
                          <a:solidFill>
                            <a:srgbClr val="142C3E"/>
                          </a:solidFill>
                          <a:latin typeface="Arial"/>
                          <a:ea typeface="Arial"/>
                          <a:cs typeface="Arial"/>
                        </a:rPr>
                        <a:t>Learning and reporting behaviour</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Security Operations</a:t>
                      </a:r>
                    </a:p>
                  </a:txBody>
                  <a:tcPr marL="91440" marR="91440" marT="45720" marB="45720">
                    <a:solidFill>
                      <a:srgbClr val="EEF3F5"/>
                    </a:solidFill>
                  </a:tcPr>
                </a:tc>
                <a:tc>
                  <a:txBody>
                    <a:bodyPr/>
                    <a:lstStyle/>
                    <a:p>
                      <a:r>
                        <a:rPr sz="1800" b="0">
                          <a:solidFill>
                            <a:srgbClr val="142C3E"/>
                          </a:solidFill>
                          <a:latin typeface="Arial"/>
                          <a:ea typeface="Arial"/>
                          <a:cs typeface="Arial"/>
                        </a:rPr>
                        <a:t>Months 10–12</a:t>
                      </a:r>
                    </a:p>
                  </a:txBody>
                  <a:tcPr marL="91440" marR="91440" marT="45720" marB="45720">
                    <a:solidFill>
                      <a:srgbClr val="EEF3F5"/>
                    </a:solidFill>
                  </a:tcPr>
                </a:tc>
                <a:tc>
                  <a:txBody>
                    <a:bodyPr/>
                    <a:lstStyle/>
                    <a:p>
                      <a:r>
                        <a:rPr sz="1800" b="0">
                          <a:solidFill>
                            <a:srgbClr val="142C3E"/>
                          </a:solidFill>
                          <a:latin typeface="Arial"/>
                          <a:ea typeface="Arial"/>
                          <a:cs typeface="Arial"/>
                        </a:rPr>
                        <a:t>Exposure, findings and guided response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Defense Box and Validation</a:t>
                      </a:r>
                    </a:p>
                  </a:txBody>
                  <a:tcPr marL="91440" marR="91440" marT="45720" marB="45720">
                    <a:solidFill>
                      <a:srgbClr val="FFFFFF"/>
                    </a:solidFill>
                  </a:tcPr>
                </a:tc>
                <a:tc>
                  <a:txBody>
                    <a:bodyPr/>
                    <a:lstStyle/>
                    <a:p>
                      <a:r>
                        <a:rPr sz="1800" b="0">
                          <a:solidFill>
                            <a:srgbClr val="142C3E"/>
                          </a:solidFill>
                          <a:latin typeface="Arial"/>
                          <a:ea typeface="Arial"/>
                          <a:cs typeface="Arial"/>
                        </a:rPr>
                        <a:t>Months 16–18</a:t>
                      </a:r>
                    </a:p>
                  </a:txBody>
                  <a:tcPr marL="91440" marR="91440" marT="45720" marB="45720">
                    <a:solidFill>
                      <a:srgbClr val="FFFFFF"/>
                    </a:solidFill>
                  </a:tcPr>
                </a:tc>
                <a:tc>
                  <a:txBody>
                    <a:bodyPr/>
                    <a:lstStyle/>
                    <a:p>
                      <a:r>
                        <a:rPr sz="1800" b="0">
                          <a:solidFill>
                            <a:srgbClr val="142C3E"/>
                          </a:solidFill>
                          <a:latin typeface="Arial"/>
                          <a:ea typeface="Arial"/>
                          <a:cs typeface="Arial"/>
                        </a:rPr>
                        <a:t>Local monitoring and repeatable checks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 Security</a:t>
                      </a:r>
                    </a:p>
                  </a:txBody>
                  <a:tcPr marL="91440" marR="91440" marT="45720" marB="45720">
                    <a:solidFill>
                      <a:srgbClr val="EEF3F5"/>
                    </a:solidFill>
                  </a:tcPr>
                </a:tc>
                <a:tc>
                  <a:txBody>
                    <a:bodyPr/>
                    <a:lstStyle/>
                    <a:p>
                      <a:r>
                        <a:rPr sz="1800" b="0">
                          <a:solidFill>
                            <a:srgbClr val="142C3E"/>
                          </a:solidFill>
                          <a:latin typeface="Arial"/>
                          <a:ea typeface="Arial"/>
                          <a:cs typeface="Arial"/>
                        </a:rPr>
                        <a:t>Months 22–24</a:t>
                      </a:r>
                    </a:p>
                  </a:txBody>
                  <a:tcPr marL="91440" marR="91440" marT="45720" marB="45720">
                    <a:solidFill>
                      <a:srgbClr val="EEF3F5"/>
                    </a:solidFill>
                  </a:tcPr>
                </a:tc>
                <a:tc>
                  <a:txBody>
                    <a:bodyPr/>
                    <a:lstStyle/>
                    <a:p>
                      <a:r>
                        <a:rPr sz="1800" b="0">
                          <a:solidFill>
                            <a:srgbClr val="142C3E"/>
                          </a:solidFill>
                          <a:latin typeface="Arial"/>
                          <a:ea typeface="Arial"/>
                          <a:cs typeface="Arial"/>
                        </a:rPr>
                        <a:t>Agent authority and execution evidence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26CA349C-2457-4AB9-A722-B64E63797235}"/>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Targets depend on release evidence and capacity. Months start at kickoff.</a:t>
            </a:r>
          </a:p>
        </p:txBody>
      </p:sp>
      <p:sp>
        <p:nvSpPr>
          <p:cNvPr id="4" name="">
            <a:extLst xmlns:a="http://schemas.openxmlformats.org/drawingml/2006/main">
              <a:ext uri="{FF2B5EF4-FFF2-40B4-BE49-F238E27FC236}">
                <a16:creationId xmlns:a16="http://schemas.microsoft.com/office/drawing/2014/main" id="{29186AA2-9841-4864-800E-7140E5311D47}"/>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06</a:t>
            </a:r>
          </a:p>
        </p:txBody>
      </p:sp>
    </p:spTree>
    <p:extLst>
      <p:ext uri="{BB962C8B-B14F-4D97-AF65-F5344CB8AC3E}">
        <p14:creationId xmlns:p14="http://schemas.microsoft.com/office/powerpoint/2010/main" val="643739260"/>
      </p:ext>
    </p:extLst>
  </p:cSld>
</p:sld>
</file>

<file path=ppt/slides/slide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382BBB-8E74-4888-81CE-EB13DCA31BEC}"/>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Customers and product buyers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Product</a:t>
                      </a:r>
                    </a:p>
                  </a:txBody>
                  <a:tcPr marL="91440" marR="91440" marT="45720" marB="45720">
                    <a:solidFill>
                      <a:srgbClr val="102938"/>
                    </a:solidFill>
                  </a:tcPr>
                </a:tc>
                <a:tc>
                  <a:txBody>
                    <a:bodyPr/>
                    <a:lstStyle/>
                    <a:p>
                      <a:r>
                        <a:rPr sz="1800" b="1">
                          <a:solidFill>
                            <a:srgbClr val="FFFFFF"/>
                          </a:solidFill>
                          <a:latin typeface="Arial"/>
                          <a:ea typeface="Arial"/>
                          <a:cs typeface="Arial"/>
                        </a:rPr>
                        <a:t>Initial buyer</a:t>
                      </a:r>
                    </a:p>
                  </a:txBody>
                  <a:tcPr marL="91440" marR="91440" marT="45720" marB="45720">
                    <a:solidFill>
                      <a:srgbClr val="102938"/>
                    </a:solidFill>
                  </a:tcPr>
                </a:tc>
                <a:tc>
                  <a:txBody>
                    <a:bodyPr/>
                    <a:lstStyle/>
                    <a:p>
                      <a:r>
                        <a:rPr sz="1800" b="1">
                          <a:solidFill>
                            <a:srgbClr val="FFFFFF"/>
                          </a:solidFill>
                          <a:latin typeface="Arial"/>
                          <a:ea typeface="Arial"/>
                          <a:cs typeface="Arial"/>
                        </a:rPr>
                        <a:t>Daily user</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Human Firewall</a:t>
                      </a:r>
                    </a:p>
                  </a:txBody>
                  <a:tcPr marL="91440" marR="91440" marT="45720" marB="45720">
                    <a:solidFill>
                      <a:srgbClr val="FFFFFF"/>
                    </a:solidFill>
                  </a:tcPr>
                </a:tc>
                <a:tc>
                  <a:txBody>
                    <a:bodyPr/>
                    <a:lstStyle/>
                    <a:p>
                      <a:r>
                        <a:rPr sz="1800" b="0">
                          <a:solidFill>
                            <a:srgbClr val="142C3E"/>
                          </a:solidFill>
                          <a:latin typeface="Arial"/>
                          <a:ea typeface="Arial"/>
                          <a:cs typeface="Arial"/>
                        </a:rPr>
                        <a:t>SME owner or IT administrator</a:t>
                      </a:r>
                    </a:p>
                  </a:txBody>
                  <a:tcPr marL="91440" marR="91440" marT="45720" marB="45720">
                    <a:solidFill>
                      <a:srgbClr val="FFFFFF"/>
                    </a:solidFill>
                  </a:tcPr>
                </a:tc>
                <a:tc>
                  <a:txBody>
                    <a:bodyPr/>
                    <a:lstStyle/>
                    <a:p>
                      <a:r>
                        <a:rPr sz="1800" b="0">
                          <a:solidFill>
                            <a:srgbClr val="142C3E"/>
                          </a:solidFill>
                          <a:latin typeface="Arial"/>
                          <a:ea typeface="Arial"/>
                          <a:cs typeface="Arial"/>
                        </a:rPr>
                        <a:t>Employees and training administrator</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Security Operations</a:t>
                      </a:r>
                    </a:p>
                  </a:txBody>
                  <a:tcPr marL="91440" marR="91440" marT="45720" marB="45720">
                    <a:solidFill>
                      <a:srgbClr val="EEF3F5"/>
                    </a:solidFill>
                  </a:tcPr>
                </a:tc>
                <a:tc>
                  <a:txBody>
                    <a:bodyPr/>
                    <a:lstStyle/>
                    <a:p>
                      <a:r>
                        <a:rPr sz="1800" b="0">
                          <a:solidFill>
                            <a:srgbClr val="142C3E"/>
                          </a:solidFill>
                          <a:latin typeface="Arial"/>
                          <a:ea typeface="Arial"/>
                          <a:cs typeface="Arial"/>
                        </a:rPr>
                        <a:t>IT owner or service partner</a:t>
                      </a:r>
                    </a:p>
                  </a:txBody>
                  <a:tcPr marL="91440" marR="91440" marT="45720" marB="45720">
                    <a:solidFill>
                      <a:srgbClr val="EEF3F5"/>
                    </a:solidFill>
                  </a:tcPr>
                </a:tc>
                <a:tc>
                  <a:txBody>
                    <a:bodyPr/>
                    <a:lstStyle/>
                    <a:p>
                      <a:r>
                        <a:rPr sz="1800" b="0">
                          <a:solidFill>
                            <a:srgbClr val="142C3E"/>
                          </a:solidFill>
                          <a:latin typeface="Arial"/>
                          <a:ea typeface="Arial"/>
                          <a:cs typeface="Arial"/>
                        </a:rPr>
                        <a:t>Investigator and operator</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Defense Box</a:t>
                      </a:r>
                    </a:p>
                  </a:txBody>
                  <a:tcPr marL="91440" marR="91440" marT="45720" marB="45720">
                    <a:solidFill>
                      <a:srgbClr val="FFFFFF"/>
                    </a:solidFill>
                  </a:tcPr>
                </a:tc>
                <a:tc>
                  <a:txBody>
                    <a:bodyPr/>
                    <a:lstStyle/>
                    <a:p>
                      <a:r>
                        <a:rPr sz="1800" b="0">
                          <a:solidFill>
                            <a:srgbClr val="142C3E"/>
                          </a:solidFill>
                          <a:latin typeface="Arial"/>
                          <a:ea typeface="Arial"/>
                          <a:cs typeface="Arial"/>
                        </a:rPr>
                        <a:t>Infrastructure owner or IT provider</a:t>
                      </a:r>
                    </a:p>
                  </a:txBody>
                  <a:tcPr marL="91440" marR="91440" marT="45720" marB="45720">
                    <a:solidFill>
                      <a:srgbClr val="FFFFFF"/>
                    </a:solidFill>
                  </a:tcPr>
                </a:tc>
                <a:tc>
                  <a:txBody>
                    <a:bodyPr/>
                    <a:lstStyle/>
                    <a:p>
                      <a:r>
                        <a:rPr sz="1800" b="0">
                          <a:solidFill>
                            <a:srgbClr val="142C3E"/>
                          </a:solidFill>
                          <a:latin typeface="Arial"/>
                          <a:ea typeface="Arial"/>
                          <a:cs typeface="Arial"/>
                        </a:rPr>
                        <a:t>Local infrastructure operator</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 Security</a:t>
                      </a:r>
                    </a:p>
                  </a:txBody>
                  <a:tcPr marL="91440" marR="91440" marT="45720" marB="45720">
                    <a:solidFill>
                      <a:srgbClr val="EEF3F5"/>
                    </a:solidFill>
                  </a:tcPr>
                </a:tc>
                <a:tc>
                  <a:txBody>
                    <a:bodyPr/>
                    <a:lstStyle/>
                    <a:p>
                      <a:r>
                        <a:rPr sz="1800" b="0">
                          <a:solidFill>
                            <a:srgbClr val="142C3E"/>
                          </a:solidFill>
                          <a:latin typeface="Arial"/>
                          <a:ea typeface="Arial"/>
                          <a:cs typeface="Arial"/>
                        </a:rPr>
                        <a:t>Engineering or security lead</a:t>
                      </a:r>
                    </a:p>
                  </a:txBody>
                  <a:tcPr marL="91440" marR="91440" marT="45720" marB="45720">
                    <a:solidFill>
                      <a:srgbClr val="EEF3F5"/>
                    </a:solidFill>
                  </a:tcPr>
                </a:tc>
                <a:tc>
                  <a:txBody>
                    <a:bodyPr/>
                    <a:lstStyle/>
                    <a:p>
                      <a:r>
                        <a:rPr sz="1800" b="0">
                          <a:solidFill>
                            <a:srgbClr val="142C3E"/>
                          </a:solidFill>
                          <a:latin typeface="Arial"/>
                          <a:ea typeface="Arial"/>
                          <a:cs typeface="Arial"/>
                        </a:rPr>
                        <a:t>Developers and agent operators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75B62820-1730-4ECB-A3DE-26517C1C7446}"/>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Initial segment hypothesis: Portuguese SMEs with 20–200 employees.</a:t>
            </a:r>
          </a:p>
        </p:txBody>
      </p:sp>
      <p:sp>
        <p:nvSpPr>
          <p:cNvPr id="4" name="">
            <a:extLst xmlns:a="http://schemas.openxmlformats.org/drawingml/2006/main">
              <a:ext uri="{FF2B5EF4-FFF2-40B4-BE49-F238E27FC236}">
                <a16:creationId xmlns:a16="http://schemas.microsoft.com/office/drawing/2014/main" id="{F781616B-B003-4C21-86AE-56D18A1710E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07</a:t>
            </a:r>
          </a:p>
        </p:txBody>
      </p:sp>
    </p:spTree>
    <p:extLst>
      <p:ext uri="{BB962C8B-B14F-4D97-AF65-F5344CB8AC3E}">
        <p14:creationId xmlns:p14="http://schemas.microsoft.com/office/powerpoint/2010/main" val="721678234"/>
      </p:ext>
    </p:extLst>
  </p:cSld>
</p:sld>
</file>

<file path=ppt/slides/slide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FA45E69-B375-4500-B1F3-72C0CCC818DC}"/>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What success means</a:t>
            </a:r>
          </a:p>
        </p:txBody>
      </p:sp>
      <p:sp>
        <p:nvSpPr>
          <p:cNvPr id="2" name="">
            <a:extLst xmlns:a="http://schemas.openxmlformats.org/drawingml/2006/main">
              <a:ext uri="{FF2B5EF4-FFF2-40B4-BE49-F238E27FC236}">
                <a16:creationId xmlns:a16="http://schemas.microsoft.com/office/drawing/2014/main" id="{460BBCB6-DA16-4709-ADE1-47256D1C11CA}"/>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Customer value</a:t>
            </a:r>
          </a:p>
        </p:txBody>
      </p:sp>
      <p:sp>
        <p:nvSpPr>
          <p:cNvPr id="3" name="">
            <a:extLst xmlns:a="http://schemas.openxmlformats.org/drawingml/2006/main">
              <a:ext uri="{FF2B5EF4-FFF2-40B4-BE49-F238E27FC236}">
                <a16:creationId xmlns:a16="http://schemas.microsoft.com/office/drawing/2014/main" id="{D8C2229E-84CF-4066-884C-0A7B6E45885F}"/>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Users complete the intended workflow and buyers see enough value to renew.</a:t>
            </a:r>
          </a:p>
        </p:txBody>
      </p:sp>
      <p:sp>
        <p:nvSpPr>
          <p:cNvPr id="4" name="">
            <a:extLst xmlns:a="http://schemas.openxmlformats.org/drawingml/2006/main">
              <a:ext uri="{FF2B5EF4-FFF2-40B4-BE49-F238E27FC236}">
                <a16:creationId xmlns:a16="http://schemas.microsoft.com/office/drawing/2014/main" id="{9F8FE9F5-E6D6-45EB-B6D3-323FBD1881FC}"/>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Operational reliability</a:t>
            </a:r>
          </a:p>
        </p:txBody>
      </p:sp>
      <p:sp>
        <p:nvSpPr>
          <p:cNvPr id="5" name="">
            <a:extLst xmlns:a="http://schemas.openxmlformats.org/drawingml/2006/main">
              <a:ext uri="{FF2B5EF4-FFF2-40B4-BE49-F238E27FC236}">
                <a16:creationId xmlns:a16="http://schemas.microsoft.com/office/drawing/2014/main" id="{224EA92F-E664-43EC-8C17-EFC0B1C6CCCC}"/>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The team can deploy, support, upgrade and restore each supported product.</a:t>
            </a:r>
          </a:p>
        </p:txBody>
      </p:sp>
      <p:sp>
        <p:nvSpPr>
          <p:cNvPr id="6" name="">
            <a:extLst xmlns:a="http://schemas.openxmlformats.org/drawingml/2006/main">
              <a:ext uri="{FF2B5EF4-FFF2-40B4-BE49-F238E27FC236}">
                <a16:creationId xmlns:a16="http://schemas.microsoft.com/office/drawing/2014/main" id="{4554D9CF-AF11-4B4A-94C8-AC2874D39A5C}"/>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Research quality</a:t>
            </a:r>
          </a:p>
        </p:txBody>
      </p:sp>
      <p:sp>
        <p:nvSpPr>
          <p:cNvPr id="7" name="">
            <a:extLst xmlns:a="http://schemas.openxmlformats.org/drawingml/2006/main">
              <a:ext uri="{FF2B5EF4-FFF2-40B4-BE49-F238E27FC236}">
                <a16:creationId xmlns:a16="http://schemas.microsoft.com/office/drawing/2014/main" id="{0A20E9B6-3F3E-449B-8047-1686506DD9E3}"/>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Claims trace to datasets, methods and reproducible results.</a:t>
            </a:r>
          </a:p>
        </p:txBody>
      </p:sp>
      <p:sp>
        <p:nvSpPr>
          <p:cNvPr id="8" name="">
            <a:extLst xmlns:a="http://schemas.openxmlformats.org/drawingml/2006/main">
              <a:ext uri="{FF2B5EF4-FFF2-40B4-BE49-F238E27FC236}">
                <a16:creationId xmlns:a16="http://schemas.microsoft.com/office/drawing/2014/main" id="{7576B437-6E6C-40E8-9CF0-FA19112C4E20}"/>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Sustainable delivery</a:t>
            </a:r>
          </a:p>
        </p:txBody>
      </p:sp>
      <p:sp>
        <p:nvSpPr>
          <p:cNvPr id="9" name="">
            <a:extLst xmlns:a="http://schemas.openxmlformats.org/drawingml/2006/main">
              <a:ext uri="{FF2B5EF4-FFF2-40B4-BE49-F238E27FC236}">
                <a16:creationId xmlns:a16="http://schemas.microsoft.com/office/drawing/2014/main" id="{770B08D0-F2FA-4BD8-BF57-0F61B4B293D5}"/>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Measured support and infrastructure costs fit the commercial offer.</a:t>
            </a:r>
          </a:p>
        </p:txBody>
      </p:sp>
      <p:sp>
        <p:nvSpPr>
          <p:cNvPr id="10" name="">
            <a:extLst xmlns:a="http://schemas.openxmlformats.org/drawingml/2006/main">
              <a:ext uri="{FF2B5EF4-FFF2-40B4-BE49-F238E27FC236}">
                <a16:creationId xmlns:a16="http://schemas.microsoft.com/office/drawing/2014/main" id="{79DC4C2E-22CB-4E0E-A4F6-C60B1254342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08</a:t>
            </a:r>
          </a:p>
        </p:txBody>
      </p:sp>
    </p:spTree>
    <p:extLst>
      <p:ext uri="{BB962C8B-B14F-4D97-AF65-F5344CB8AC3E}">
        <p14:creationId xmlns:p14="http://schemas.microsoft.com/office/powerpoint/2010/main" val="1900332279"/>
      </p:ext>
    </p:extLst>
  </p:cSld>
</p:sld>
</file>

<file path=ppt/slides/slide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D52665-CAD9-41C0-B06B-40526B37D44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Human Firewall</a:t>
            </a:r>
          </a:p>
        </p:txBody>
      </p:sp>
      <p:sp>
        <p:nvSpPr>
          <p:cNvPr id="2" name="">
            <a:extLst xmlns:a="http://schemas.openxmlformats.org/drawingml/2006/main">
              <a:ext uri="{FF2B5EF4-FFF2-40B4-BE49-F238E27FC236}">
                <a16:creationId xmlns:a16="http://schemas.microsoft.com/office/drawing/2014/main" id="{9B4C3989-51F4-4BDD-88A7-26439CC05C48}"/>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A short learning cycle with clear feedback and useful reporting.</a:t>
            </a:r>
          </a:p>
        </p:txBody>
      </p:sp>
      <p:sp>
        <p:nvSpPr>
          <p:cNvPr id="3" name="">
            <a:extLst xmlns:a="http://schemas.openxmlformats.org/drawingml/2006/main">
              <a:ext uri="{FF2B5EF4-FFF2-40B4-BE49-F238E27FC236}">
                <a16:creationId xmlns:a16="http://schemas.microsoft.com/office/drawing/2014/main" id="{4B66AC43-6E83-486E-85D0-DAC6EB89009C}"/>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Administrator</a:t>
            </a:r>
          </a:p>
        </p:txBody>
      </p:sp>
      <p:sp>
        <p:nvSpPr>
          <p:cNvPr id="4" name="">
            <a:extLst xmlns:a="http://schemas.openxmlformats.org/drawingml/2006/main">
              <a:ext uri="{FF2B5EF4-FFF2-40B4-BE49-F238E27FC236}">
                <a16:creationId xmlns:a16="http://schemas.microsoft.com/office/drawing/2014/main" id="{7D020125-CFE2-4BEA-A73B-8FBB384E53BE}"/>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Assign a role-relevant programme and review completion evidence.</a:t>
            </a:r>
          </a:p>
        </p:txBody>
      </p:sp>
      <p:sp>
        <p:nvSpPr>
          <p:cNvPr id="5" name="">
            <a:extLst xmlns:a="http://schemas.openxmlformats.org/drawingml/2006/main">
              <a:ext uri="{FF2B5EF4-FFF2-40B4-BE49-F238E27FC236}">
                <a16:creationId xmlns:a16="http://schemas.microsoft.com/office/drawing/2014/main" id="{306462F6-7309-40CD-A44B-4A569528FD65}"/>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Learner</a:t>
            </a:r>
          </a:p>
        </p:txBody>
      </p:sp>
      <p:sp>
        <p:nvSpPr>
          <p:cNvPr id="6" name="">
            <a:extLst xmlns:a="http://schemas.openxmlformats.org/drawingml/2006/main">
              <a:ext uri="{FF2B5EF4-FFF2-40B4-BE49-F238E27FC236}">
                <a16:creationId xmlns:a16="http://schemas.microsoft.com/office/drawing/2014/main" id="{71B2A518-8528-4129-AE9C-9EBC064D9C83}"/>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Complete a scenario, understand the answer and optionally give feedback.</a:t>
            </a:r>
          </a:p>
        </p:txBody>
      </p:sp>
      <p:sp>
        <p:nvSpPr>
          <p:cNvPr id="7" name="">
            <a:extLst xmlns:a="http://schemas.openxmlformats.org/drawingml/2006/main">
              <a:ext uri="{FF2B5EF4-FFF2-40B4-BE49-F238E27FC236}">
                <a16:creationId xmlns:a16="http://schemas.microsoft.com/office/drawing/2014/main" id="{CD2DDAA6-7C15-410B-BDE8-D000F65936C9}"/>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Recommendation</a:t>
            </a:r>
          </a:p>
        </p:txBody>
      </p:sp>
      <p:sp>
        <p:nvSpPr>
          <p:cNvPr id="8" name="">
            <a:extLst xmlns:a="http://schemas.openxmlformats.org/drawingml/2006/main">
              <a:ext uri="{FF2B5EF4-FFF2-40B4-BE49-F238E27FC236}">
                <a16:creationId xmlns:a16="http://schemas.microsoft.com/office/drawing/2014/main" id="{E45DEDF1-38DB-44D0-8927-005276ED8C21}"/>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 transparent rules based on skills and stated difficulty or relevance.</a:t>
            </a:r>
          </a:p>
        </p:txBody>
      </p:sp>
      <p:sp>
        <p:nvSpPr>
          <p:cNvPr id="9" name="">
            <a:extLst xmlns:a="http://schemas.openxmlformats.org/drawingml/2006/main">
              <a:ext uri="{FF2B5EF4-FFF2-40B4-BE49-F238E27FC236}">
                <a16:creationId xmlns:a16="http://schemas.microsoft.com/office/drawing/2014/main" id="{83F62B2E-B865-45AF-9F6E-085E588088A7}"/>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Delivery</a:t>
            </a:r>
          </a:p>
        </p:txBody>
      </p:sp>
      <p:sp>
        <p:nvSpPr>
          <p:cNvPr id="10" name="">
            <a:extLst xmlns:a="http://schemas.openxmlformats.org/drawingml/2006/main">
              <a:ext uri="{FF2B5EF4-FFF2-40B4-BE49-F238E27FC236}">
                <a16:creationId xmlns:a16="http://schemas.microsoft.com/office/drawing/2014/main" id="{2D1FCD1F-A069-4B79-9BFD-861331EC9753}"/>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Responsive Portuguese web experience with resumable progress.</a:t>
            </a:r>
          </a:p>
        </p:txBody>
      </p:sp>
      <p:sp>
        <p:nvSpPr>
          <p:cNvPr id="11" name="">
            <a:extLst xmlns:a="http://schemas.openxmlformats.org/drawingml/2006/main">
              <a:ext uri="{FF2B5EF4-FFF2-40B4-BE49-F238E27FC236}">
                <a16:creationId xmlns:a16="http://schemas.microsoft.com/office/drawing/2014/main" id="{5015CD27-AF72-44C6-B0C7-403AC20DC419}"/>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09</a:t>
            </a:r>
          </a:p>
        </p:txBody>
      </p:sp>
    </p:spTree>
    <p:extLst>
      <p:ext uri="{BB962C8B-B14F-4D97-AF65-F5344CB8AC3E}">
        <p14:creationId xmlns:p14="http://schemas.microsoft.com/office/powerpoint/2010/main" val="1518518272"/>
      </p:ext>
    </p:extLst>
  </p:cSld>
</p:sld>
</file>

<file path=ppt/slides/slide1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8745EAC-EABF-4BD3-AB39-F39A565158C8}"/>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Human Firewall release scope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Included</a:t>
                      </a:r>
                    </a:p>
                  </a:txBody>
                  <a:tcPr marL="91440" marR="91440" marT="45720" marB="45720">
                    <a:solidFill>
                      <a:srgbClr val="102938"/>
                    </a:solidFill>
                  </a:tcPr>
                </a:tc>
                <a:tc>
                  <a:txBody>
                    <a:bodyPr/>
                    <a:lstStyle/>
                    <a:p>
                      <a:r>
                        <a:rPr sz="1800" b="1">
                          <a:solidFill>
                            <a:srgbClr val="FFFFFF"/>
                          </a:solidFill>
                          <a:latin typeface="Arial"/>
                          <a:ea typeface="Arial"/>
                          <a:cs typeface="Arial"/>
                        </a:rPr>
                        <a:t>Boundary</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12 reviewed Portuguese scenarios</a:t>
                      </a:r>
                    </a:p>
                  </a:txBody>
                  <a:tcPr marL="91440" marR="91440" marT="45720" marB="45720">
                    <a:solidFill>
                      <a:srgbClr val="FFFFFF"/>
                    </a:solidFill>
                  </a:tcPr>
                </a:tc>
                <a:tc>
                  <a:txBody>
                    <a:bodyPr/>
                    <a:lstStyle/>
                    <a:p>
                      <a:r>
                        <a:rPr sz="1800" b="0">
                          <a:solidFill>
                            <a:srgbClr val="142C3E"/>
                          </a:solidFill>
                          <a:latin typeface="Arial"/>
                          <a:ea typeface="Arial"/>
                          <a:cs typeface="Arial"/>
                        </a:rPr>
                        <a:t>Three interactive scenarios support the pilot baseline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Assignments, outcomes and reports</a:t>
                      </a:r>
                    </a:p>
                  </a:txBody>
                  <a:tcPr marL="91440" marR="91440" marT="45720" marB="45720">
                    <a:solidFill>
                      <a:srgbClr val="EEF3F5"/>
                    </a:solidFill>
                  </a:tcPr>
                </a:tc>
                <a:tc>
                  <a:txBody>
                    <a:bodyPr/>
                    <a:lstStyle/>
                    <a:p>
                      <a:r>
                        <a:rPr sz="1800" b="0">
                          <a:solidFill>
                            <a:srgbClr val="142C3E"/>
                          </a:solidFill>
                          <a:latin typeface="Arial"/>
                          <a:ea typeface="Arial"/>
                          <a:cs typeface="Arial"/>
                        </a:rPr>
                        <a:t>Content versions stay linked to historical completion</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Personal progress and achievements</a:t>
                      </a:r>
                    </a:p>
                  </a:txBody>
                  <a:tcPr marL="91440" marR="91440" marT="45720" marB="45720">
                    <a:solidFill>
                      <a:srgbClr val="FFFFFF"/>
                    </a:solidFill>
                  </a:tcPr>
                </a:tc>
                <a:tc>
                  <a:txBody>
                    <a:bodyPr/>
                    <a:lstStyle/>
                    <a:p>
                      <a:r>
                        <a:rPr sz="1800" b="0">
                          <a:solidFill>
                            <a:srgbClr val="142C3E"/>
                          </a:solidFill>
                          <a:latin typeface="Arial"/>
                          <a:ea typeface="Arial"/>
                          <a:cs typeface="Arial"/>
                        </a:rPr>
                        <a:t>No public individual risk leaderboard or personality scoring</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Rule-based adaptation</a:t>
                      </a:r>
                    </a:p>
                  </a:txBody>
                  <a:tcPr marL="91440" marR="91440" marT="45720" marB="45720">
                    <a:solidFill>
                      <a:srgbClr val="EEF3F5"/>
                    </a:solidFill>
                  </a:tcPr>
                </a:tc>
                <a:tc>
                  <a:txBody>
                    <a:bodyPr/>
                    <a:lstStyle/>
                    <a:p>
                      <a:r>
                        <a:rPr sz="1800" b="0">
                          <a:solidFill>
                            <a:srgbClr val="142C3E"/>
                          </a:solidFill>
                          <a:latin typeface="Arial"/>
                          <a:ea typeface="Arial"/>
                          <a:cs typeface="Arial"/>
                        </a:rPr>
                        <a:t>Learning results never automatically change network access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9C23EBB0-9E81-441B-A8E6-F54F56528982}"/>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10</a:t>
            </a:r>
          </a:p>
        </p:txBody>
      </p:sp>
    </p:spTree>
    <p:extLst>
      <p:ext uri="{BB962C8B-B14F-4D97-AF65-F5344CB8AC3E}">
        <p14:creationId xmlns:p14="http://schemas.microsoft.com/office/powerpoint/2010/main" val="1552945133"/>
      </p:ext>
    </p:extLst>
  </p:cSld>
</p:sld>
</file>

<file path=ppt/slides/slide1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4832953-D227-488F-97EA-BC25461D6FC8}"/>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Human Firewall implementation sequence</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90875"/>
                <a:gridCol w="1666875"/>
                <a:gridCol w="5962650"/>
              </a:tblGrid>
              <a:tr h="476250">
                <a:tc>
                  <a:txBody>
                    <a:bodyPr/>
                    <a:lstStyle/>
                    <a:p>
                      <a:r>
                        <a:rPr sz="1800" b="1">
                          <a:solidFill>
                            <a:srgbClr val="FFFFFF"/>
                          </a:solidFill>
                          <a:latin typeface="Arial"/>
                          <a:ea typeface="Arial"/>
                          <a:cs typeface="Arial"/>
                        </a:rPr>
                        <a:t>Work</a:t>
                      </a:r>
                    </a:p>
                  </a:txBody>
                  <a:tcPr marL="91440" marR="91440" marT="45720" marB="45720">
                    <a:solidFill>
                      <a:srgbClr val="102938"/>
                    </a:solidFill>
                  </a:tcPr>
                </a:tc>
                <a:tc>
                  <a:txBody>
                    <a:bodyPr/>
                    <a:lstStyle/>
                    <a:p>
                      <a:r>
                        <a:rPr sz="1800" b="1">
                          <a:solidFill>
                            <a:srgbClr val="FFFFFF"/>
                          </a:solidFill>
                          <a:latin typeface="Arial"/>
                          <a:ea typeface="Arial"/>
                          <a:cs typeface="Arial"/>
                        </a:rPr>
                        <a:t>Task IDs</a:t>
                      </a:r>
                    </a:p>
                  </a:txBody>
                  <a:tcPr marL="91440" marR="91440" marT="45720" marB="45720">
                    <a:solidFill>
                      <a:srgbClr val="102938"/>
                    </a:solidFill>
                  </a:tcPr>
                </a:tc>
                <a:tc>
                  <a:txBody>
                    <a:bodyPr/>
                    <a:lstStyle/>
                    <a:p>
                      <a:r>
                        <a:rPr sz="1800" b="1">
                          <a:solidFill>
                            <a:srgbClr val="FFFFFF"/>
                          </a:solidFill>
                          <a:latin typeface="Arial"/>
                          <a:ea typeface="Arial"/>
                          <a:cs typeface="Arial"/>
                        </a:rPr>
                        <a:t>Completion evidence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Content and learner journey</a:t>
                      </a:r>
                    </a:p>
                  </a:txBody>
                  <a:tcPr marL="91440" marR="91440" marT="45720" marB="45720">
                    <a:solidFill>
                      <a:srgbClr val="FFFFFF"/>
                    </a:solidFill>
                  </a:tcPr>
                </a:tc>
                <a:tc>
                  <a:txBody>
                    <a:bodyPr/>
                    <a:lstStyle/>
                    <a:p>
                      <a:r>
                        <a:rPr sz="1800" b="0">
                          <a:solidFill>
                            <a:srgbClr val="142C3E"/>
                          </a:solidFill>
                          <a:latin typeface="Arial"/>
                          <a:ea typeface="Arial"/>
                          <a:cs typeface="Arial"/>
                        </a:rPr>
                        <a:t>HF-01–03</a:t>
                      </a:r>
                    </a:p>
                  </a:txBody>
                  <a:tcPr marL="91440" marR="91440" marT="45720" marB="45720">
                    <a:solidFill>
                      <a:srgbClr val="FFFFFF"/>
                    </a:solidFill>
                  </a:tcPr>
                </a:tc>
                <a:tc>
                  <a:txBody>
                    <a:bodyPr/>
                    <a:lstStyle/>
                    <a:p>
                      <a:r>
                        <a:rPr sz="1800" b="0">
                          <a:solidFill>
                            <a:srgbClr val="142C3E"/>
                          </a:solidFill>
                          <a:latin typeface="Arial"/>
                          <a:ea typeface="Arial"/>
                          <a:cs typeface="Arial"/>
                        </a:rPr>
                        <a:t>Reviewed scenarios and complete assignment flow</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Adaptation and reports</a:t>
                      </a:r>
                    </a:p>
                  </a:txBody>
                  <a:tcPr marL="91440" marR="91440" marT="45720" marB="45720">
                    <a:solidFill>
                      <a:srgbClr val="EEF3F5"/>
                    </a:solidFill>
                  </a:tcPr>
                </a:tc>
                <a:tc>
                  <a:txBody>
                    <a:bodyPr/>
                    <a:lstStyle/>
                    <a:p>
                      <a:r>
                        <a:rPr sz="1800" b="0">
                          <a:solidFill>
                            <a:srgbClr val="142C3E"/>
                          </a:solidFill>
                          <a:latin typeface="Arial"/>
                          <a:ea typeface="Arial"/>
                          <a:cs typeface="Arial"/>
                        </a:rPr>
                        <a:t>HF-04–05</a:t>
                      </a:r>
                    </a:p>
                  </a:txBody>
                  <a:tcPr marL="91440" marR="91440" marT="45720" marB="45720">
                    <a:solidFill>
                      <a:srgbClr val="EEF3F5"/>
                    </a:solidFill>
                  </a:tcPr>
                </a:tc>
                <a:tc>
                  <a:txBody>
                    <a:bodyPr/>
                    <a:lstStyle/>
                    <a:p>
                      <a:r>
                        <a:rPr sz="1800" b="0">
                          <a:solidFill>
                            <a:srgbClr val="142C3E"/>
                          </a:solidFill>
                          <a:latin typeface="Arial"/>
                          <a:ea typeface="Arial"/>
                          <a:cs typeface="Arial"/>
                        </a:rPr>
                        <a:t>Explained recommendations and authorised exports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Pilot onboarding</a:t>
                      </a:r>
                    </a:p>
                  </a:txBody>
                  <a:tcPr marL="91440" marR="91440" marT="45720" marB="45720">
                    <a:solidFill>
                      <a:srgbClr val="FFFFFF"/>
                    </a:solidFill>
                  </a:tcPr>
                </a:tc>
                <a:tc>
                  <a:txBody>
                    <a:bodyPr/>
                    <a:lstStyle/>
                    <a:p>
                      <a:r>
                        <a:rPr sz="1800" b="0">
                          <a:solidFill>
                            <a:srgbClr val="142C3E"/>
                          </a:solidFill>
                          <a:latin typeface="Arial"/>
                          <a:ea typeface="Arial"/>
                          <a:cs typeface="Arial"/>
                        </a:rPr>
                        <a:t>HF-06</a:t>
                      </a:r>
                    </a:p>
                  </a:txBody>
                  <a:tcPr marL="91440" marR="91440" marT="45720" marB="45720">
                    <a:solidFill>
                      <a:srgbClr val="FFFFFF"/>
                    </a:solidFill>
                  </a:tcPr>
                </a:tc>
                <a:tc>
                  <a:txBody>
                    <a:bodyPr/>
                    <a:lstStyle/>
                    <a:p>
                      <a:r>
                        <a:rPr sz="1800" b="0">
                          <a:solidFill>
                            <a:srgbClr val="142C3E"/>
                          </a:solidFill>
                          <a:latin typeface="Arial"/>
                          <a:ea typeface="Arial"/>
                          <a:cs typeface="Arial"/>
                        </a:rPr>
                        <a:t>Reviewed programme and administrator walkthrough</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Production hardening</a:t>
                      </a:r>
                    </a:p>
                  </a:txBody>
                  <a:tcPr marL="91440" marR="91440" marT="45720" marB="45720">
                    <a:solidFill>
                      <a:srgbClr val="EEF3F5"/>
                    </a:solidFill>
                  </a:tcPr>
                </a:tc>
                <a:tc>
                  <a:txBody>
                    <a:bodyPr/>
                    <a:lstStyle/>
                    <a:p>
                      <a:r>
                        <a:rPr sz="1800" b="0">
                          <a:solidFill>
                            <a:srgbClr val="142C3E"/>
                          </a:solidFill>
                          <a:latin typeface="Arial"/>
                          <a:ea typeface="Arial"/>
                          <a:cs typeface="Arial"/>
                        </a:rPr>
                        <a:t>HF-07</a:t>
                      </a:r>
                    </a:p>
                  </a:txBody>
                  <a:tcPr marL="91440" marR="91440" marT="45720" marB="45720">
                    <a:solidFill>
                      <a:srgbClr val="EEF3F5"/>
                    </a:solidFill>
                  </a:tcPr>
                </a:tc>
                <a:tc>
                  <a:txBody>
                    <a:bodyPr/>
                    <a:lstStyle/>
                    <a:p>
                      <a:r>
                        <a:rPr sz="1800" b="0">
                          <a:solidFill>
                            <a:srgbClr val="142C3E"/>
                          </a:solidFill>
                          <a:latin typeface="Arial"/>
                          <a:ea typeface="Arial"/>
                          <a:cs typeface="Arial"/>
                        </a:rPr>
                        <a:t>Security, recovery and support requirements pass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1A17E9AF-DAC9-463B-913C-468FB27B723F}"/>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Target 3–5 paid pilot organisations. Recruitment remains unconfirmed.</a:t>
            </a:r>
          </a:p>
        </p:txBody>
      </p:sp>
      <p:sp>
        <p:nvSpPr>
          <p:cNvPr id="4" name="">
            <a:extLst xmlns:a="http://schemas.openxmlformats.org/drawingml/2006/main">
              <a:ext uri="{FF2B5EF4-FFF2-40B4-BE49-F238E27FC236}">
                <a16:creationId xmlns:a16="http://schemas.microsoft.com/office/drawing/2014/main" id="{9C83A623-D268-4C11-887E-2BB4864D819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11</a:t>
            </a:r>
          </a:p>
        </p:txBody>
      </p:sp>
    </p:spTree>
    <p:extLst>
      <p:ext uri="{BB962C8B-B14F-4D97-AF65-F5344CB8AC3E}">
        <p14:creationId xmlns:p14="http://schemas.microsoft.com/office/powerpoint/2010/main" val="1944701419"/>
      </p:ext>
    </p:extLst>
  </p:cSld>
</p:sld>
</file>

<file path=ppt/slides/slide1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FF39717-77B5-4090-AEA2-26500D4669F4}"/>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Security Operations</a:t>
            </a:r>
          </a:p>
        </p:txBody>
      </p:sp>
      <p:sp>
        <p:nvSpPr>
          <p:cNvPr id="2" name="">
            <a:extLst xmlns:a="http://schemas.openxmlformats.org/drawingml/2006/main">
              <a:ext uri="{FF2B5EF4-FFF2-40B4-BE49-F238E27FC236}">
                <a16:creationId xmlns:a16="http://schemas.microsoft.com/office/drawing/2014/main" id="{CCACFF12-E3EC-4DAE-9AB4-C77C328B1EC6}"/>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A traceable investigation connects exposure to remediation.</a:t>
            </a:r>
          </a:p>
        </p:txBody>
      </p:sp>
      <p:sp>
        <p:nvSpPr>
          <p:cNvPr id="3" name="">
            <a:extLst xmlns:a="http://schemas.openxmlformats.org/drawingml/2006/main">
              <a:ext uri="{FF2B5EF4-FFF2-40B4-BE49-F238E27FC236}">
                <a16:creationId xmlns:a16="http://schemas.microsoft.com/office/drawing/2014/main" id="{92ABFCE8-B235-4941-ACF0-62821634B4D9}"/>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Observe</a:t>
            </a:r>
          </a:p>
        </p:txBody>
      </p:sp>
      <p:sp>
        <p:nvSpPr>
          <p:cNvPr id="4" name="">
            <a:extLst xmlns:a="http://schemas.openxmlformats.org/drawingml/2006/main">
              <a:ext uri="{FF2B5EF4-FFF2-40B4-BE49-F238E27FC236}">
                <a16:creationId xmlns:a16="http://schemas.microsoft.com/office/drawing/2014/main" id="{41730410-ED10-4142-A6D8-00EF4344BF17}"/>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Import assets, software components and selected security events.</a:t>
            </a:r>
          </a:p>
        </p:txBody>
      </p:sp>
      <p:sp>
        <p:nvSpPr>
          <p:cNvPr id="5" name="">
            <a:extLst xmlns:a="http://schemas.openxmlformats.org/drawingml/2006/main">
              <a:ext uri="{FF2B5EF4-FFF2-40B4-BE49-F238E27FC236}">
                <a16:creationId xmlns:a16="http://schemas.microsoft.com/office/drawing/2014/main" id="{13E1D23E-D9C2-4CCF-BB0A-F1A1CF1158A3}"/>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Prioritise</a:t>
            </a:r>
          </a:p>
        </p:txBody>
      </p:sp>
      <p:sp>
        <p:nvSpPr>
          <p:cNvPr id="6" name="">
            <a:extLst xmlns:a="http://schemas.openxmlformats.org/drawingml/2006/main">
              <a:ext uri="{FF2B5EF4-FFF2-40B4-BE49-F238E27FC236}">
                <a16:creationId xmlns:a16="http://schemas.microsoft.com/office/drawing/2014/main" id="{5AA31301-A2DF-41F0-940A-E992D34A5FA1}"/>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Show exposure context, source freshness and the basis for each finding.</a:t>
            </a:r>
          </a:p>
        </p:txBody>
      </p:sp>
      <p:sp>
        <p:nvSpPr>
          <p:cNvPr id="7" name="">
            <a:extLst xmlns:a="http://schemas.openxmlformats.org/drawingml/2006/main">
              <a:ext uri="{FF2B5EF4-FFF2-40B4-BE49-F238E27FC236}">
                <a16:creationId xmlns:a16="http://schemas.microsoft.com/office/drawing/2014/main" id="{06429DA0-29F4-49FB-B24B-62A516542FC9}"/>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Investigate</a:t>
            </a:r>
          </a:p>
        </p:txBody>
      </p:sp>
      <p:sp>
        <p:nvSpPr>
          <p:cNvPr id="8" name="">
            <a:extLst xmlns:a="http://schemas.openxmlformats.org/drawingml/2006/main">
              <a:ext uri="{FF2B5EF4-FFF2-40B4-BE49-F238E27FC236}">
                <a16:creationId xmlns:a16="http://schemas.microsoft.com/office/drawing/2014/main" id="{D5A9D6C8-9D03-46C7-9C3B-3D96B25145F7}"/>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Record evidence, ownership, notes and a guided response plan.</a:t>
            </a:r>
          </a:p>
        </p:txBody>
      </p:sp>
      <p:sp>
        <p:nvSpPr>
          <p:cNvPr id="9" name="">
            <a:extLst xmlns:a="http://schemas.openxmlformats.org/drawingml/2006/main">
              <a:ext uri="{FF2B5EF4-FFF2-40B4-BE49-F238E27FC236}">
                <a16:creationId xmlns:a16="http://schemas.microsoft.com/office/drawing/2014/main" id="{BA1BB1FE-848F-493D-9798-4FDC74CF47BE}"/>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Verify</a:t>
            </a:r>
          </a:p>
        </p:txBody>
      </p:sp>
      <p:sp>
        <p:nvSpPr>
          <p:cNvPr id="10" name="">
            <a:extLst xmlns:a="http://schemas.openxmlformats.org/drawingml/2006/main">
              <a:ext uri="{FF2B5EF4-FFF2-40B4-BE49-F238E27FC236}">
                <a16:creationId xmlns:a16="http://schemas.microsoft.com/office/drawing/2014/main" id="{36D78F94-E898-4B31-AB18-D956CF7A6D83}"/>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Track remediation and preserve evidence supporting closure.</a:t>
            </a:r>
          </a:p>
        </p:txBody>
      </p:sp>
      <p:sp>
        <p:nvSpPr>
          <p:cNvPr id="11" name="">
            <a:extLst xmlns:a="http://schemas.openxmlformats.org/drawingml/2006/main">
              <a:ext uri="{FF2B5EF4-FFF2-40B4-BE49-F238E27FC236}">
                <a16:creationId xmlns:a16="http://schemas.microsoft.com/office/drawing/2014/main" id="{FD11BEC3-D0B0-4369-B8E4-0B2EE6595AE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12</a:t>
            </a:r>
          </a:p>
        </p:txBody>
      </p:sp>
    </p:spTree>
    <p:extLst>
      <p:ext uri="{BB962C8B-B14F-4D97-AF65-F5344CB8AC3E}">
        <p14:creationId xmlns:p14="http://schemas.microsoft.com/office/powerpoint/2010/main" val="912767537"/>
      </p:ext>
    </p:extLst>
  </p:cSld>
</p:sld>
</file>

<file path=ppt/slides/slide1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DB9B9D-ACD8-4F9E-B32D-EAEAE01B95D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Security Operations first release</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Capability</a:t>
                      </a:r>
                    </a:p>
                  </a:txBody>
                  <a:tcPr marL="91440" marR="91440" marT="45720" marB="45720">
                    <a:solidFill>
                      <a:srgbClr val="102938"/>
                    </a:solidFill>
                  </a:tcPr>
                </a:tc>
                <a:tc>
                  <a:txBody>
                    <a:bodyPr/>
                    <a:lstStyle/>
                    <a:p>
                      <a:r>
                        <a:rPr sz="1800" b="1">
                          <a:solidFill>
                            <a:srgbClr val="FFFFFF"/>
                          </a:solidFill>
                          <a:latin typeface="Arial"/>
                          <a:ea typeface="Arial"/>
                          <a:cs typeface="Arial"/>
                        </a:rPr>
                        <a:t>Initial implementation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Inventory and software</a:t>
                      </a:r>
                    </a:p>
                  </a:txBody>
                  <a:tcPr marL="91440" marR="91440" marT="45720" marB="45720">
                    <a:solidFill>
                      <a:srgbClr val="FFFFFF"/>
                    </a:solidFill>
                  </a:tcPr>
                </a:tc>
                <a:tc>
                  <a:txBody>
                    <a:bodyPr/>
                    <a:lstStyle/>
                    <a:p>
                      <a:r>
                        <a:rPr sz="1800" b="0">
                          <a:solidFill>
                            <a:srgbClr val="142C3E"/>
                          </a:solidFill>
                          <a:latin typeface="Arial"/>
                          <a:ea typeface="Arial"/>
                          <a:cs typeface="Arial"/>
                        </a:rPr>
                        <a:t>Customer imports and CycloneDX JSON SBOM ingestion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Advisory enrichment</a:t>
                      </a:r>
                    </a:p>
                  </a:txBody>
                  <a:tcPr marL="91440" marR="91440" marT="45720" marB="45720">
                    <a:solidFill>
                      <a:srgbClr val="EEF3F5"/>
                    </a:solidFill>
                  </a:tcPr>
                </a:tc>
                <a:tc>
                  <a:txBody>
                    <a:bodyPr/>
                    <a:lstStyle/>
                    <a:p>
                      <a:r>
                        <a:rPr sz="1800" b="0">
                          <a:solidFill>
                            <a:srgbClr val="142C3E"/>
                          </a:solidFill>
                          <a:latin typeface="Arial"/>
                          <a:ea typeface="Arial"/>
                          <a:cs typeface="Arial"/>
                        </a:rPr>
                        <a:t>OSV adapter with freshness and provenance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Security events</a:t>
                      </a:r>
                    </a:p>
                  </a:txBody>
                  <a:tcPr marL="91440" marR="91440" marT="45720" marB="45720">
                    <a:solidFill>
                      <a:srgbClr val="FFFFFF"/>
                    </a:solidFill>
                  </a:tcPr>
                </a:tc>
                <a:tc>
                  <a:txBody>
                    <a:bodyPr/>
                    <a:lstStyle/>
                    <a:p>
                      <a:r>
                        <a:rPr sz="1800" b="0">
                          <a:solidFill>
                            <a:srgbClr val="142C3E"/>
                          </a:solidFill>
                          <a:latin typeface="Arial"/>
                          <a:ea typeface="Arial"/>
                          <a:cs typeface="Arial"/>
                        </a:rPr>
                        <a:t>Wazuh JSON alert ingestion or documented file imports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Response</a:t>
                      </a:r>
                    </a:p>
                  </a:txBody>
                  <a:tcPr marL="91440" marR="91440" marT="45720" marB="45720">
                    <a:solidFill>
                      <a:srgbClr val="EEF3F5"/>
                    </a:solidFill>
                  </a:tcPr>
                </a:tc>
                <a:tc>
                  <a:txBody>
                    <a:bodyPr/>
                    <a:lstStyle/>
                    <a:p>
                      <a:r>
                        <a:rPr sz="1800" b="0">
                          <a:solidFill>
                            <a:srgbClr val="142C3E"/>
                          </a:solidFill>
                          <a:latin typeface="Arial"/>
                          <a:ea typeface="Arial"/>
                          <a:cs typeface="Arial"/>
                        </a:rPr>
                        <a:t>Guided authentication, dependency and phishing playbooks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33714CDA-62B8-46ED-B5B4-55531502EF8C}"/>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Unknown reachability stays unknown. A vulnerable component does not alone prove exploitability.</a:t>
            </a:r>
          </a:p>
        </p:txBody>
      </p:sp>
      <p:sp>
        <p:nvSpPr>
          <p:cNvPr id="4" name="">
            <a:extLst xmlns:a="http://schemas.openxmlformats.org/drawingml/2006/main">
              <a:ext uri="{FF2B5EF4-FFF2-40B4-BE49-F238E27FC236}">
                <a16:creationId xmlns:a16="http://schemas.microsoft.com/office/drawing/2014/main" id="{30299208-94E9-4EAC-A34B-60E92FA30F21}"/>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13</a:t>
            </a:r>
          </a:p>
        </p:txBody>
      </p:sp>
    </p:spTree>
    <p:extLst>
      <p:ext uri="{BB962C8B-B14F-4D97-AF65-F5344CB8AC3E}">
        <p14:creationId xmlns:p14="http://schemas.microsoft.com/office/powerpoint/2010/main" val="1184156677"/>
      </p:ext>
    </p:extLst>
  </p:cSld>
</p:sld>
</file>

<file path=ppt/slides/slide1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83A1D1B-F86C-4AF0-B726-6776A2CD34B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Security Operations backlog and gates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90875"/>
                <a:gridCol w="1666875"/>
                <a:gridCol w="5962650"/>
              </a:tblGrid>
              <a:tr h="476250">
                <a:tc>
                  <a:txBody>
                    <a:bodyPr/>
                    <a:lstStyle/>
                    <a:p>
                      <a:r>
                        <a:rPr sz="1800" b="1">
                          <a:solidFill>
                            <a:srgbClr val="FFFFFF"/>
                          </a:solidFill>
                          <a:latin typeface="Arial"/>
                          <a:ea typeface="Arial"/>
                          <a:cs typeface="Arial"/>
                        </a:rPr>
                        <a:t>Work</a:t>
                      </a:r>
                    </a:p>
                  </a:txBody>
                  <a:tcPr marL="91440" marR="91440" marT="45720" marB="45720">
                    <a:solidFill>
                      <a:srgbClr val="102938"/>
                    </a:solidFill>
                  </a:tcPr>
                </a:tc>
                <a:tc>
                  <a:txBody>
                    <a:bodyPr/>
                    <a:lstStyle/>
                    <a:p>
                      <a:r>
                        <a:rPr sz="1800" b="1">
                          <a:solidFill>
                            <a:srgbClr val="FFFFFF"/>
                          </a:solidFill>
                          <a:latin typeface="Arial"/>
                          <a:ea typeface="Arial"/>
                          <a:cs typeface="Arial"/>
                        </a:rPr>
                        <a:t>Task IDs</a:t>
                      </a:r>
                    </a:p>
                  </a:txBody>
                  <a:tcPr marL="91440" marR="91440" marT="45720" marB="45720">
                    <a:solidFill>
                      <a:srgbClr val="102938"/>
                    </a:solidFill>
                  </a:tcPr>
                </a:tc>
                <a:tc>
                  <a:txBody>
                    <a:bodyPr/>
                    <a:lstStyle/>
                    <a:p>
                      <a:r>
                        <a:rPr sz="1800" b="1">
                          <a:solidFill>
                            <a:srgbClr val="FFFFFF"/>
                          </a:solidFill>
                          <a:latin typeface="Arial"/>
                          <a:ea typeface="Arial"/>
                          <a:cs typeface="Arial"/>
                        </a:rPr>
                        <a:t>Acceptance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Ingestion and enrichment</a:t>
                      </a:r>
                    </a:p>
                  </a:txBody>
                  <a:tcPr marL="91440" marR="91440" marT="45720" marB="45720">
                    <a:solidFill>
                      <a:srgbClr val="FFFFFF"/>
                    </a:solidFill>
                  </a:tcPr>
                </a:tc>
                <a:tc>
                  <a:txBody>
                    <a:bodyPr/>
                    <a:lstStyle/>
                    <a:p>
                      <a:r>
                        <a:rPr sz="1800" b="0">
                          <a:solidFill>
                            <a:srgbClr val="142C3E"/>
                          </a:solidFill>
                          <a:latin typeface="Arial"/>
                          <a:ea typeface="Arial"/>
                          <a:cs typeface="Arial"/>
                        </a:rPr>
                        <a:t>SO-01–03</a:t>
                      </a:r>
                    </a:p>
                  </a:txBody>
                  <a:tcPr marL="91440" marR="91440" marT="45720" marB="45720">
                    <a:solidFill>
                      <a:srgbClr val="FFFFFF"/>
                    </a:solidFill>
                  </a:tcPr>
                </a:tc>
                <a:tc>
                  <a:txBody>
                    <a:bodyPr/>
                    <a:lstStyle/>
                    <a:p>
                      <a:r>
                        <a:rPr sz="1800" b="0">
                          <a:solidFill>
                            <a:srgbClr val="142C3E"/>
                          </a:solidFill>
                          <a:latin typeface="Arial"/>
                          <a:ea typeface="Arial"/>
                          <a:cs typeface="Arial"/>
                        </a:rPr>
                        <a:t>Validation, deduplication, loss and source-age visibility</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Investigation and response</a:t>
                      </a:r>
                    </a:p>
                  </a:txBody>
                  <a:tcPr marL="91440" marR="91440" marT="45720" marB="45720">
                    <a:solidFill>
                      <a:srgbClr val="EEF3F5"/>
                    </a:solidFill>
                  </a:tcPr>
                </a:tc>
                <a:tc>
                  <a:txBody>
                    <a:bodyPr/>
                    <a:lstStyle/>
                    <a:p>
                      <a:r>
                        <a:rPr sz="1800" b="0">
                          <a:solidFill>
                            <a:srgbClr val="142C3E"/>
                          </a:solidFill>
                          <a:latin typeface="Arial"/>
                          <a:ea typeface="Arial"/>
                          <a:cs typeface="Arial"/>
                        </a:rPr>
                        <a:t>SO-04–05</a:t>
                      </a:r>
                    </a:p>
                  </a:txBody>
                  <a:tcPr marL="91440" marR="91440" marT="45720" marB="45720">
                    <a:solidFill>
                      <a:srgbClr val="EEF3F5"/>
                    </a:solidFill>
                  </a:tcPr>
                </a:tc>
                <a:tc>
                  <a:txBody>
                    <a:bodyPr/>
                    <a:lstStyle/>
                    <a:p>
                      <a:r>
                        <a:rPr sz="1800" b="0">
                          <a:solidFill>
                            <a:srgbClr val="142C3E"/>
                          </a:solidFill>
                          <a:latin typeface="Arial"/>
                          <a:ea typeface="Arial"/>
                          <a:cs typeface="Arial"/>
                        </a:rPr>
                        <a:t>Evidence access and parameter-bound approvals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Detection baseline</a:t>
                      </a:r>
                    </a:p>
                  </a:txBody>
                  <a:tcPr marL="91440" marR="91440" marT="45720" marB="45720">
                    <a:solidFill>
                      <a:srgbClr val="FFFFFF"/>
                    </a:solidFill>
                  </a:tcPr>
                </a:tc>
                <a:tc>
                  <a:txBody>
                    <a:bodyPr/>
                    <a:lstStyle/>
                    <a:p>
                      <a:r>
                        <a:rPr sz="1800" b="0">
                          <a:solidFill>
                            <a:srgbClr val="142C3E"/>
                          </a:solidFill>
                          <a:latin typeface="Arial"/>
                          <a:ea typeface="Arial"/>
                          <a:cs typeface="Arial"/>
                        </a:rPr>
                        <a:t>SO-06</a:t>
                      </a:r>
                    </a:p>
                  </a:txBody>
                  <a:tcPr marL="91440" marR="91440" marT="45720" marB="45720">
                    <a:solidFill>
                      <a:srgbClr val="FFFFFF"/>
                    </a:solidFill>
                  </a:tcPr>
                </a:tc>
                <a:tc>
                  <a:txBody>
                    <a:bodyPr/>
                    <a:lstStyle/>
                    <a:p>
                      <a:r>
                        <a:rPr sz="1800" b="0">
                          <a:solidFill>
                            <a:srgbClr val="142C3E"/>
                          </a:solidFill>
                          <a:latin typeface="Arial"/>
                          <a:ea typeface="Arial"/>
                          <a:cs typeface="Arial"/>
                        </a:rPr>
                        <a:t>Precision and alert burden on labelled cases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Supported release</a:t>
                      </a:r>
                    </a:p>
                  </a:txBody>
                  <a:tcPr marL="91440" marR="91440" marT="45720" marB="45720">
                    <a:solidFill>
                      <a:srgbClr val="EEF3F5"/>
                    </a:solidFill>
                  </a:tcPr>
                </a:tc>
                <a:tc>
                  <a:txBody>
                    <a:bodyPr/>
                    <a:lstStyle/>
                    <a:p>
                      <a:r>
                        <a:rPr sz="1800" b="0">
                          <a:solidFill>
                            <a:srgbClr val="142C3E"/>
                          </a:solidFill>
                          <a:latin typeface="Arial"/>
                          <a:ea typeface="Arial"/>
                          <a:cs typeface="Arial"/>
                        </a:rPr>
                        <a:t>SO-07</a:t>
                      </a:r>
                    </a:p>
                  </a:txBody>
                  <a:tcPr marL="91440" marR="91440" marT="45720" marB="45720">
                    <a:solidFill>
                      <a:srgbClr val="EEF3F5"/>
                    </a:solidFill>
                  </a:tcPr>
                </a:tc>
                <a:tc>
                  <a:txBody>
                    <a:bodyPr/>
                    <a:lstStyle/>
                    <a:p>
                      <a:r>
                        <a:rPr sz="1800" b="0">
                          <a:solidFill>
                            <a:srgbClr val="142C3E"/>
                          </a:solidFill>
                          <a:latin typeface="Arial"/>
                          <a:ea typeface="Arial"/>
                          <a:cs typeface="Arial"/>
                        </a:rPr>
                        <a:t>Recovery, load tests and independent review</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0D2B7AA5-D1D4-48BE-947A-F2185D7E1AA9}"/>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14</a:t>
            </a:r>
          </a:p>
        </p:txBody>
      </p:sp>
    </p:spTree>
    <p:extLst>
      <p:ext uri="{BB962C8B-B14F-4D97-AF65-F5344CB8AC3E}">
        <p14:creationId xmlns:p14="http://schemas.microsoft.com/office/powerpoint/2010/main" val="1593218651"/>
      </p:ext>
    </p:extLst>
  </p:cSld>
</p:sld>
</file>

<file path=ppt/slides/slide1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182B48-7B8E-4361-A8F5-2E6F69926A5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Defense Box and Validation</a:t>
            </a:r>
          </a:p>
        </p:txBody>
      </p:sp>
      <p:sp>
        <p:nvSpPr>
          <p:cNvPr id="2" name="">
            <a:extLst xmlns:a="http://schemas.openxmlformats.org/drawingml/2006/main">
              <a:ext uri="{FF2B5EF4-FFF2-40B4-BE49-F238E27FC236}">
                <a16:creationId xmlns:a16="http://schemas.microsoft.com/office/drawing/2014/main" id="{541194F4-3161-41E3-B18C-92B33BFA287C}"/>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Local monitoring and controlled verification in a software appliance.</a:t>
            </a:r>
          </a:p>
        </p:txBody>
      </p:sp>
      <p:sp>
        <p:nvSpPr>
          <p:cNvPr id="3" name="">
            <a:extLst xmlns:a="http://schemas.openxmlformats.org/drawingml/2006/main">
              <a:ext uri="{FF2B5EF4-FFF2-40B4-BE49-F238E27FC236}">
                <a16:creationId xmlns:a16="http://schemas.microsoft.com/office/drawing/2014/main" id="{E307DB3B-AAFD-4BE4-8493-6221FC03702E}"/>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Deployment</a:t>
            </a:r>
          </a:p>
        </p:txBody>
      </p:sp>
      <p:sp>
        <p:nvSpPr>
          <p:cNvPr id="4" name="">
            <a:extLst xmlns:a="http://schemas.openxmlformats.org/drawingml/2006/main">
              <a:ext uri="{FF2B5EF4-FFF2-40B4-BE49-F238E27FC236}">
                <a16:creationId xmlns:a16="http://schemas.microsoft.com/office/drawing/2014/main" id="{5A8CC700-8609-4CF9-B84F-08BB55D2D0C6}"/>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Supported Linux VM or container on customer infrastructure.</a:t>
            </a:r>
          </a:p>
        </p:txBody>
      </p:sp>
      <p:sp>
        <p:nvSpPr>
          <p:cNvPr id="5" name="">
            <a:extLst xmlns:a="http://schemas.openxmlformats.org/drawingml/2006/main">
              <a:ext uri="{FF2B5EF4-FFF2-40B4-BE49-F238E27FC236}">
                <a16:creationId xmlns:a16="http://schemas.microsoft.com/office/drawing/2014/main" id="{6657ED4A-E335-48BF-BC99-14578E0EFF90}"/>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Passive observation</a:t>
            </a:r>
          </a:p>
        </p:txBody>
      </p:sp>
      <p:sp>
        <p:nvSpPr>
          <p:cNvPr id="6" name="">
            <a:extLst xmlns:a="http://schemas.openxmlformats.org/drawingml/2006/main">
              <a:ext uri="{FF2B5EF4-FFF2-40B4-BE49-F238E27FC236}">
                <a16:creationId xmlns:a16="http://schemas.microsoft.com/office/drawing/2014/main" id="{465CDEC5-35D0-4090-AAE0-36FC27AFB0EF}"/>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Evaluate Zeek metadata and Suricata alerts with bounded local storage.</a:t>
            </a:r>
          </a:p>
        </p:txBody>
      </p:sp>
      <p:sp>
        <p:nvSpPr>
          <p:cNvPr id="7" name="">
            <a:extLst xmlns:a="http://schemas.openxmlformats.org/drawingml/2006/main">
              <a:ext uri="{FF2B5EF4-FFF2-40B4-BE49-F238E27FC236}">
                <a16:creationId xmlns:a16="http://schemas.microsoft.com/office/drawing/2014/main" id="{CDBC42C1-E383-49CF-9F18-5A5FB50D90DA}"/>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Own-product work</a:t>
            </a:r>
          </a:p>
        </p:txBody>
      </p:sp>
      <p:sp>
        <p:nvSpPr>
          <p:cNvPr id="8" name="">
            <a:extLst xmlns:a="http://schemas.openxmlformats.org/drawingml/2006/main">
              <a:ext uri="{FF2B5EF4-FFF2-40B4-BE49-F238E27FC236}">
                <a16:creationId xmlns:a16="http://schemas.microsoft.com/office/drawing/2014/main" id="{B80AFDFC-2ECA-4673-B73F-1ABD6957C08B}"/>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Enrolment, health, normalisation, evidence reports and remediation retests.</a:t>
            </a:r>
          </a:p>
        </p:txBody>
      </p:sp>
      <p:sp>
        <p:nvSpPr>
          <p:cNvPr id="9" name="">
            <a:extLst xmlns:a="http://schemas.openxmlformats.org/drawingml/2006/main">
              <a:ext uri="{FF2B5EF4-FFF2-40B4-BE49-F238E27FC236}">
                <a16:creationId xmlns:a16="http://schemas.microsoft.com/office/drawing/2014/main" id="{FAD486BD-6D04-4937-9A0B-C4E5FCEE61A4}"/>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Expansion</a:t>
            </a:r>
          </a:p>
        </p:txBody>
      </p:sp>
      <p:sp>
        <p:nvSpPr>
          <p:cNvPr id="10" name="">
            <a:extLst xmlns:a="http://schemas.openxmlformats.org/drawingml/2006/main">
              <a:ext uri="{FF2B5EF4-FFF2-40B4-BE49-F238E27FC236}">
                <a16:creationId xmlns:a16="http://schemas.microsoft.com/office/drawing/2014/main" id="{9842BCEF-5DF9-40F8-90C2-D968BA3A5CE5}"/>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Custom hardware and industrial deployment follow measured demand and safety review.</a:t>
            </a:r>
          </a:p>
        </p:txBody>
      </p:sp>
      <p:sp>
        <p:nvSpPr>
          <p:cNvPr id="11" name="">
            <a:extLst xmlns:a="http://schemas.openxmlformats.org/drawingml/2006/main">
              <a:ext uri="{FF2B5EF4-FFF2-40B4-BE49-F238E27FC236}">
                <a16:creationId xmlns:a16="http://schemas.microsoft.com/office/drawing/2014/main" id="{EF588814-0DB1-4EB3-B952-C6BBC5BF57A1}"/>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15</a:t>
            </a:r>
          </a:p>
        </p:txBody>
      </p:sp>
    </p:spTree>
    <p:extLst>
      <p:ext uri="{BB962C8B-B14F-4D97-AF65-F5344CB8AC3E}">
        <p14:creationId xmlns:p14="http://schemas.microsoft.com/office/powerpoint/2010/main" val="1548992135"/>
      </p:ext>
    </p:extLst>
  </p:cSld>
</p:sld>
</file>

<file path=ppt/slides/slide1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4FE4B9-7F66-4D3D-990A-67473857337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Validation execution boundaries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Required before a run</a:t>
                      </a:r>
                    </a:p>
                  </a:txBody>
                  <a:tcPr marL="91440" marR="91440" marT="45720" marB="45720">
                    <a:solidFill>
                      <a:srgbClr val="102938"/>
                    </a:solidFill>
                  </a:tcPr>
                </a:tc>
                <a:tc>
                  <a:txBody>
                    <a:bodyPr/>
                    <a:lstStyle/>
                    <a:p>
                      <a:r>
                        <a:rPr sz="1800" b="1">
                          <a:solidFill>
                            <a:srgbClr val="FFFFFF"/>
                          </a:solidFill>
                          <a:latin typeface="Arial"/>
                          <a:ea typeface="Arial"/>
                          <a:cs typeface="Arial"/>
                        </a:rPr>
                        <a:t>Behaviour during and after a run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Named customer authoriser</a:t>
                      </a:r>
                    </a:p>
                  </a:txBody>
                  <a:tcPr marL="91440" marR="91440" marT="45720" marB="45720">
                    <a:solidFill>
                      <a:srgbClr val="FFFFFF"/>
                    </a:solidFill>
                  </a:tcPr>
                </a:tc>
                <a:tc>
                  <a:txBody>
                    <a:bodyPr/>
                    <a:lstStyle/>
                    <a:p>
                      <a:r>
                        <a:rPr sz="1800" b="0">
                          <a:solidFill>
                            <a:srgbClr val="142C3E"/>
                          </a:solidFill>
                          <a:latin typeface="Arial"/>
                          <a:ea typeface="Arial"/>
                          <a:cs typeface="Arial"/>
                        </a:rPr>
                        <a:t>The runner checks authority and expiry</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Exact targets and allowed techniques</a:t>
                      </a:r>
                    </a:p>
                  </a:txBody>
                  <a:tcPr marL="91440" marR="91440" marT="45720" marB="45720">
                    <a:solidFill>
                      <a:srgbClr val="EEF3F5"/>
                    </a:solidFill>
                  </a:tcPr>
                </a:tc>
                <a:tc>
                  <a:txBody>
                    <a:bodyPr/>
                    <a:lstStyle/>
                    <a:p>
                      <a:r>
                        <a:rPr sz="1800" b="0">
                          <a:solidFill>
                            <a:srgbClr val="142C3E"/>
                          </a:solidFill>
                          <a:latin typeface="Arial"/>
                          <a:ea typeface="Arial"/>
                          <a:cs typeface="Arial"/>
                        </a:rPr>
                        <a:t>Discovery cannot silently expand the approved scope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Time and resource limits</a:t>
                      </a:r>
                    </a:p>
                  </a:txBody>
                  <a:tcPr marL="91440" marR="91440" marT="45720" marB="45720">
                    <a:solidFill>
                      <a:srgbClr val="FFFFFF"/>
                    </a:solidFill>
                  </a:tcPr>
                </a:tc>
                <a:tc>
                  <a:txBody>
                    <a:bodyPr/>
                    <a:lstStyle/>
                    <a:p>
                      <a:r>
                        <a:rPr sz="1800" b="0">
                          <a:solidFill>
                            <a:srgbClr val="142C3E"/>
                          </a:solidFill>
                          <a:latin typeface="Arial"/>
                          <a:ea typeface="Arial"/>
                          <a:cs typeface="Arial"/>
                        </a:rPr>
                        <a:t>Abort stops new steps on a safety trigger or lost control</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Expected effects and cleanup</a:t>
                      </a:r>
                    </a:p>
                  </a:txBody>
                  <a:tcPr marL="91440" marR="91440" marT="45720" marB="45720">
                    <a:solidFill>
                      <a:srgbClr val="EEF3F5"/>
                    </a:solidFill>
                  </a:tcPr>
                </a:tc>
                <a:tc>
                  <a:txBody>
                    <a:bodyPr/>
                    <a:lstStyle/>
                    <a:p>
                      <a:r>
                        <a:rPr sz="1800" b="0">
                          <a:solidFill>
                            <a:srgbClr val="142C3E"/>
                          </a:solidFill>
                          <a:latin typeface="Arial"/>
                          <a:ea typeface="Arial"/>
                          <a:cs typeface="Arial"/>
                        </a:rPr>
                        <a:t>The report records partial execution and cleanup failures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763A3FA3-FBA7-43CE-BAE8-9C009D49332C}"/>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Passive sensor access never automatically grants active testing authority.</a:t>
            </a:r>
          </a:p>
        </p:txBody>
      </p:sp>
      <p:sp>
        <p:nvSpPr>
          <p:cNvPr id="4" name="">
            <a:extLst xmlns:a="http://schemas.openxmlformats.org/drawingml/2006/main">
              <a:ext uri="{FF2B5EF4-FFF2-40B4-BE49-F238E27FC236}">
                <a16:creationId xmlns:a16="http://schemas.microsoft.com/office/drawing/2014/main" id="{CC23F056-C829-4969-AE20-FB4B7BC652A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16</a:t>
            </a:r>
          </a:p>
        </p:txBody>
      </p:sp>
    </p:spTree>
    <p:extLst>
      <p:ext uri="{BB962C8B-B14F-4D97-AF65-F5344CB8AC3E}">
        <p14:creationId xmlns:p14="http://schemas.microsoft.com/office/powerpoint/2010/main" val="508906078"/>
      </p:ext>
    </p:extLst>
  </p:cSld>
</p:sld>
</file>

<file path=ppt/slides/slide1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49B276A-5843-4915-B736-59ABF2414D9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Defense Box implementation sequence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90875"/>
                <a:gridCol w="1666875"/>
                <a:gridCol w="5962650"/>
              </a:tblGrid>
              <a:tr h="476250">
                <a:tc>
                  <a:txBody>
                    <a:bodyPr/>
                    <a:lstStyle/>
                    <a:p>
                      <a:r>
                        <a:rPr sz="1800" b="1">
                          <a:solidFill>
                            <a:srgbClr val="FFFFFF"/>
                          </a:solidFill>
                          <a:latin typeface="Arial"/>
                          <a:ea typeface="Arial"/>
                          <a:cs typeface="Arial"/>
                        </a:rPr>
                        <a:t>Work</a:t>
                      </a:r>
                    </a:p>
                  </a:txBody>
                  <a:tcPr marL="91440" marR="91440" marT="45720" marB="45720">
                    <a:solidFill>
                      <a:srgbClr val="102938"/>
                    </a:solidFill>
                  </a:tcPr>
                </a:tc>
                <a:tc>
                  <a:txBody>
                    <a:bodyPr/>
                    <a:lstStyle/>
                    <a:p>
                      <a:r>
                        <a:rPr sz="1800" b="1">
                          <a:solidFill>
                            <a:srgbClr val="FFFFFF"/>
                          </a:solidFill>
                          <a:latin typeface="Arial"/>
                          <a:ea typeface="Arial"/>
                          <a:cs typeface="Arial"/>
                        </a:rPr>
                        <a:t>Task IDs</a:t>
                      </a:r>
                    </a:p>
                  </a:txBody>
                  <a:tcPr marL="91440" marR="91440" marT="45720" marB="45720">
                    <a:solidFill>
                      <a:srgbClr val="102938"/>
                    </a:solidFill>
                  </a:tcPr>
                </a:tc>
                <a:tc>
                  <a:txBody>
                    <a:bodyPr/>
                    <a:lstStyle/>
                    <a:p>
                      <a:r>
                        <a:rPr sz="1800" b="1">
                          <a:solidFill>
                            <a:srgbClr val="FFFFFF"/>
                          </a:solidFill>
                          <a:latin typeface="Arial"/>
                          <a:ea typeface="Arial"/>
                          <a:cs typeface="Arial"/>
                        </a:rPr>
                        <a:t>Acceptance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Packaging and passive data</a:t>
                      </a:r>
                    </a:p>
                  </a:txBody>
                  <a:tcPr marL="91440" marR="91440" marT="45720" marB="45720">
                    <a:solidFill>
                      <a:srgbClr val="FFFFFF"/>
                    </a:solidFill>
                  </a:tcPr>
                </a:tc>
                <a:tc>
                  <a:txBody>
                    <a:bodyPr/>
                    <a:lstStyle/>
                    <a:p>
                      <a:r>
                        <a:rPr sz="1800" b="0">
                          <a:solidFill>
                            <a:srgbClr val="142C3E"/>
                          </a:solidFill>
                          <a:latin typeface="Arial"/>
                          <a:ea typeface="Arial"/>
                          <a:cs typeface="Arial"/>
                        </a:rPr>
                        <a:t>DB-01–02</a:t>
                      </a:r>
                    </a:p>
                  </a:txBody>
                  <a:tcPr marL="91440" marR="91440" marT="45720" marB="45720">
                    <a:solidFill>
                      <a:srgbClr val="FFFFFF"/>
                    </a:solidFill>
                  </a:tcPr>
                </a:tc>
                <a:tc>
                  <a:txBody>
                    <a:bodyPr/>
                    <a:lstStyle/>
                    <a:p>
                      <a:r>
                        <a:rPr sz="1800" b="0">
                          <a:solidFill>
                            <a:srgbClr val="142C3E"/>
                          </a:solidFill>
                          <a:latin typeface="Arial"/>
                          <a:ea typeface="Arial"/>
                          <a:cs typeface="Arial"/>
                        </a:rPr>
                        <a:t>Install, enrol, bound disk use and report loss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Validation and reports</a:t>
                      </a:r>
                    </a:p>
                  </a:txBody>
                  <a:tcPr marL="91440" marR="91440" marT="45720" marB="45720">
                    <a:solidFill>
                      <a:srgbClr val="EEF3F5"/>
                    </a:solidFill>
                  </a:tcPr>
                </a:tc>
                <a:tc>
                  <a:txBody>
                    <a:bodyPr/>
                    <a:lstStyle/>
                    <a:p>
                      <a:r>
                        <a:rPr sz="1800" b="0">
                          <a:solidFill>
                            <a:srgbClr val="142C3E"/>
                          </a:solidFill>
                          <a:latin typeface="Arial"/>
                          <a:ea typeface="Arial"/>
                          <a:cs typeface="Arial"/>
                        </a:rPr>
                        <a:t>DB-03–04</a:t>
                      </a:r>
                    </a:p>
                  </a:txBody>
                  <a:tcPr marL="91440" marR="91440" marT="45720" marB="45720">
                    <a:solidFill>
                      <a:srgbClr val="EEF3F5"/>
                    </a:solidFill>
                  </a:tcPr>
                </a:tc>
                <a:tc>
                  <a:txBody>
                    <a:bodyPr/>
                    <a:lstStyle/>
                    <a:p>
                      <a:r>
                        <a:rPr sz="1800" b="0">
                          <a:solidFill>
                            <a:srgbClr val="142C3E"/>
                          </a:solidFill>
                          <a:latin typeface="Arial"/>
                          <a:ea typeface="Arial"/>
                          <a:cs typeface="Arial"/>
                        </a:rPr>
                        <a:t>Five safe checks, abort, cleanup and retest evidence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Local inference</a:t>
                      </a:r>
                    </a:p>
                  </a:txBody>
                  <a:tcPr marL="91440" marR="91440" marT="45720" marB="45720">
                    <a:solidFill>
                      <a:srgbClr val="FFFFFF"/>
                    </a:solidFill>
                  </a:tcPr>
                </a:tc>
                <a:tc>
                  <a:txBody>
                    <a:bodyPr/>
                    <a:lstStyle/>
                    <a:p>
                      <a:r>
                        <a:rPr sz="1800" b="0">
                          <a:solidFill>
                            <a:srgbClr val="142C3E"/>
                          </a:solidFill>
                          <a:latin typeface="Arial"/>
                          <a:ea typeface="Arial"/>
                          <a:cs typeface="Arial"/>
                        </a:rPr>
                        <a:t>DB-05</a:t>
                      </a:r>
                    </a:p>
                  </a:txBody>
                  <a:tcPr marL="91440" marR="91440" marT="45720" marB="45720">
                    <a:solidFill>
                      <a:srgbClr val="FFFFFF"/>
                    </a:solidFill>
                  </a:tcPr>
                </a:tc>
                <a:tc>
                  <a:txBody>
                    <a:bodyPr/>
                    <a:lstStyle/>
                    <a:p>
                      <a:r>
                        <a:rPr sz="1800" b="0">
                          <a:solidFill>
                            <a:srgbClr val="142C3E"/>
                          </a:solidFill>
                          <a:latin typeface="Arial"/>
                          <a:ea typeface="Arial"/>
                          <a:cs typeface="Arial"/>
                        </a:rPr>
                        <a:t>Measured quality and resource use against rules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Supported release</a:t>
                      </a:r>
                    </a:p>
                  </a:txBody>
                  <a:tcPr marL="91440" marR="91440" marT="45720" marB="45720">
                    <a:solidFill>
                      <a:srgbClr val="EEF3F5"/>
                    </a:solidFill>
                  </a:tcPr>
                </a:tc>
                <a:tc>
                  <a:txBody>
                    <a:bodyPr/>
                    <a:lstStyle/>
                    <a:p>
                      <a:r>
                        <a:rPr sz="1800" b="0">
                          <a:solidFill>
                            <a:srgbClr val="142C3E"/>
                          </a:solidFill>
                          <a:latin typeface="Arial"/>
                          <a:ea typeface="Arial"/>
                          <a:cs typeface="Arial"/>
                        </a:rPr>
                        <a:t>DB-06</a:t>
                      </a:r>
                    </a:p>
                  </a:txBody>
                  <a:tcPr marL="91440" marR="91440" marT="45720" marB="45720">
                    <a:solidFill>
                      <a:srgbClr val="EEF3F5"/>
                    </a:solidFill>
                  </a:tcPr>
                </a:tc>
                <a:tc>
                  <a:txBody>
                    <a:bodyPr/>
                    <a:lstStyle/>
                    <a:p>
                      <a:r>
                        <a:rPr sz="1800" b="0">
                          <a:solidFill>
                            <a:srgbClr val="142C3E"/>
                          </a:solidFill>
                          <a:latin typeface="Arial"/>
                          <a:ea typeface="Arial"/>
                          <a:cs typeface="Arial"/>
                        </a:rPr>
                        <a:t>Reference profile, rollback and operating guide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3EA60466-B670-496F-A46A-C1390EE155D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17</a:t>
            </a:r>
          </a:p>
        </p:txBody>
      </p:sp>
    </p:spTree>
    <p:extLst>
      <p:ext uri="{BB962C8B-B14F-4D97-AF65-F5344CB8AC3E}">
        <p14:creationId xmlns:p14="http://schemas.microsoft.com/office/powerpoint/2010/main" val="1891954739"/>
      </p:ext>
    </p:extLst>
  </p:cSld>
</p:sld>
</file>

<file path=ppt/slides/slide1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8D1831-B12D-4DB6-B802-72CB98AC090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Agent Security</a:t>
            </a:r>
          </a:p>
        </p:txBody>
      </p:sp>
      <p:sp>
        <p:nvSpPr>
          <p:cNvPr id="2" name="">
            <a:extLst xmlns:a="http://schemas.openxmlformats.org/drawingml/2006/main">
              <a:ext uri="{FF2B5EF4-FFF2-40B4-BE49-F238E27FC236}">
                <a16:creationId xmlns:a16="http://schemas.microsoft.com/office/drawing/2014/main" id="{A36342AD-BB4A-4218-9942-1C0B472A3A62}"/>
              </a:ext>
            </a:extLst>
          </p:cNvPr>
          <p:cNvSpPr>
            <a:spLocks xmlns:a="http://schemas.openxmlformats.org/drawingml/2006/main" noGrp="1"/>
          </p:cNvSpPr>
          <p:nvPr/>
        </p:nvSpPr>
        <p:spPr>
          <a:xfrm xmlns:a="http://schemas.openxmlformats.org/drawingml/2006/main">
            <a:off x="685800" y="1438275"/>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087D87"/>
                </a:solidFill>
                <a:latin typeface="Arial"/>
                <a:ea typeface="Arial"/>
                <a:cs typeface="Arial"/>
              </a:defRPr>
            </a:pPr>
            <a:r>
              <a:rPr sz="2175" b="0">
                <a:solidFill>
                  <a:srgbClr val="087D87"/>
                </a:solidFill>
                <a:latin typeface="Arial"/>
                <a:ea typeface="Arial"/>
                <a:cs typeface="Arial"/>
              </a:rPr>
              <a:t>Task-level authority controls agents across runtimes.</a:t>
            </a:r>
          </a:p>
        </p:txBody>
      </p:sp>
      <p:sp>
        <p:nvSpPr>
          <p:cNvPr id="3" name="">
            <a:extLst xmlns:a="http://schemas.openxmlformats.org/drawingml/2006/main">
              <a:ext uri="{FF2B5EF4-FFF2-40B4-BE49-F238E27FC236}">
                <a16:creationId xmlns:a16="http://schemas.microsoft.com/office/drawing/2014/main" id="{CC913229-601A-4CC2-933E-E65BFF6458B3}"/>
              </a:ext>
            </a:extLst>
          </p:cNvPr>
          <p:cNvSpPr>
            <a:spLocks xmlns:a="http://schemas.openxmlformats.org/drawingml/2006/main" noGrp="1"/>
          </p:cNvSpPr>
          <p:nvPr/>
        </p:nvSpPr>
        <p:spPr>
          <a:xfrm xmlns:a="http://schemas.openxmlformats.org/drawingml/2006/main">
            <a:off x="685800" y="228600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Administrator</a:t>
            </a:r>
          </a:p>
        </p:txBody>
      </p:sp>
      <p:sp>
        <p:nvSpPr>
          <p:cNvPr id="4" name="">
            <a:extLst xmlns:a="http://schemas.openxmlformats.org/drawingml/2006/main">
              <a:ext uri="{FF2B5EF4-FFF2-40B4-BE49-F238E27FC236}">
                <a16:creationId xmlns:a16="http://schemas.microsoft.com/office/drawing/2014/main" id="{8A716888-2D28-49A3-AA14-57CD997E1EEA}"/>
              </a:ext>
            </a:extLst>
          </p:cNvPr>
          <p:cNvSpPr>
            <a:spLocks xmlns:a="http://schemas.openxmlformats.org/drawingml/2006/main" noGrp="1"/>
          </p:cNvSpPr>
          <p:nvPr/>
        </p:nvSpPr>
        <p:spPr>
          <a:xfrm xmlns:a="http://schemas.openxmlformats.org/drawingml/2006/main">
            <a:off x="3905250" y="228600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Register a workload and assign tool, resource and budget policies.</a:t>
            </a:r>
          </a:p>
        </p:txBody>
      </p:sp>
      <p:sp>
        <p:nvSpPr>
          <p:cNvPr id="5" name="">
            <a:extLst xmlns:a="http://schemas.openxmlformats.org/drawingml/2006/main">
              <a:ext uri="{FF2B5EF4-FFF2-40B4-BE49-F238E27FC236}">
                <a16:creationId xmlns:a16="http://schemas.microsoft.com/office/drawing/2014/main" id="{8DC61729-8538-4B0D-8681-DA52315378F2}"/>
              </a:ext>
            </a:extLst>
          </p:cNvPr>
          <p:cNvSpPr>
            <a:spLocks xmlns:a="http://schemas.openxmlformats.org/drawingml/2006/main" noGrp="1"/>
          </p:cNvSpPr>
          <p:nvPr/>
        </p:nvSpPr>
        <p:spPr>
          <a:xfrm xmlns:a="http://schemas.openxmlformats.org/drawingml/2006/main">
            <a:off x="685800" y="313372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Developer</a:t>
            </a:r>
          </a:p>
        </p:txBody>
      </p:sp>
      <p:sp>
        <p:nvSpPr>
          <p:cNvPr id="6" name="">
            <a:extLst xmlns:a="http://schemas.openxmlformats.org/drawingml/2006/main">
              <a:ext uri="{FF2B5EF4-FFF2-40B4-BE49-F238E27FC236}">
                <a16:creationId xmlns:a16="http://schemas.microsoft.com/office/drawing/2014/main" id="{4DE65382-B3FA-47A7-A742-6193F4B9CA6E}"/>
              </a:ext>
            </a:extLst>
          </p:cNvPr>
          <p:cNvSpPr>
            <a:spLocks xmlns:a="http://schemas.openxmlformats.org/drawingml/2006/main" noGrp="1"/>
          </p:cNvSpPr>
          <p:nvPr/>
        </p:nvSpPr>
        <p:spPr>
          <a:xfrm xmlns:a="http://schemas.openxmlformats.org/drawingml/2006/main">
            <a:off x="3905250" y="313372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 a documented gateway and small SDK with existing agent runtimes.</a:t>
            </a:r>
          </a:p>
        </p:txBody>
      </p:sp>
      <p:sp>
        <p:nvSpPr>
          <p:cNvPr id="7" name="">
            <a:extLst xmlns:a="http://schemas.openxmlformats.org/drawingml/2006/main">
              <a:ext uri="{FF2B5EF4-FFF2-40B4-BE49-F238E27FC236}">
                <a16:creationId xmlns:a16="http://schemas.microsoft.com/office/drawing/2014/main" id="{9FD580A2-2F9E-4F5F-B980-CCFEFB5FC8F6}"/>
              </a:ext>
            </a:extLst>
          </p:cNvPr>
          <p:cNvSpPr>
            <a:spLocks xmlns:a="http://schemas.openxmlformats.org/drawingml/2006/main" noGrp="1"/>
          </p:cNvSpPr>
          <p:nvPr/>
        </p:nvSpPr>
        <p:spPr>
          <a:xfrm xmlns:a="http://schemas.openxmlformats.org/drawingml/2006/main">
            <a:off x="685800" y="3981450"/>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Operator</a:t>
            </a:r>
          </a:p>
        </p:txBody>
      </p:sp>
      <p:sp>
        <p:nvSpPr>
          <p:cNvPr id="8" name="">
            <a:extLst xmlns:a="http://schemas.openxmlformats.org/drawingml/2006/main">
              <a:ext uri="{FF2B5EF4-FFF2-40B4-BE49-F238E27FC236}">
                <a16:creationId xmlns:a16="http://schemas.microsoft.com/office/drawing/2014/main" id="{BE6832B6-A40C-4028-8B0A-7643B02F99CF}"/>
              </a:ext>
            </a:extLst>
          </p:cNvPr>
          <p:cNvSpPr>
            <a:spLocks xmlns:a="http://schemas.openxmlformats.org/drawingml/2006/main" noGrp="1"/>
          </p:cNvSpPr>
          <p:nvPr/>
        </p:nvSpPr>
        <p:spPr>
          <a:xfrm xmlns:a="http://schemas.openxmlformats.org/drawingml/2006/main">
            <a:off x="3905250" y="3981450"/>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Inspect actions, revoke capabilities and reconcile interrupted runs.</a:t>
            </a:r>
          </a:p>
        </p:txBody>
      </p:sp>
      <p:sp>
        <p:nvSpPr>
          <p:cNvPr id="9" name="">
            <a:extLst xmlns:a="http://schemas.openxmlformats.org/drawingml/2006/main">
              <a:ext uri="{FF2B5EF4-FFF2-40B4-BE49-F238E27FC236}">
                <a16:creationId xmlns:a16="http://schemas.microsoft.com/office/drawing/2014/main" id="{DDE965C5-A634-4CB0-802B-A22C5E65CE32}"/>
              </a:ext>
            </a:extLst>
          </p:cNvPr>
          <p:cNvSpPr>
            <a:spLocks xmlns:a="http://schemas.openxmlformats.org/drawingml/2006/main" noGrp="1"/>
          </p:cNvSpPr>
          <p:nvPr/>
        </p:nvSpPr>
        <p:spPr>
          <a:xfrm xmlns:a="http://schemas.openxmlformats.org/drawingml/2006/main">
            <a:off x="685800" y="48291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First workflows</a:t>
            </a:r>
          </a:p>
        </p:txBody>
      </p:sp>
      <p:sp>
        <p:nvSpPr>
          <p:cNvPr id="10" name="">
            <a:extLst xmlns:a="http://schemas.openxmlformats.org/drawingml/2006/main">
              <a:ext uri="{FF2B5EF4-FFF2-40B4-BE49-F238E27FC236}">
                <a16:creationId xmlns:a16="http://schemas.microsoft.com/office/drawing/2014/main" id="{26148951-2358-4FF3-B857-62049E7FDF24}"/>
              </a:ext>
            </a:extLst>
          </p:cNvPr>
          <p:cNvSpPr>
            <a:spLocks xmlns:a="http://schemas.openxmlformats.org/drawingml/2006/main" noGrp="1"/>
          </p:cNvSpPr>
          <p:nvPr/>
        </p:nvSpPr>
        <p:spPr>
          <a:xfrm xmlns:a="http://schemas.openxmlformats.org/drawingml/2006/main">
            <a:off x="3905250" y="48291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Sandboxed repository maintenance and evidence-based report drafting.</a:t>
            </a:r>
          </a:p>
        </p:txBody>
      </p:sp>
      <p:sp>
        <p:nvSpPr>
          <p:cNvPr id="11" name="">
            <a:extLst xmlns:a="http://schemas.openxmlformats.org/drawingml/2006/main">
              <a:ext uri="{FF2B5EF4-FFF2-40B4-BE49-F238E27FC236}">
                <a16:creationId xmlns:a16="http://schemas.microsoft.com/office/drawing/2014/main" id="{A78336F6-E7F6-4B8A-87DD-98B7C06AD8B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18</a:t>
            </a:r>
          </a:p>
        </p:txBody>
      </p:sp>
    </p:spTree>
    <p:extLst>
      <p:ext uri="{BB962C8B-B14F-4D97-AF65-F5344CB8AC3E}">
        <p14:creationId xmlns:p14="http://schemas.microsoft.com/office/powerpoint/2010/main" val="1619527963"/>
      </p:ext>
    </p:extLst>
  </p:cSld>
</p:sld>
</file>

<file path=ppt/slides/slide1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348466E-1992-4EF1-B8D1-8AD59EE7FFDC}"/>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Agent authority and execution</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Boundary</a:t>
                      </a:r>
                    </a:p>
                  </a:txBody>
                  <a:tcPr marL="91440" marR="91440" marT="45720" marB="45720">
                    <a:solidFill>
                      <a:srgbClr val="102938"/>
                    </a:solidFill>
                  </a:tcPr>
                </a:tc>
                <a:tc>
                  <a:txBody>
                    <a:bodyPr/>
                    <a:lstStyle/>
                    <a:p>
                      <a:r>
                        <a:rPr sz="1800" b="1">
                          <a:solidFill>
                            <a:srgbClr val="FFFFFF"/>
                          </a:solidFill>
                          <a:latin typeface="Arial"/>
                          <a:ea typeface="Arial"/>
                          <a:cs typeface="Arial"/>
                        </a:rPr>
                        <a:t>Design decision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Identity</a:t>
                      </a:r>
                    </a:p>
                  </a:txBody>
                  <a:tcPr marL="91440" marR="91440" marT="45720" marB="45720">
                    <a:solidFill>
                      <a:srgbClr val="FFFFFF"/>
                    </a:solidFill>
                  </a:tcPr>
                </a:tc>
                <a:tc>
                  <a:txBody>
                    <a:bodyPr/>
                    <a:lstStyle/>
                    <a:p>
                      <a:r>
                        <a:rPr sz="1800" b="0">
                          <a:solidFill>
                            <a:srgbClr val="142C3E"/>
                          </a:solidFill>
                          <a:latin typeface="Arial"/>
                          <a:ea typeface="Arial"/>
                          <a:cs typeface="Arial"/>
                        </a:rPr>
                        <a:t>Separate human, workload, run and network-peer identities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Permission</a:t>
                      </a:r>
                    </a:p>
                  </a:txBody>
                  <a:tcPr marL="91440" marR="91440" marT="45720" marB="45720">
                    <a:solidFill>
                      <a:srgbClr val="EEF3F5"/>
                    </a:solidFill>
                  </a:tcPr>
                </a:tc>
                <a:tc>
                  <a:txBody>
                    <a:bodyPr/>
                    <a:lstStyle/>
                    <a:p>
                      <a:r>
                        <a:rPr sz="1800" b="0">
                          <a:solidFill>
                            <a:srgbClr val="142C3E"/>
                          </a:solidFill>
                          <a:latin typeface="Arial"/>
                          <a:ea typeface="Arial"/>
                          <a:cs typeface="Arial"/>
                        </a:rPr>
                        <a:t>A deterministic gateway checks operation, target and parameters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Isolation</a:t>
                      </a:r>
                    </a:p>
                  </a:txBody>
                  <a:tcPr marL="91440" marR="91440" marT="45720" marB="45720">
                    <a:solidFill>
                      <a:srgbClr val="FFFFFF"/>
                    </a:solidFill>
                  </a:tcPr>
                </a:tc>
                <a:tc>
                  <a:txBody>
                    <a:bodyPr/>
                    <a:lstStyle/>
                    <a:p>
                      <a:r>
                        <a:rPr sz="1800" b="0">
                          <a:solidFill>
                            <a:srgbClr val="142C3E"/>
                          </a:solidFill>
                          <a:latin typeface="Arial"/>
                          <a:ea typeface="Arial"/>
                          <a:cs typeface="Arial"/>
                        </a:rPr>
                        <a:t>Dedicated worker VM, unprivileged task container and controlled egress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Evidence</a:t>
                      </a:r>
                    </a:p>
                  </a:txBody>
                  <a:tcPr marL="91440" marR="91440" marT="45720" marB="45720">
                    <a:solidFill>
                      <a:srgbClr val="EEF3F5"/>
                    </a:solidFill>
                  </a:tcPr>
                </a:tc>
                <a:tc>
                  <a:txBody>
                    <a:bodyPr/>
                    <a:lstStyle/>
                    <a:p>
                      <a:r>
                        <a:rPr sz="1800" b="0">
                          <a:solidFill>
                            <a:srgbClr val="142C3E"/>
                          </a:solidFill>
                          <a:latin typeface="Arial"/>
                          <a:ea typeface="Arial"/>
                          <a:cs typeface="Arial"/>
                        </a:rPr>
                        <a:t>Persist checkpoints and audit traces without replaying side effects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A6EC7F27-80AF-48CD-812E-3DE33869E123}"/>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Models propose actions. Authorised people and deterministic policies govern consequential execution.</a:t>
            </a:r>
          </a:p>
        </p:txBody>
      </p:sp>
      <p:sp>
        <p:nvSpPr>
          <p:cNvPr id="4" name="">
            <a:extLst xmlns:a="http://schemas.openxmlformats.org/drawingml/2006/main">
              <a:ext uri="{FF2B5EF4-FFF2-40B4-BE49-F238E27FC236}">
                <a16:creationId xmlns:a16="http://schemas.microsoft.com/office/drawing/2014/main" id="{A5B3E454-BCBF-40D8-9DAB-DFE6C4F68D5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19</a:t>
            </a:r>
          </a:p>
        </p:txBody>
      </p:sp>
    </p:spTree>
    <p:extLst>
      <p:ext uri="{BB962C8B-B14F-4D97-AF65-F5344CB8AC3E}">
        <p14:creationId xmlns:p14="http://schemas.microsoft.com/office/powerpoint/2010/main" val="742409335"/>
      </p:ext>
    </p:extLst>
  </p:cSld>
</p:sld>
</file>

<file path=ppt/slides/slide2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57AFBA2-9E12-4391-B67E-FD129587A79E}"/>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Agent Security backlog and release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90875"/>
                <a:gridCol w="1666875"/>
                <a:gridCol w="5962650"/>
              </a:tblGrid>
              <a:tr h="476250">
                <a:tc>
                  <a:txBody>
                    <a:bodyPr/>
                    <a:lstStyle/>
                    <a:p>
                      <a:r>
                        <a:rPr sz="1800" b="1">
                          <a:solidFill>
                            <a:srgbClr val="FFFFFF"/>
                          </a:solidFill>
                          <a:latin typeface="Arial"/>
                          <a:ea typeface="Arial"/>
                          <a:cs typeface="Arial"/>
                        </a:rPr>
                        <a:t>Work</a:t>
                      </a:r>
                    </a:p>
                  </a:txBody>
                  <a:tcPr marL="91440" marR="91440" marT="45720" marB="45720">
                    <a:solidFill>
                      <a:srgbClr val="102938"/>
                    </a:solidFill>
                  </a:tcPr>
                </a:tc>
                <a:tc>
                  <a:txBody>
                    <a:bodyPr/>
                    <a:lstStyle/>
                    <a:p>
                      <a:r>
                        <a:rPr sz="1800" b="1">
                          <a:solidFill>
                            <a:srgbClr val="FFFFFF"/>
                          </a:solidFill>
                          <a:latin typeface="Arial"/>
                          <a:ea typeface="Arial"/>
                          <a:cs typeface="Arial"/>
                        </a:rPr>
                        <a:t>Task IDs</a:t>
                      </a:r>
                    </a:p>
                  </a:txBody>
                  <a:tcPr marL="91440" marR="91440" marT="45720" marB="45720">
                    <a:solidFill>
                      <a:srgbClr val="102938"/>
                    </a:solidFill>
                  </a:tcPr>
                </a:tc>
                <a:tc>
                  <a:txBody>
                    <a:bodyPr/>
                    <a:lstStyle/>
                    <a:p>
                      <a:r>
                        <a:rPr sz="1800" b="1">
                          <a:solidFill>
                            <a:srgbClr val="FFFFFF"/>
                          </a:solidFill>
                          <a:latin typeface="Arial"/>
                          <a:ea typeface="Arial"/>
                          <a:cs typeface="Arial"/>
                        </a:rPr>
                        <a:t>Acceptance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Identity and tools</a:t>
                      </a:r>
                    </a:p>
                  </a:txBody>
                  <a:tcPr marL="91440" marR="91440" marT="45720" marB="45720">
                    <a:solidFill>
                      <a:srgbClr val="FFFFFF"/>
                    </a:solidFill>
                  </a:tcPr>
                </a:tc>
                <a:tc>
                  <a:txBody>
                    <a:bodyPr/>
                    <a:lstStyle/>
                    <a:p>
                      <a:r>
                        <a:rPr sz="1800" b="0">
                          <a:solidFill>
                            <a:srgbClr val="142C3E"/>
                          </a:solidFill>
                          <a:latin typeface="Arial"/>
                          <a:ea typeface="Arial"/>
                          <a:cs typeface="Arial"/>
                        </a:rPr>
                        <a:t>AS-01–02</a:t>
                      </a:r>
                    </a:p>
                  </a:txBody>
                  <a:tcPr marL="91440" marR="91440" marT="45720" marB="45720">
                    <a:solidFill>
                      <a:srgbClr val="FFFFFF"/>
                    </a:solidFill>
                  </a:tcPr>
                </a:tc>
                <a:tc>
                  <a:txBody>
                    <a:bodyPr/>
                    <a:lstStyle/>
                    <a:p>
                      <a:r>
                        <a:rPr sz="1800" b="0">
                          <a:solidFill>
                            <a:srgbClr val="142C3E"/>
                          </a:solidFill>
                          <a:latin typeface="Arial"/>
                          <a:ea typeface="Arial"/>
                          <a:cs typeface="Arial"/>
                        </a:rPr>
                        <a:t>Scoped issue/revoke and denied unauthorised calls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Sandbox and model gateway</a:t>
                      </a:r>
                    </a:p>
                  </a:txBody>
                  <a:tcPr marL="91440" marR="91440" marT="45720" marB="45720">
                    <a:solidFill>
                      <a:srgbClr val="EEF3F5"/>
                    </a:solidFill>
                  </a:tcPr>
                </a:tc>
                <a:tc>
                  <a:txBody>
                    <a:bodyPr/>
                    <a:lstStyle/>
                    <a:p>
                      <a:r>
                        <a:rPr sz="1800" b="0">
                          <a:solidFill>
                            <a:srgbClr val="142C3E"/>
                          </a:solidFill>
                          <a:latin typeface="Arial"/>
                          <a:ea typeface="Arial"/>
                          <a:cs typeface="Arial"/>
                        </a:rPr>
                        <a:t>AS-03–04</a:t>
                      </a:r>
                    </a:p>
                  </a:txBody>
                  <a:tcPr marL="91440" marR="91440" marT="45720" marB="45720">
                    <a:solidFill>
                      <a:srgbClr val="EEF3F5"/>
                    </a:solidFill>
                  </a:tcPr>
                </a:tc>
                <a:tc>
                  <a:txBody>
                    <a:bodyPr/>
                    <a:lstStyle/>
                    <a:p>
                      <a:r>
                        <a:rPr sz="1800" b="0">
                          <a:solidFill>
                            <a:srgbClr val="142C3E"/>
                          </a:solidFill>
                          <a:latin typeface="Arial"/>
                          <a:ea typeface="Arial"/>
                          <a:cs typeface="Arial"/>
                        </a:rPr>
                        <a:t>Secret isolation, approved routes and hard budgets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Recovery and audit</a:t>
                      </a:r>
                    </a:p>
                  </a:txBody>
                  <a:tcPr marL="91440" marR="91440" marT="45720" marB="45720">
                    <a:solidFill>
                      <a:srgbClr val="FFFFFF"/>
                    </a:solidFill>
                  </a:tcPr>
                </a:tc>
                <a:tc>
                  <a:txBody>
                    <a:bodyPr/>
                    <a:lstStyle/>
                    <a:p>
                      <a:r>
                        <a:rPr sz="1800" b="0">
                          <a:solidFill>
                            <a:srgbClr val="142C3E"/>
                          </a:solidFill>
                          <a:latin typeface="Arial"/>
                          <a:ea typeface="Arial"/>
                          <a:cs typeface="Arial"/>
                        </a:rPr>
                        <a:t>AS-05</a:t>
                      </a:r>
                    </a:p>
                  </a:txBody>
                  <a:tcPr marL="91440" marR="91440" marT="45720" marB="45720">
                    <a:solidFill>
                      <a:srgbClr val="FFFFFF"/>
                    </a:solidFill>
                  </a:tcPr>
                </a:tc>
                <a:tc>
                  <a:txBody>
                    <a:bodyPr/>
                    <a:lstStyle/>
                    <a:p>
                      <a:r>
                        <a:rPr sz="1800" b="0">
                          <a:solidFill>
                            <a:srgbClr val="142C3E"/>
                          </a:solidFill>
                          <a:latin typeface="Arial"/>
                          <a:ea typeface="Arial"/>
                          <a:cs typeface="Arial"/>
                        </a:rPr>
                        <a:t>No duplicated action after interruption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Customer release</a:t>
                      </a:r>
                    </a:p>
                  </a:txBody>
                  <a:tcPr marL="91440" marR="91440" marT="45720" marB="45720">
                    <a:solidFill>
                      <a:srgbClr val="EEF3F5"/>
                    </a:solidFill>
                  </a:tcPr>
                </a:tc>
                <a:tc>
                  <a:txBody>
                    <a:bodyPr/>
                    <a:lstStyle/>
                    <a:p>
                      <a:r>
                        <a:rPr sz="1800" b="0">
                          <a:solidFill>
                            <a:srgbClr val="142C3E"/>
                          </a:solidFill>
                          <a:latin typeface="Arial"/>
                          <a:ea typeface="Arial"/>
                          <a:cs typeface="Arial"/>
                        </a:rPr>
                        <a:t>AS-06</a:t>
                      </a:r>
                    </a:p>
                  </a:txBody>
                  <a:tcPr marL="91440" marR="91440" marT="45720" marB="45720">
                    <a:solidFill>
                      <a:srgbClr val="EEF3F5"/>
                    </a:solidFill>
                  </a:tcPr>
                </a:tc>
                <a:tc>
                  <a:txBody>
                    <a:bodyPr/>
                    <a:lstStyle/>
                    <a:p>
                      <a:r>
                        <a:rPr sz="1800" b="0">
                          <a:solidFill>
                            <a:srgbClr val="142C3E"/>
                          </a:solidFill>
                          <a:latin typeface="Arial"/>
                          <a:ea typeface="Arial"/>
                          <a:cs typeface="Arial"/>
                        </a:rPr>
                        <a:t>Two workflows, compatibility matrix and security review</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32C73888-D838-478D-BB25-F198DE43D955}"/>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20</a:t>
            </a:r>
          </a:p>
        </p:txBody>
      </p:sp>
    </p:spTree>
    <p:extLst>
      <p:ext uri="{BB962C8B-B14F-4D97-AF65-F5344CB8AC3E}">
        <p14:creationId xmlns:p14="http://schemas.microsoft.com/office/powerpoint/2010/main" val="1240551433"/>
      </p:ext>
    </p:extLst>
  </p:cSld>
</p:sld>
</file>

<file path=ppt/slides/slide2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5E0144B-382A-477C-8BC3-76634EFEA84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Shared platform architecture</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Functional area</a:t>
                      </a:r>
                    </a:p>
                  </a:txBody>
                  <a:tcPr marL="91440" marR="91440" marT="45720" marB="45720">
                    <a:solidFill>
                      <a:srgbClr val="102938"/>
                    </a:solidFill>
                  </a:tcPr>
                </a:tc>
                <a:tc>
                  <a:txBody>
                    <a:bodyPr/>
                    <a:lstStyle/>
                    <a:p>
                      <a:r>
                        <a:rPr sz="1800" b="1">
                          <a:solidFill>
                            <a:srgbClr val="FFFFFF"/>
                          </a:solidFill>
                          <a:latin typeface="Arial"/>
                          <a:ea typeface="Arial"/>
                          <a:cs typeface="Arial"/>
                        </a:rPr>
                        <a:t>Responsibilities</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Customer applications</a:t>
                      </a:r>
                    </a:p>
                  </a:txBody>
                  <a:tcPr marL="91440" marR="91440" marT="45720" marB="45720">
                    <a:solidFill>
                      <a:srgbClr val="FFFFFF"/>
                    </a:solidFill>
                  </a:tcPr>
                </a:tc>
                <a:tc>
                  <a:txBody>
                    <a:bodyPr/>
                    <a:lstStyle/>
                    <a:p>
                      <a:r>
                        <a:rPr sz="1800" b="0">
                          <a:solidFill>
                            <a:srgbClr val="142C3E"/>
                          </a:solidFill>
                          <a:latin typeface="Arial"/>
                          <a:ea typeface="Arial"/>
                          <a:cs typeface="Arial"/>
                        </a:rPr>
                        <a:t>Learning, findings, investigations, validation and agent administration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Platform services</a:t>
                      </a:r>
                    </a:p>
                  </a:txBody>
                  <a:tcPr marL="91440" marR="91440" marT="45720" marB="45720">
                    <a:solidFill>
                      <a:srgbClr val="EEF3F5"/>
                    </a:solidFill>
                  </a:tcPr>
                </a:tc>
                <a:tc>
                  <a:txBody>
                    <a:bodyPr/>
                    <a:lstStyle/>
                    <a:p>
                      <a:r>
                        <a:rPr sz="1800" b="0">
                          <a:solidFill>
                            <a:srgbClr val="142C3E"/>
                          </a:solidFill>
                          <a:latin typeface="Arial"/>
                          <a:ea typeface="Arial"/>
                          <a:cs typeface="Arial"/>
                        </a:rPr>
                        <a:t>Identity, roles, approvals, configuration, entitlements and audit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Evidence and intelligence</a:t>
                      </a:r>
                    </a:p>
                  </a:txBody>
                  <a:tcPr marL="91440" marR="91440" marT="45720" marB="45720">
                    <a:solidFill>
                      <a:srgbClr val="FFFFFF"/>
                    </a:solidFill>
                  </a:tcPr>
                </a:tc>
                <a:tc>
                  <a:txBody>
                    <a:bodyPr/>
                    <a:lstStyle/>
                    <a:p>
                      <a:r>
                        <a:rPr sz="1800" b="0">
                          <a:solidFill>
                            <a:srgbClr val="142C3E"/>
                          </a:solidFill>
                          <a:latin typeface="Arial"/>
                          <a:ea typeface="Arial"/>
                          <a:cs typeface="Arial"/>
                        </a:rPr>
                        <a:t>Assets, observations, findings, models and provenance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Edge and execution</a:t>
                      </a:r>
                    </a:p>
                  </a:txBody>
                  <a:tcPr marL="91440" marR="91440" marT="45720" marB="45720">
                    <a:solidFill>
                      <a:srgbClr val="EEF3F5"/>
                    </a:solidFill>
                  </a:tcPr>
                </a:tc>
                <a:tc>
                  <a:txBody>
                    <a:bodyPr/>
                    <a:lstStyle/>
                    <a:p>
                      <a:r>
                        <a:rPr sz="1800" b="0">
                          <a:solidFill>
                            <a:srgbClr val="142C3E"/>
                          </a:solidFill>
                          <a:latin typeface="Arial"/>
                          <a:ea typeface="Arial"/>
                          <a:cs typeface="Arial"/>
                        </a:rPr>
                        <a:t>Collectors, local inference and isolated runners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Delivery infrastructure</a:t>
                      </a:r>
                    </a:p>
                  </a:txBody>
                  <a:tcPr marL="91440" marR="91440" marT="45720" marB="45720">
                    <a:solidFill>
                      <a:srgbClr val="FFFFFF"/>
                    </a:solidFill>
                  </a:tcPr>
                </a:tc>
                <a:tc>
                  <a:txBody>
                    <a:bodyPr/>
                    <a:lstStyle/>
                    <a:p>
                      <a:r>
                        <a:rPr sz="1800" b="0">
                          <a:solidFill>
                            <a:srgbClr val="142C3E"/>
                          </a:solidFill>
                          <a:latin typeface="Arial"/>
                          <a:ea typeface="Arial"/>
                          <a:cs typeface="Arial"/>
                        </a:rPr>
                        <a:t>Packaging, secrets, monitoring, backups and recovery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BDC63B5-99FC-41CB-954E-A51C5F9C8644}"/>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Logical areas can share a deployment. They do not require five microservices.</a:t>
            </a:r>
          </a:p>
        </p:txBody>
      </p:sp>
      <p:sp>
        <p:nvSpPr>
          <p:cNvPr id="4" name="">
            <a:extLst xmlns:a="http://schemas.openxmlformats.org/drawingml/2006/main">
              <a:ext uri="{FF2B5EF4-FFF2-40B4-BE49-F238E27FC236}">
                <a16:creationId xmlns:a16="http://schemas.microsoft.com/office/drawing/2014/main" id="{249BBE6E-75B9-485F-97A3-4152867F08D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21</a:t>
            </a:r>
          </a:p>
        </p:txBody>
      </p:sp>
    </p:spTree>
    <p:extLst>
      <p:ext uri="{BB962C8B-B14F-4D97-AF65-F5344CB8AC3E}">
        <p14:creationId xmlns:p14="http://schemas.microsoft.com/office/powerpoint/2010/main" val="504917239"/>
      </p:ext>
    </p:extLst>
  </p:cSld>
</p:sld>
</file>

<file path=ppt/slides/slide2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CADE021-5E34-46D9-A80C-EADA50076F8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Evidence and action flow</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Stage</a:t>
                      </a:r>
                    </a:p>
                  </a:txBody>
                  <a:tcPr marL="91440" marR="91440" marT="45720" marB="45720">
                    <a:solidFill>
                      <a:srgbClr val="102938"/>
                    </a:solidFill>
                  </a:tcPr>
                </a:tc>
                <a:tc>
                  <a:txBody>
                    <a:bodyPr/>
                    <a:lstStyle/>
                    <a:p>
                      <a:r>
                        <a:rPr sz="1800" b="1">
                          <a:solidFill>
                            <a:srgbClr val="FFFFFF"/>
                          </a:solidFill>
                          <a:latin typeface="Arial"/>
                          <a:ea typeface="Arial"/>
                          <a:cs typeface="Arial"/>
                        </a:rPr>
                        <a:t>System behaviour</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1  Collect</a:t>
                      </a:r>
                    </a:p>
                  </a:txBody>
                  <a:tcPr marL="91440" marR="91440" marT="45720" marB="45720">
                    <a:solidFill>
                      <a:srgbClr val="FFFFFF"/>
                    </a:solidFill>
                  </a:tcPr>
                </a:tc>
                <a:tc>
                  <a:txBody>
                    <a:bodyPr/>
                    <a:lstStyle/>
                    <a:p>
                      <a:r>
                        <a:rPr sz="1800" b="0">
                          <a:solidFill>
                            <a:srgbClr val="142C3E"/>
                          </a:solidFill>
                          <a:latin typeface="Arial"/>
                          <a:ea typeface="Arial"/>
                          <a:cs typeface="Arial"/>
                        </a:rPr>
                        <a:t>Authenticate the source and minimise data locally</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2  Ingest</a:t>
                      </a:r>
                    </a:p>
                  </a:txBody>
                  <a:tcPr marL="91440" marR="91440" marT="45720" marB="45720">
                    <a:solidFill>
                      <a:srgbClr val="EEF3F5"/>
                    </a:solidFill>
                  </a:tcPr>
                </a:tc>
                <a:tc>
                  <a:txBody>
                    <a:bodyPr/>
                    <a:lstStyle/>
                    <a:p>
                      <a:r>
                        <a:rPr sz="1800" b="0">
                          <a:solidFill>
                            <a:srgbClr val="142C3E"/>
                          </a:solidFill>
                          <a:latin typeface="Arial"/>
                          <a:ea typeface="Arial"/>
                          <a:cs typeface="Arial"/>
                        </a:rPr>
                        <a:t>Validate, deduplicate and acknowledge durable receipt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3  Analyse</a:t>
                      </a:r>
                    </a:p>
                  </a:txBody>
                  <a:tcPr marL="91440" marR="91440" marT="45720" marB="45720">
                    <a:solidFill>
                      <a:srgbClr val="FFFFFF"/>
                    </a:solidFill>
                  </a:tcPr>
                </a:tc>
                <a:tc>
                  <a:txBody>
                    <a:bodyPr/>
                    <a:lstStyle/>
                    <a:p>
                      <a:r>
                        <a:rPr sz="1800" b="0">
                          <a:solidFill>
                            <a:srgbClr val="142C3E"/>
                          </a:solidFill>
                          <a:latin typeface="Arial"/>
                          <a:ea typeface="Arial"/>
                          <a:cs typeface="Arial"/>
                        </a:rPr>
                        <a:t>Produce a finding with rule/model version and evidence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4  Review and execute</a:t>
                      </a:r>
                    </a:p>
                  </a:txBody>
                  <a:tcPr marL="91440" marR="91440" marT="45720" marB="45720">
                    <a:solidFill>
                      <a:srgbClr val="EEF3F5"/>
                    </a:solidFill>
                  </a:tcPr>
                </a:tc>
                <a:tc>
                  <a:txBody>
                    <a:bodyPr/>
                    <a:lstStyle/>
                    <a:p>
                      <a:r>
                        <a:rPr sz="1800" b="0">
                          <a:solidFill>
                            <a:srgbClr val="142C3E"/>
                          </a:solidFill>
                          <a:latin typeface="Arial"/>
                          <a:ea typeface="Arial"/>
                          <a:cs typeface="Arial"/>
                        </a:rPr>
                        <a:t>Check approval, scope and current target state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5  Reconcile</a:t>
                      </a:r>
                    </a:p>
                  </a:txBody>
                  <a:tcPr marL="91440" marR="91440" marT="45720" marB="45720">
                    <a:solidFill>
                      <a:srgbClr val="FFFFFF"/>
                    </a:solidFill>
                  </a:tcPr>
                </a:tc>
                <a:tc>
                  <a:txBody>
                    <a:bodyPr/>
                    <a:lstStyle/>
                    <a:p>
                      <a:r>
                        <a:rPr sz="1800" b="0">
                          <a:solidFill>
                            <a:srgbClr val="142C3E"/>
                          </a:solidFill>
                          <a:latin typeface="Arial"/>
                          <a:ea typeface="Arial"/>
                          <a:cs typeface="Arial"/>
                        </a:rPr>
                        <a:t>Record success, uncertainty or required recovery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FAE65B1-5337-4E57-8402-62BB1FA55D9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22</a:t>
            </a:r>
          </a:p>
        </p:txBody>
      </p:sp>
    </p:spTree>
    <p:extLst>
      <p:ext uri="{BB962C8B-B14F-4D97-AF65-F5344CB8AC3E}">
        <p14:creationId xmlns:p14="http://schemas.microsoft.com/office/powerpoint/2010/main" val="2104543316"/>
      </p:ext>
    </p:extLst>
  </p:cSld>
</p:sld>
</file>

<file path=ppt/slides/slide2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FD31C2E-DDE3-48AE-B33C-23F7B09ABCD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Build, reuse and defer</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Build in AegisAI</a:t>
                      </a:r>
                    </a:p>
                  </a:txBody>
                  <a:tcPr marL="91440" marR="91440" marT="45720" marB="45720">
                    <a:solidFill>
                      <a:srgbClr val="102938"/>
                    </a:solidFill>
                  </a:tcPr>
                </a:tc>
                <a:tc>
                  <a:txBody>
                    <a:bodyPr/>
                    <a:lstStyle/>
                    <a:p>
                      <a:r>
                        <a:rPr sz="1800" b="1">
                          <a:solidFill>
                            <a:srgbClr val="FFFFFF"/>
                          </a:solidFill>
                          <a:latin typeface="Arial"/>
                          <a:ea typeface="Arial"/>
                          <a:cs typeface="Arial"/>
                        </a:rPr>
                        <a:t>Reuse behind interfaces</a:t>
                      </a:r>
                    </a:p>
                  </a:txBody>
                  <a:tcPr marL="91440" marR="91440" marT="45720" marB="45720">
                    <a:solidFill>
                      <a:srgbClr val="102938"/>
                    </a:solidFill>
                  </a:tcPr>
                </a:tc>
                <a:tc>
                  <a:txBody>
                    <a:bodyPr/>
                    <a:lstStyle/>
                    <a:p>
                      <a:r>
                        <a:rPr sz="1800" b="1">
                          <a:solidFill>
                            <a:srgbClr val="FFFFFF"/>
                          </a:solidFill>
                          <a:latin typeface="Arial"/>
                          <a:ea typeface="Arial"/>
                          <a:cs typeface="Arial"/>
                        </a:rPr>
                        <a:t>Add only when justified</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Evidence and product workflows</a:t>
                      </a:r>
                    </a:p>
                  </a:txBody>
                  <a:tcPr marL="91440" marR="91440" marT="45720" marB="45720">
                    <a:solidFill>
                      <a:srgbClr val="FFFFFF"/>
                    </a:solidFill>
                  </a:tcPr>
                </a:tc>
                <a:tc>
                  <a:txBody>
                    <a:bodyPr/>
                    <a:lstStyle/>
                    <a:p>
                      <a:r>
                        <a:rPr sz="1800" b="0">
                          <a:solidFill>
                            <a:srgbClr val="142C3E"/>
                          </a:solidFill>
                          <a:latin typeface="Arial"/>
                          <a:ea typeface="Arial"/>
                          <a:cs typeface="Arial"/>
                        </a:rPr>
                        <a:t>OIDC and mature networking</a:t>
                      </a:r>
                    </a:p>
                  </a:txBody>
                  <a:tcPr marL="91440" marR="91440" marT="45720" marB="45720">
                    <a:solidFill>
                      <a:srgbClr val="FFFFFF"/>
                    </a:solidFill>
                  </a:tcPr>
                </a:tc>
                <a:tc>
                  <a:txBody>
                    <a:bodyPr/>
                    <a:lstStyle/>
                    <a:p>
                      <a:r>
                        <a:rPr sz="1800" b="0">
                          <a:solidFill>
                            <a:srgbClr val="142C3E"/>
                          </a:solidFill>
                          <a:latin typeface="Arial"/>
                          <a:ea typeface="Arial"/>
                          <a:cs typeface="Arial"/>
                        </a:rPr>
                        <a:t>Additional orchestration engines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Customer experience</a:t>
                      </a:r>
                    </a:p>
                  </a:txBody>
                  <a:tcPr marL="91440" marR="91440" marT="45720" marB="45720">
                    <a:solidFill>
                      <a:srgbClr val="EEF3F5"/>
                    </a:solidFill>
                  </a:tcPr>
                </a:tc>
                <a:tc>
                  <a:txBody>
                    <a:bodyPr/>
                    <a:lstStyle/>
                    <a:p>
                      <a:r>
                        <a:rPr sz="1800" b="0">
                          <a:solidFill>
                            <a:srgbClr val="142C3E"/>
                          </a:solidFill>
                          <a:latin typeface="Arial"/>
                          <a:ea typeface="Arial"/>
                          <a:cs typeface="Arial"/>
                        </a:rPr>
                        <a:t>Sensors and advisory sources</a:t>
                      </a:r>
                    </a:p>
                  </a:txBody>
                  <a:tcPr marL="91440" marR="91440" marT="45720" marB="45720">
                    <a:solidFill>
                      <a:srgbClr val="EEF3F5"/>
                    </a:solidFill>
                  </a:tcPr>
                </a:tc>
                <a:tc>
                  <a:txBody>
                    <a:bodyPr/>
                    <a:lstStyle/>
                    <a:p>
                      <a:r>
                        <a:rPr sz="1800" b="0">
                          <a:solidFill>
                            <a:srgbClr val="142C3E"/>
                          </a:solidFill>
                          <a:latin typeface="Arial"/>
                          <a:ea typeface="Arial"/>
                          <a:cs typeface="Arial"/>
                        </a:rPr>
                        <a:t>Kafka or a large data lake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Approval and reconciliation</a:t>
                      </a:r>
                    </a:p>
                  </a:txBody>
                  <a:tcPr marL="91440" marR="91440" marT="45720" marB="45720">
                    <a:solidFill>
                      <a:srgbClr val="FFFFFF"/>
                    </a:solidFill>
                  </a:tcPr>
                </a:tc>
                <a:tc>
                  <a:txBody>
                    <a:bodyPr/>
                    <a:lstStyle/>
                    <a:p>
                      <a:r>
                        <a:rPr sz="1800" b="0">
                          <a:solidFill>
                            <a:srgbClr val="142C3E"/>
                          </a:solidFill>
                          <a:latin typeface="Arial"/>
                          <a:ea typeface="Arial"/>
                          <a:cs typeface="Arial"/>
                        </a:rPr>
                        <a:t>Model-serving runtimes</a:t>
                      </a:r>
                    </a:p>
                  </a:txBody>
                  <a:tcPr marL="91440" marR="91440" marT="45720" marB="45720">
                    <a:solidFill>
                      <a:srgbClr val="FFFFFF"/>
                    </a:solidFill>
                  </a:tcPr>
                </a:tc>
                <a:tc>
                  <a:txBody>
                    <a:bodyPr/>
                    <a:lstStyle/>
                    <a:p>
                      <a:r>
                        <a:rPr sz="1800" b="0">
                          <a:solidFill>
                            <a:srgbClr val="142C3E"/>
                          </a:solidFill>
                          <a:latin typeface="Arial"/>
                          <a:ea typeface="Arial"/>
                          <a:cs typeface="Arial"/>
                        </a:rPr>
                        <a:t>Kubernetes and service mesh</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Operational lifecycle</a:t>
                      </a:r>
                    </a:p>
                  </a:txBody>
                  <a:tcPr marL="91440" marR="91440" marT="45720" marB="45720">
                    <a:solidFill>
                      <a:srgbClr val="EEF3F5"/>
                    </a:solidFill>
                  </a:tcPr>
                </a:tc>
                <a:tc>
                  <a:txBody>
                    <a:bodyPr/>
                    <a:lstStyle/>
                    <a:p>
                      <a:r>
                        <a:rPr sz="1800" b="0">
                          <a:solidFill>
                            <a:srgbClr val="142C3E"/>
                          </a:solidFill>
                          <a:latin typeface="Arial"/>
                          <a:ea typeface="Arial"/>
                          <a:cs typeface="Arial"/>
                        </a:rPr>
                        <a:t>Standard observability tools</a:t>
                      </a:r>
                    </a:p>
                  </a:txBody>
                  <a:tcPr marL="91440" marR="91440" marT="45720" marB="45720">
                    <a:solidFill>
                      <a:srgbClr val="EEF3F5"/>
                    </a:solidFill>
                  </a:tcPr>
                </a:tc>
                <a:tc>
                  <a:txBody>
                    <a:bodyPr/>
                    <a:lstStyle/>
                    <a:p>
                      <a:r>
                        <a:rPr sz="1800" b="0">
                          <a:solidFill>
                            <a:srgbClr val="142C3E"/>
                          </a:solidFill>
                          <a:latin typeface="Arial"/>
                          <a:ea typeface="Arial"/>
                          <a:cs typeface="Arial"/>
                        </a:rPr>
                        <a:t>Native apps and custom hardware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603BBEFC-C7E4-44AF-9C53-120DB2B5DB21}"/>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23</a:t>
            </a:r>
          </a:p>
        </p:txBody>
      </p:sp>
    </p:spTree>
    <p:extLst>
      <p:ext uri="{BB962C8B-B14F-4D97-AF65-F5344CB8AC3E}">
        <p14:creationId xmlns:p14="http://schemas.microsoft.com/office/powerpoint/2010/main" val="1175968586"/>
      </p:ext>
    </p:extLst>
  </p:cSld>
</p:sld>
</file>

<file path=ppt/slides/slide2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F1DB4F-058F-4B53-9DE7-6D1FE73B032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Deployment and data boundaries</a:t>
            </a:r>
          </a:p>
        </p:txBody>
      </p:sp>
      <p:sp>
        <p:nvSpPr>
          <p:cNvPr id="2" name="">
            <a:extLst xmlns:a="http://schemas.openxmlformats.org/drawingml/2006/main">
              <a:ext uri="{FF2B5EF4-FFF2-40B4-BE49-F238E27FC236}">
                <a16:creationId xmlns:a16="http://schemas.microsoft.com/office/drawing/2014/main" id="{A2CB4400-6847-487A-9C18-8E2552D375C2}"/>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Customer isolation</a:t>
            </a:r>
          </a:p>
        </p:txBody>
      </p:sp>
      <p:sp>
        <p:nvSpPr>
          <p:cNvPr id="3" name="">
            <a:extLst xmlns:a="http://schemas.openxmlformats.org/drawingml/2006/main">
              <a:ext uri="{FF2B5EF4-FFF2-40B4-BE49-F238E27FC236}">
                <a16:creationId xmlns:a16="http://schemas.microsoft.com/office/drawing/2014/main" id="{2FE97352-FE80-49AD-B009-56BCC5C6FF7F}"/>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Separate EU-managed stacks, credentials, storage and backups.</a:t>
            </a:r>
          </a:p>
        </p:txBody>
      </p:sp>
      <p:sp>
        <p:nvSpPr>
          <p:cNvPr id="4" name="">
            <a:extLst xmlns:a="http://schemas.openxmlformats.org/drawingml/2006/main">
              <a:ext uri="{FF2B5EF4-FFF2-40B4-BE49-F238E27FC236}">
                <a16:creationId xmlns:a16="http://schemas.microsoft.com/office/drawing/2014/main" id="{E368DC77-EB1A-4B05-8566-C75F66F1B205}"/>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Edge processing</a:t>
            </a:r>
          </a:p>
        </p:txBody>
      </p:sp>
      <p:sp>
        <p:nvSpPr>
          <p:cNvPr id="5" name="">
            <a:extLst xmlns:a="http://schemas.openxmlformats.org/drawingml/2006/main">
              <a:ext uri="{FF2B5EF4-FFF2-40B4-BE49-F238E27FC236}">
                <a16:creationId xmlns:a16="http://schemas.microsoft.com/office/drawing/2014/main" id="{654F5BF1-1B99-4BCA-AD17-BD711183DFBD}"/>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Keep raw sensitive telemetry local where practical. Export permitted evidence.</a:t>
            </a:r>
          </a:p>
        </p:txBody>
      </p:sp>
      <p:sp>
        <p:nvSpPr>
          <p:cNvPr id="6" name="">
            <a:extLst xmlns:a="http://schemas.openxmlformats.org/drawingml/2006/main">
              <a:ext uri="{FF2B5EF4-FFF2-40B4-BE49-F238E27FC236}">
                <a16:creationId xmlns:a16="http://schemas.microsoft.com/office/drawing/2014/main" id="{64E96C54-6994-49F7-AD10-4454C903329B}"/>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Product separation</a:t>
            </a:r>
          </a:p>
        </p:txBody>
      </p:sp>
      <p:sp>
        <p:nvSpPr>
          <p:cNvPr id="7" name="">
            <a:extLst xmlns:a="http://schemas.openxmlformats.org/drawingml/2006/main">
              <a:ext uri="{FF2B5EF4-FFF2-40B4-BE49-F238E27FC236}">
                <a16:creationId xmlns:a16="http://schemas.microsoft.com/office/drawing/2014/main" id="{6A934EBB-E940-4282-B1D1-28A9360DAA8B}"/>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Training and security findings have distinct purposes and access rules.</a:t>
            </a:r>
          </a:p>
        </p:txBody>
      </p:sp>
      <p:sp>
        <p:nvSpPr>
          <p:cNvPr id="8" name="">
            <a:extLst xmlns:a="http://schemas.openxmlformats.org/drawingml/2006/main">
              <a:ext uri="{FF2B5EF4-FFF2-40B4-BE49-F238E27FC236}">
                <a16:creationId xmlns:a16="http://schemas.microsoft.com/office/drawing/2014/main" id="{5549B7F6-AB8F-4C6E-BFE2-9D9EDA0F3309}"/>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Fleet operation</a:t>
            </a:r>
          </a:p>
        </p:txBody>
      </p:sp>
      <p:sp>
        <p:nvSpPr>
          <p:cNvPr id="9" name="">
            <a:extLst xmlns:a="http://schemas.openxmlformats.org/drawingml/2006/main">
              <a:ext uri="{FF2B5EF4-FFF2-40B4-BE49-F238E27FC236}">
                <a16:creationId xmlns:a16="http://schemas.microsoft.com/office/drawing/2014/main" id="{9BE8E035-D4A4-4107-94C1-A4520011437F}"/>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Central administration stores health and billing metadata with audited support elevation.</a:t>
            </a:r>
          </a:p>
        </p:txBody>
      </p:sp>
      <p:sp>
        <p:nvSpPr>
          <p:cNvPr id="10" name="">
            <a:extLst xmlns:a="http://schemas.openxmlformats.org/drawingml/2006/main">
              <a:ext uri="{FF2B5EF4-FFF2-40B4-BE49-F238E27FC236}">
                <a16:creationId xmlns:a16="http://schemas.microsoft.com/office/drawing/2014/main" id="{2EB0A70D-679F-462D-8115-CB9AFED2FEF9}"/>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24</a:t>
            </a:r>
          </a:p>
        </p:txBody>
      </p:sp>
    </p:spTree>
    <p:extLst>
      <p:ext uri="{BB962C8B-B14F-4D97-AF65-F5344CB8AC3E}">
        <p14:creationId xmlns:p14="http://schemas.microsoft.com/office/powerpoint/2010/main" val="1687522239"/>
      </p:ext>
    </p:extLst>
  </p:cSld>
</p:sld>
</file>

<file path=ppt/slides/slide2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933006D-8FDE-4D35-8B48-B8741C59AF8C}"/>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NetBird technical reference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143250"/>
                <a:gridCol w="2571750"/>
                <a:gridCol w="5105400"/>
              </a:tblGrid>
              <a:tr h="476250">
                <a:tc>
                  <a:txBody>
                    <a:bodyPr/>
                    <a:lstStyle/>
                    <a:p>
                      <a:r>
                        <a:rPr sz="1800" b="1">
                          <a:solidFill>
                            <a:srgbClr val="FFFFFF"/>
                          </a:solidFill>
                          <a:latin typeface="Arial"/>
                          <a:ea typeface="Arial"/>
                          <a:cs typeface="Arial"/>
                        </a:rPr>
                        <a:t>Component</a:t>
                      </a:r>
                    </a:p>
                  </a:txBody>
                  <a:tcPr marL="91440" marR="91440" marT="45720" marB="45720">
                    <a:solidFill>
                      <a:srgbClr val="102938"/>
                    </a:solidFill>
                  </a:tcPr>
                </a:tc>
                <a:tc>
                  <a:txBody>
                    <a:bodyPr/>
                    <a:lstStyle/>
                    <a:p>
                      <a:r>
                        <a:rPr sz="1800" b="1">
                          <a:solidFill>
                            <a:srgbClr val="FFFFFF"/>
                          </a:solidFill>
                          <a:latin typeface="Arial"/>
                          <a:ea typeface="Arial"/>
                          <a:cs typeface="Arial"/>
                        </a:rPr>
                        <a:t>Purpose</a:t>
                      </a:r>
                    </a:p>
                  </a:txBody>
                  <a:tcPr marL="91440" marR="91440" marT="45720" marB="45720">
                    <a:solidFill>
                      <a:srgbClr val="102938"/>
                    </a:solidFill>
                  </a:tcPr>
                </a:tc>
                <a:tc>
                  <a:txBody>
                    <a:bodyPr/>
                    <a:lstStyle/>
                    <a:p>
                      <a:r>
                        <a:rPr sz="1800" b="1">
                          <a:solidFill>
                            <a:srgbClr val="FFFFFF"/>
                          </a:solidFill>
                          <a:latin typeface="Arial"/>
                          <a:ea typeface="Arial"/>
                          <a:cs typeface="Arial"/>
                        </a:rPr>
                        <a:t>AegisAI consideration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Client / WireGuard</a:t>
                      </a:r>
                    </a:p>
                  </a:txBody>
                  <a:tcPr marL="91440" marR="91440" marT="45720" marB="45720">
                    <a:solidFill>
                      <a:srgbClr val="FFFFFF"/>
                    </a:solidFill>
                  </a:tcPr>
                </a:tc>
                <a:tc>
                  <a:txBody>
                    <a:bodyPr/>
                    <a:lstStyle/>
                    <a:p>
                      <a:r>
                        <a:rPr sz="1800" b="0">
                          <a:solidFill>
                            <a:srgbClr val="142C3E"/>
                          </a:solidFill>
                          <a:latin typeface="Arial"/>
                          <a:ea typeface="Arial"/>
                          <a:cs typeface="Arial"/>
                        </a:rPr>
                        <a:t>Encrypted peer connectivity</a:t>
                      </a:r>
                    </a:p>
                  </a:txBody>
                  <a:tcPr marL="91440" marR="91440" marT="45720" marB="45720">
                    <a:solidFill>
                      <a:srgbClr val="FFFFFF"/>
                    </a:solidFill>
                  </a:tcPr>
                </a:tc>
                <a:tc>
                  <a:txBody>
                    <a:bodyPr/>
                    <a:lstStyle/>
                    <a:p>
                      <a:r>
                        <a:rPr sz="1800" b="0">
                          <a:solidFill>
                            <a:srgbClr val="142C3E"/>
                          </a:solidFill>
                          <a:latin typeface="Arial"/>
                          <a:ea typeface="Arial"/>
                          <a:cs typeface="Arial"/>
                        </a:rPr>
                        <a:t>Enrolment and device trust</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Management</a:t>
                      </a:r>
                    </a:p>
                  </a:txBody>
                  <a:tcPr marL="91440" marR="91440" marT="45720" marB="45720">
                    <a:solidFill>
                      <a:srgbClr val="EEF3F5"/>
                    </a:solidFill>
                  </a:tcPr>
                </a:tc>
                <a:tc>
                  <a:txBody>
                    <a:bodyPr/>
                    <a:lstStyle/>
                    <a:p>
                      <a:r>
                        <a:rPr sz="1800" b="0">
                          <a:solidFill>
                            <a:srgbClr val="142C3E"/>
                          </a:solidFill>
                          <a:latin typeface="Arial"/>
                          <a:ea typeface="Arial"/>
                          <a:cs typeface="Arial"/>
                        </a:rPr>
                        <a:t>Identity and network state</a:t>
                      </a:r>
                    </a:p>
                  </a:txBody>
                  <a:tcPr marL="91440" marR="91440" marT="45720" marB="45720">
                    <a:solidFill>
                      <a:srgbClr val="EEF3F5"/>
                    </a:solidFill>
                  </a:tcPr>
                </a:tc>
                <a:tc>
                  <a:txBody>
                    <a:bodyPr/>
                    <a:lstStyle/>
                    <a:p>
                      <a:r>
                        <a:rPr sz="1800" b="0">
                          <a:solidFill>
                            <a:srgbClr val="142C3E"/>
                          </a:solidFill>
                          <a:latin typeface="Arial"/>
                          <a:ea typeface="Arial"/>
                          <a:cs typeface="Arial"/>
                        </a:rPr>
                        <a:t>Provider adapter and reconciliation</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Signal</a:t>
                      </a:r>
                    </a:p>
                  </a:txBody>
                  <a:tcPr marL="91440" marR="91440" marT="45720" marB="45720">
                    <a:solidFill>
                      <a:srgbClr val="FFFFFF"/>
                    </a:solidFill>
                  </a:tcPr>
                </a:tc>
                <a:tc>
                  <a:txBody>
                    <a:bodyPr/>
                    <a:lstStyle/>
                    <a:p>
                      <a:r>
                        <a:rPr sz="1800" b="0">
                          <a:solidFill>
                            <a:srgbClr val="142C3E"/>
                          </a:solidFill>
                          <a:latin typeface="Arial"/>
                          <a:ea typeface="Arial"/>
                          <a:cs typeface="Arial"/>
                        </a:rPr>
                        <a:t>Connection negotiation</a:t>
                      </a:r>
                    </a:p>
                  </a:txBody>
                  <a:tcPr marL="91440" marR="91440" marT="45720" marB="45720">
                    <a:solidFill>
                      <a:srgbClr val="FFFFFF"/>
                    </a:solidFill>
                  </a:tcPr>
                </a:tc>
                <a:tc>
                  <a:txBody>
                    <a:bodyPr/>
                    <a:lstStyle/>
                    <a:p>
                      <a:r>
                        <a:rPr sz="1800" b="0">
                          <a:solidFill>
                            <a:srgbClr val="142C3E"/>
                          </a:solidFill>
                          <a:latin typeface="Arial"/>
                          <a:ea typeface="Arial"/>
                          <a:cs typeface="Arial"/>
                        </a:rPr>
                        <a:t>Connectivity diagnostics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Relay / routing peer</a:t>
                      </a:r>
                    </a:p>
                  </a:txBody>
                  <a:tcPr marL="91440" marR="91440" marT="45720" marB="45720">
                    <a:solidFill>
                      <a:srgbClr val="EEF3F5"/>
                    </a:solidFill>
                  </a:tcPr>
                </a:tc>
                <a:tc>
                  <a:txBody>
                    <a:bodyPr/>
                    <a:lstStyle/>
                    <a:p>
                      <a:r>
                        <a:rPr sz="1800" b="0">
                          <a:solidFill>
                            <a:srgbClr val="142C3E"/>
                          </a:solidFill>
                          <a:latin typeface="Arial"/>
                          <a:ea typeface="Arial"/>
                          <a:cs typeface="Arial"/>
                        </a:rPr>
                        <a:t>Fallback or LAN reachability</a:t>
                      </a:r>
                    </a:p>
                  </a:txBody>
                  <a:tcPr marL="91440" marR="91440" marT="45720" marB="45720">
                    <a:solidFill>
                      <a:srgbClr val="EEF3F5"/>
                    </a:solidFill>
                  </a:tcPr>
                </a:tc>
                <a:tc>
                  <a:txBody>
                    <a:bodyPr/>
                    <a:lstStyle/>
                    <a:p>
                      <a:r>
                        <a:rPr sz="1800" b="0">
                          <a:solidFill>
                            <a:srgbClr val="142C3E"/>
                          </a:solidFill>
                          <a:latin typeface="Arial"/>
                          <a:ea typeface="Arial"/>
                          <a:cs typeface="Arial"/>
                        </a:rPr>
                        <a:t>Failure domains and onward traffic protection</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C3F570CA-06E5-46B0-8FFA-4032C457D0C1}"/>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25</a:t>
            </a:r>
          </a:p>
        </p:txBody>
      </p:sp>
    </p:spTree>
    <p:extLst>
      <p:ext uri="{BB962C8B-B14F-4D97-AF65-F5344CB8AC3E}">
        <p14:creationId xmlns:p14="http://schemas.microsoft.com/office/powerpoint/2010/main" val="1290178780"/>
      </p:ext>
    </p:extLst>
  </p:cSld>
</p:sld>
</file>

<file path=ppt/slides/slide2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D60DE17-B337-415D-8F0D-9CDA25382AE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NetBird reuse and product ownership</a:t>
            </a:r>
          </a:p>
        </p:txBody>
      </p:sp>
      <p:sp>
        <p:nvSpPr>
          <p:cNvPr id="2" name="">
            <a:extLst xmlns:a="http://schemas.openxmlformats.org/drawingml/2006/main">
              <a:ext uri="{FF2B5EF4-FFF2-40B4-BE49-F238E27FC236}">
                <a16:creationId xmlns:a16="http://schemas.microsoft.com/office/drawing/2014/main" id="{98ED2DE4-C989-4A5A-9816-D7991593FE2C}"/>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Optional provider</a:t>
            </a:r>
          </a:p>
        </p:txBody>
      </p:sp>
      <p:sp>
        <p:nvSpPr>
          <p:cNvPr id="3" name="">
            <a:extLst xmlns:a="http://schemas.openxmlformats.org/drawingml/2006/main">
              <a:ext uri="{FF2B5EF4-FFF2-40B4-BE49-F238E27FC236}">
                <a16:creationId xmlns:a16="http://schemas.microsoft.com/office/drawing/2014/main" id="{EA384B83-B4D1-48D1-961C-00ADF0455270}"/>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 upstream components when they solve a deployment need. Preserve another transport path.</a:t>
            </a:r>
          </a:p>
        </p:txBody>
      </p:sp>
      <p:sp>
        <p:nvSpPr>
          <p:cNvPr id="4" name="">
            <a:extLst xmlns:a="http://schemas.openxmlformats.org/drawingml/2006/main">
              <a:ext uri="{FF2B5EF4-FFF2-40B4-BE49-F238E27FC236}">
                <a16:creationId xmlns:a16="http://schemas.microsoft.com/office/drawing/2014/main" id="{5F38044D-2639-455C-9510-E10EDC1BDC4D}"/>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Stable product contracts</a:t>
            </a:r>
          </a:p>
        </p:txBody>
      </p:sp>
      <p:sp>
        <p:nvSpPr>
          <p:cNvPr id="5" name="">
            <a:extLst xmlns:a="http://schemas.openxmlformats.org/drawingml/2006/main">
              <a:ext uri="{FF2B5EF4-FFF2-40B4-BE49-F238E27FC236}">
                <a16:creationId xmlns:a16="http://schemas.microsoft.com/office/drawing/2014/main" id="{1D4DC0CD-5AED-43D8-8363-4FD1A8203031}"/>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Keep NetBird identifiers inside the connectivity adapter.</a:t>
            </a:r>
          </a:p>
        </p:txBody>
      </p:sp>
      <p:sp>
        <p:nvSpPr>
          <p:cNvPr id="6" name="">
            <a:extLst xmlns:a="http://schemas.openxmlformats.org/drawingml/2006/main">
              <a:ext uri="{FF2B5EF4-FFF2-40B4-BE49-F238E27FC236}">
                <a16:creationId xmlns:a16="http://schemas.microsoft.com/office/drawing/2014/main" id="{CCFD36C5-7C43-4E54-8A82-670E41489872}"/>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Ownership</a:t>
            </a:r>
          </a:p>
        </p:txBody>
      </p:sp>
      <p:sp>
        <p:nvSpPr>
          <p:cNvPr id="7" name="">
            <a:extLst xmlns:a="http://schemas.openxmlformats.org/drawingml/2006/main">
              <a:ext uri="{FF2B5EF4-FFF2-40B4-BE49-F238E27FC236}">
                <a16:creationId xmlns:a16="http://schemas.microsoft.com/office/drawing/2014/main" id="{969CFF21-B7F9-4F11-9F08-E582890D8171}"/>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AegisAI owns evidence, intelligence, workflows, UX and lifecycle.</a:t>
            </a:r>
          </a:p>
        </p:txBody>
      </p:sp>
      <p:sp>
        <p:nvSpPr>
          <p:cNvPr id="8" name="">
            <a:extLst xmlns:a="http://schemas.openxmlformats.org/drawingml/2006/main">
              <a:ext uri="{FF2B5EF4-FFF2-40B4-BE49-F238E27FC236}">
                <a16:creationId xmlns:a16="http://schemas.microsoft.com/office/drawing/2014/main" id="{90BA2A5D-48EE-4FAA-AD65-B56141EE53FC}"/>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Business lesson</a:t>
            </a:r>
          </a:p>
        </p:txBody>
      </p:sp>
      <p:sp>
        <p:nvSpPr>
          <p:cNvPr id="9" name="">
            <a:extLst xmlns:a="http://schemas.openxmlformats.org/drawingml/2006/main">
              <a:ext uri="{FF2B5EF4-FFF2-40B4-BE49-F238E27FC236}">
                <a16:creationId xmlns:a16="http://schemas.microsoft.com/office/drawing/2014/main" id="{7C6BB9B3-F27C-4BD9-952F-5B7EAFC06095}"/>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 useful community foundation can support managed operation and enterprise services.</a:t>
            </a:r>
          </a:p>
        </p:txBody>
      </p:sp>
      <p:sp>
        <p:nvSpPr>
          <p:cNvPr id="10" name="">
            <a:extLst xmlns:a="http://schemas.openxmlformats.org/drawingml/2006/main">
              <a:ext uri="{FF2B5EF4-FFF2-40B4-BE49-F238E27FC236}">
                <a16:creationId xmlns:a16="http://schemas.microsoft.com/office/drawing/2014/main" id="{86D1F73D-808F-4F1A-B33E-A0121A6C8FD1}"/>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26</a:t>
            </a:r>
          </a:p>
        </p:txBody>
      </p:sp>
    </p:spTree>
    <p:extLst>
      <p:ext uri="{BB962C8B-B14F-4D97-AF65-F5344CB8AC3E}">
        <p14:creationId xmlns:p14="http://schemas.microsoft.com/office/powerpoint/2010/main" val="182278981"/>
      </p:ext>
    </p:extLst>
  </p:cSld>
</p:sld>
</file>

<file path=ppt/slides/slide2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970F6E-F608-4B01-9155-56983C1A8AC1}"/>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NetBird operational constraints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Constraint</a:t>
                      </a:r>
                    </a:p>
                  </a:txBody>
                  <a:tcPr marL="91440" marR="91440" marT="45720" marB="45720">
                    <a:solidFill>
                      <a:srgbClr val="102938"/>
                    </a:solidFill>
                  </a:tcPr>
                </a:tc>
                <a:tc>
                  <a:txBody>
                    <a:bodyPr/>
                    <a:lstStyle/>
                    <a:p>
                      <a:r>
                        <a:rPr sz="1800" b="1">
                          <a:solidFill>
                            <a:srgbClr val="FFFFFF"/>
                          </a:solidFill>
                          <a:latin typeface="Arial"/>
                          <a:ea typeface="Arial"/>
                          <a:cs typeface="Arial"/>
                        </a:rPr>
                        <a:t>Project consequence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Self-hosted single account</a:t>
                      </a:r>
                    </a:p>
                  </a:txBody>
                  <a:tcPr marL="91440" marR="91440" marT="45720" marB="45720">
                    <a:solidFill>
                      <a:srgbClr val="FFFFFF"/>
                    </a:solidFill>
                  </a:tcPr>
                </a:tc>
                <a:tc>
                  <a:txBody>
                    <a:bodyPr/>
                    <a:lstStyle/>
                    <a:p>
                      <a:r>
                        <a:rPr sz="1800" b="0">
                          <a:solidFill>
                            <a:srgbClr val="142C3E"/>
                          </a:solidFill>
                          <a:latin typeface="Arial"/>
                          <a:ea typeface="Arial"/>
                          <a:cs typeface="Arial"/>
                        </a:rPr>
                        <a:t>Separate customer deployments for isolation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Management outage</a:t>
                      </a:r>
                    </a:p>
                  </a:txBody>
                  <a:tcPr marL="91440" marR="91440" marT="45720" marB="45720">
                    <a:solidFill>
                      <a:srgbClr val="EEF3F5"/>
                    </a:solidFill>
                  </a:tcPr>
                </a:tc>
                <a:tc>
                  <a:txBody>
                    <a:bodyPr/>
                    <a:lstStyle/>
                    <a:p>
                      <a:r>
                        <a:rPr sz="1800" b="0">
                          <a:solidFill>
                            <a:srgbClr val="142C3E"/>
                          </a:solidFill>
                          <a:latin typeface="Arial"/>
                          <a:ea typeface="Arial"/>
                          <a:cs typeface="Arial"/>
                        </a:rPr>
                        <a:t>Existing traffic and policy-update availability differ</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Commercial features</a:t>
                      </a:r>
                    </a:p>
                  </a:txBody>
                  <a:tcPr marL="91440" marR="91440" marT="45720" marB="45720">
                    <a:solidFill>
                      <a:srgbClr val="FFFFFF"/>
                    </a:solidFill>
                  </a:tcPr>
                </a:tc>
                <a:tc>
                  <a:txBody>
                    <a:bodyPr/>
                    <a:lstStyle/>
                    <a:p>
                      <a:r>
                        <a:rPr sz="1800" b="0">
                          <a:solidFill>
                            <a:srgbClr val="142C3E"/>
                          </a:solidFill>
                          <a:latin typeface="Arial"/>
                          <a:ea typeface="Arial"/>
                          <a:cs typeface="Arial"/>
                        </a:rPr>
                        <a:t>Confirm HA, SCIM and logging terms before sale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 Network beta</a:t>
                      </a:r>
                    </a:p>
                  </a:txBody>
                  <a:tcPr marL="91440" marR="91440" marT="45720" marB="45720">
                    <a:solidFill>
                      <a:srgbClr val="EEF3F5"/>
                    </a:solidFill>
                  </a:tcPr>
                </a:tc>
                <a:tc>
                  <a:txBody>
                    <a:bodyPr/>
                    <a:lstStyle/>
                    <a:p>
                      <a:r>
                        <a:rPr sz="1800" b="0">
                          <a:solidFill>
                            <a:srgbClr val="142C3E"/>
                          </a:solidFill>
                          <a:latin typeface="Arial"/>
                          <a:ea typeface="Arial"/>
                          <a:cs typeface="Arial"/>
                        </a:rPr>
                        <a:t>Internal evaluation only until maturity and need justify adoption</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4D70A485-9E6A-4052-9E5B-E1B7D42F582D}"/>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Exact licence, supported release and commercial terms require adoption-time checks.</a:t>
            </a:r>
          </a:p>
        </p:txBody>
      </p:sp>
      <p:sp>
        <p:nvSpPr>
          <p:cNvPr id="4" name="">
            <a:extLst xmlns:a="http://schemas.openxmlformats.org/drawingml/2006/main">
              <a:ext uri="{FF2B5EF4-FFF2-40B4-BE49-F238E27FC236}">
                <a16:creationId xmlns:a16="http://schemas.microsoft.com/office/drawing/2014/main" id="{8FA199FB-56E7-4C33-B31B-D9582C7D1C0A}"/>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27</a:t>
            </a:r>
          </a:p>
        </p:txBody>
      </p:sp>
    </p:spTree>
    <p:extLst>
      <p:ext uri="{BB962C8B-B14F-4D97-AF65-F5344CB8AC3E}">
        <p14:creationId xmlns:p14="http://schemas.microsoft.com/office/powerpoint/2010/main" val="1430914854"/>
      </p:ext>
    </p:extLst>
  </p:cSld>
</p:sld>
</file>

<file path=ppt/slides/slide2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9C5E25D-40E1-4CCF-AC7D-A6CAF7B56C9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Product interfaces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Resource group</a:t>
                      </a:r>
                    </a:p>
                  </a:txBody>
                  <a:tcPr marL="91440" marR="91440" marT="45720" marB="45720">
                    <a:solidFill>
                      <a:srgbClr val="102938"/>
                    </a:solidFill>
                  </a:tcPr>
                </a:tc>
                <a:tc>
                  <a:txBody>
                    <a:bodyPr/>
                    <a:lstStyle/>
                    <a:p>
                      <a:r>
                        <a:rPr sz="1800" b="1">
                          <a:solidFill>
                            <a:srgbClr val="FFFFFF"/>
                          </a:solidFill>
                          <a:latin typeface="Arial"/>
                          <a:ea typeface="Arial"/>
                          <a:cs typeface="Arial"/>
                        </a:rPr>
                        <a:t>Contract responsibility</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Identity and assets</a:t>
                      </a:r>
                    </a:p>
                  </a:txBody>
                  <a:tcPr marL="91440" marR="91440" marT="45720" marB="45720">
                    <a:solidFill>
                      <a:srgbClr val="FFFFFF"/>
                    </a:solidFill>
                  </a:tcPr>
                </a:tc>
                <a:tc>
                  <a:txBody>
                    <a:bodyPr/>
                    <a:lstStyle/>
                    <a:p>
                      <a:r>
                        <a:rPr sz="1800" b="0">
                          <a:solidFill>
                            <a:srgbClr val="142C3E"/>
                          </a:solidFill>
                          <a:latin typeface="Arial"/>
                          <a:ea typeface="Arial"/>
                          <a:cs typeface="Arial"/>
                        </a:rPr>
                        <a:t>Organisation scope, roles, source identity and ownership</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Learning and observations</a:t>
                      </a:r>
                    </a:p>
                  </a:txBody>
                  <a:tcPr marL="91440" marR="91440" marT="45720" marB="45720">
                    <a:solidFill>
                      <a:srgbClr val="EEF3F5"/>
                    </a:solidFill>
                  </a:tcPr>
                </a:tc>
                <a:tc>
                  <a:txBody>
                    <a:bodyPr/>
                    <a:lstStyle/>
                    <a:p>
                      <a:r>
                        <a:rPr sz="1800" b="0">
                          <a:solidFill>
                            <a:srgbClr val="142C3E"/>
                          </a:solidFill>
                          <a:latin typeface="Arial"/>
                          <a:ea typeface="Arial"/>
                          <a:cs typeface="Arial"/>
                        </a:rPr>
                        <a:t>Versioned outcomes, occurrence time and provenance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Findings and evidence</a:t>
                      </a:r>
                    </a:p>
                  </a:txBody>
                  <a:tcPr marL="91440" marR="91440" marT="45720" marB="45720">
                    <a:solidFill>
                      <a:srgbClr val="FFFFFF"/>
                    </a:solidFill>
                  </a:tcPr>
                </a:tc>
                <a:tc>
                  <a:txBody>
                    <a:bodyPr/>
                    <a:lstStyle/>
                    <a:p>
                      <a:r>
                        <a:rPr sz="1800" b="0">
                          <a:solidFill>
                            <a:srgbClr val="142C3E"/>
                          </a:solidFill>
                          <a:latin typeface="Arial"/>
                          <a:ea typeface="Arial"/>
                          <a:cs typeface="Arial"/>
                        </a:rPr>
                        <a:t>Accessible references, confidence and rule/model version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Collectors and agents</a:t>
                      </a:r>
                    </a:p>
                  </a:txBody>
                  <a:tcPr marL="91440" marR="91440" marT="45720" marB="45720">
                    <a:solidFill>
                      <a:srgbClr val="EEF3F5"/>
                    </a:solidFill>
                  </a:tcPr>
                </a:tc>
                <a:tc>
                  <a:txBody>
                    <a:bodyPr/>
                    <a:lstStyle/>
                    <a:p>
                      <a:r>
                        <a:rPr sz="1800" b="0">
                          <a:solidFill>
                            <a:srgbClr val="142C3E"/>
                          </a:solidFill>
                          <a:latin typeface="Arial"/>
                          <a:ea typeface="Arial"/>
                          <a:cs typeface="Arial"/>
                        </a:rPr>
                        <a:t>Enrolment, health, capabilities and revocation</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Actions and validation</a:t>
                      </a:r>
                    </a:p>
                  </a:txBody>
                  <a:tcPr marL="91440" marR="91440" marT="45720" marB="45720">
                    <a:solidFill>
                      <a:srgbClr val="FFFFFF"/>
                    </a:solidFill>
                  </a:tcPr>
                </a:tc>
                <a:tc>
                  <a:txBody>
                    <a:bodyPr/>
                    <a:lstStyle/>
                    <a:p>
                      <a:r>
                        <a:rPr sz="1800" b="0">
                          <a:solidFill>
                            <a:srgbClr val="142C3E"/>
                          </a:solidFill>
                          <a:latin typeface="Arial"/>
                          <a:ea typeface="Arial"/>
                          <a:cs typeface="Arial"/>
                        </a:rPr>
                        <a:t>Bounded targets, approval, expiry and execution results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4555318-811C-41EF-80EA-25AB6D0F1C9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28</a:t>
            </a:r>
          </a:p>
        </p:txBody>
      </p:sp>
    </p:spTree>
    <p:extLst>
      <p:ext uri="{BB962C8B-B14F-4D97-AF65-F5344CB8AC3E}">
        <p14:creationId xmlns:p14="http://schemas.microsoft.com/office/powerpoint/2010/main" val="262907808"/>
      </p:ext>
    </p:extLst>
  </p:cSld>
</p:sld>
</file>

<file path=ppt/slides/slide2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0F8BD03-618A-4B96-B897-79D778000F1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Jobs, approvals and recovery</a:t>
            </a:r>
          </a:p>
        </p:txBody>
      </p:sp>
      <p:sp>
        <p:nvSpPr>
          <p:cNvPr id="2" name="">
            <a:extLst xmlns:a="http://schemas.openxmlformats.org/drawingml/2006/main">
              <a:ext uri="{FF2B5EF4-FFF2-40B4-BE49-F238E27FC236}">
                <a16:creationId xmlns:a16="http://schemas.microsoft.com/office/drawing/2014/main" id="{F0532BB8-AC27-4BFF-82AA-F552930351E3}"/>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Persistent jobs</a:t>
            </a:r>
          </a:p>
        </p:txBody>
      </p:sp>
      <p:sp>
        <p:nvSpPr>
          <p:cNvPr id="3" name="">
            <a:extLst xmlns:a="http://schemas.openxmlformats.org/drawingml/2006/main">
              <a:ext uri="{FF2B5EF4-FFF2-40B4-BE49-F238E27FC236}">
                <a16:creationId xmlns:a16="http://schemas.microsoft.com/office/drawing/2014/main" id="{BFD359BD-012D-4910-BA1C-7C60C2528449}"/>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Long tasks return a job reference and retain attempts and checkpoints.</a:t>
            </a:r>
          </a:p>
        </p:txBody>
      </p:sp>
      <p:sp>
        <p:nvSpPr>
          <p:cNvPr id="4" name="">
            <a:extLst xmlns:a="http://schemas.openxmlformats.org/drawingml/2006/main">
              <a:ext uri="{FF2B5EF4-FFF2-40B4-BE49-F238E27FC236}">
                <a16:creationId xmlns:a16="http://schemas.microsoft.com/office/drawing/2014/main" id="{088DEF06-C8F2-46F1-987A-6D827FD82387}"/>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Bound approval</a:t>
            </a:r>
          </a:p>
        </p:txBody>
      </p:sp>
      <p:sp>
        <p:nvSpPr>
          <p:cNvPr id="5" name="">
            <a:extLst xmlns:a="http://schemas.openxmlformats.org/drawingml/2006/main">
              <a:ext uri="{FF2B5EF4-FFF2-40B4-BE49-F238E27FC236}">
                <a16:creationId xmlns:a16="http://schemas.microsoft.com/office/drawing/2014/main" id="{96A8AB85-681A-4886-B892-FD7D2BAA9C65}"/>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Approval covers exact operation, target, parameters, policy version and expiry.</a:t>
            </a:r>
          </a:p>
        </p:txBody>
      </p:sp>
      <p:sp>
        <p:nvSpPr>
          <p:cNvPr id="6" name="">
            <a:extLst xmlns:a="http://schemas.openxmlformats.org/drawingml/2006/main">
              <a:ext uri="{FF2B5EF4-FFF2-40B4-BE49-F238E27FC236}">
                <a16:creationId xmlns:a16="http://schemas.microsoft.com/office/drawing/2014/main" id="{C0B43E70-CA35-49CF-BF6A-46BEE5FDA2BC}"/>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Safe retry</a:t>
            </a:r>
          </a:p>
        </p:txBody>
      </p:sp>
      <p:sp>
        <p:nvSpPr>
          <p:cNvPr id="7" name="">
            <a:extLst xmlns:a="http://schemas.openxmlformats.org/drawingml/2006/main">
              <a:ext uri="{FF2B5EF4-FFF2-40B4-BE49-F238E27FC236}">
                <a16:creationId xmlns:a16="http://schemas.microsoft.com/office/drawing/2014/main" id="{93C9833F-9AE9-470E-A6D2-C86206A5DF8B}"/>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External side effects need idempotency or reconciliation before retry.</a:t>
            </a:r>
          </a:p>
        </p:txBody>
      </p:sp>
      <p:sp>
        <p:nvSpPr>
          <p:cNvPr id="8" name="">
            <a:extLst xmlns:a="http://schemas.openxmlformats.org/drawingml/2006/main">
              <a:ext uri="{FF2B5EF4-FFF2-40B4-BE49-F238E27FC236}">
                <a16:creationId xmlns:a16="http://schemas.microsoft.com/office/drawing/2014/main" id="{11332F4F-2A36-495B-BF86-A25B5BA4B020}"/>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Versioned contracts</a:t>
            </a:r>
          </a:p>
        </p:txBody>
      </p:sp>
      <p:sp>
        <p:nvSpPr>
          <p:cNvPr id="9" name="">
            <a:extLst xmlns:a="http://schemas.openxmlformats.org/drawingml/2006/main">
              <a:ext uri="{FF2B5EF4-FFF2-40B4-BE49-F238E27FC236}">
                <a16:creationId xmlns:a16="http://schemas.microsoft.com/office/drawing/2014/main" id="{A2BDB6AE-9F9B-4C41-8D2D-38368C1F559C}"/>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Reject unsupported schemas and deny cross-organisation object references.</a:t>
            </a:r>
          </a:p>
        </p:txBody>
      </p:sp>
      <p:sp>
        <p:nvSpPr>
          <p:cNvPr id="10" name="">
            <a:extLst xmlns:a="http://schemas.openxmlformats.org/drawingml/2006/main">
              <a:ext uri="{FF2B5EF4-FFF2-40B4-BE49-F238E27FC236}">
                <a16:creationId xmlns:a16="http://schemas.microsoft.com/office/drawing/2014/main" id="{9537668C-6EA0-4C82-B9D2-03F3DC0FB8C2}"/>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29</a:t>
            </a:r>
          </a:p>
        </p:txBody>
      </p:sp>
    </p:spTree>
    <p:extLst>
      <p:ext uri="{BB962C8B-B14F-4D97-AF65-F5344CB8AC3E}">
        <p14:creationId xmlns:p14="http://schemas.microsoft.com/office/powerpoint/2010/main" val="847093712"/>
      </p:ext>
    </p:extLst>
  </p:cSld>
</p:sld>
</file>

<file path=ppt/slides/slide3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36DB257-CF1C-4557-AA4F-EAF83C2679A1}"/>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Research programme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Track</a:t>
                      </a:r>
                    </a:p>
                  </a:txBody>
                  <a:tcPr marL="91440" marR="91440" marT="45720" marB="45720">
                    <a:solidFill>
                      <a:srgbClr val="102938"/>
                    </a:solidFill>
                  </a:tcPr>
                </a:tc>
                <a:tc>
                  <a:txBody>
                    <a:bodyPr/>
                    <a:lstStyle/>
                    <a:p>
                      <a:r>
                        <a:rPr sz="1800" b="1">
                          <a:solidFill>
                            <a:srgbClr val="FFFFFF"/>
                          </a:solidFill>
                          <a:latin typeface="Arial"/>
                          <a:ea typeface="Arial"/>
                          <a:cs typeface="Arial"/>
                        </a:rPr>
                        <a:t>Question that informs product work</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R0  Reproducibility</a:t>
                      </a:r>
                    </a:p>
                  </a:txBody>
                  <a:tcPr marL="91440" marR="91440" marT="45720" marB="45720">
                    <a:solidFill>
                      <a:srgbClr val="FFFFFF"/>
                    </a:solidFill>
                  </a:tcPr>
                </a:tc>
                <a:tc>
                  <a:txBody>
                    <a:bodyPr/>
                    <a:lstStyle/>
                    <a:p>
                      <a:r>
                        <a:rPr sz="1800" b="0">
                          <a:solidFill>
                            <a:srgbClr val="142C3E"/>
                          </a:solidFill>
                          <a:latin typeface="Arial"/>
                          <a:ea typeface="Arial"/>
                          <a:cs typeface="Arial"/>
                        </a:rPr>
                        <a:t>Which historical results can we independently reproduce?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R1  Human factors</a:t>
                      </a:r>
                    </a:p>
                  </a:txBody>
                  <a:tcPr marL="91440" marR="91440" marT="45720" marB="45720">
                    <a:solidFill>
                      <a:srgbClr val="EEF3F5"/>
                    </a:solidFill>
                  </a:tcPr>
                </a:tc>
                <a:tc>
                  <a:txBody>
                    <a:bodyPr/>
                    <a:lstStyle/>
                    <a:p>
                      <a:r>
                        <a:rPr sz="1800" b="0">
                          <a:solidFill>
                            <a:srgbClr val="142C3E"/>
                          </a:solidFill>
                          <a:latin typeface="Arial"/>
                          <a:ea typeface="Arial"/>
                          <a:cs typeface="Arial"/>
                        </a:rPr>
                        <a:t>Does adaptation improve useful learning outcomes?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R2–R3  Detection and explanation</a:t>
                      </a:r>
                    </a:p>
                  </a:txBody>
                  <a:tcPr marL="91440" marR="91440" marT="45720" marB="45720">
                    <a:solidFill>
                      <a:srgbClr val="FFFFFF"/>
                    </a:solidFill>
                  </a:tcPr>
                </a:tc>
                <a:tc>
                  <a:txBody>
                    <a:bodyPr/>
                    <a:lstStyle/>
                    <a:p>
                      <a:r>
                        <a:rPr sz="1800" b="0">
                          <a:solidFill>
                            <a:srgbClr val="142C3E"/>
                          </a:solidFill>
                          <a:latin typeface="Arial"/>
                          <a:ea typeface="Arial"/>
                          <a:cs typeface="Arial"/>
                        </a:rPr>
                        <a:t>Do findings help investigators at an acceptable alert burden?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R4–R5  Validation and local intelligence</a:t>
                      </a:r>
                    </a:p>
                  </a:txBody>
                  <a:tcPr marL="91440" marR="91440" marT="45720" marB="45720">
                    <a:solidFill>
                      <a:srgbClr val="EEF3F5"/>
                    </a:solidFill>
                  </a:tcPr>
                </a:tc>
                <a:tc>
                  <a:txBody>
                    <a:bodyPr/>
                    <a:lstStyle/>
                    <a:p>
                      <a:r>
                        <a:rPr sz="1800" b="0">
                          <a:solidFill>
                            <a:srgbClr val="142C3E"/>
                          </a:solidFill>
                          <a:latin typeface="Arial"/>
                          <a:ea typeface="Arial"/>
                          <a:cs typeface="Arial"/>
                        </a:rPr>
                        <a:t>Can we test defenses safely and process data effectively?</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R6  Agent systems</a:t>
                      </a:r>
                    </a:p>
                  </a:txBody>
                  <a:tcPr marL="91440" marR="91440" marT="45720" marB="45720">
                    <a:solidFill>
                      <a:srgbClr val="FFFFFF"/>
                    </a:solidFill>
                  </a:tcPr>
                </a:tc>
                <a:tc>
                  <a:txBody>
                    <a:bodyPr/>
                    <a:lstStyle/>
                    <a:p>
                      <a:r>
                        <a:rPr sz="1800" b="0">
                          <a:solidFill>
                            <a:srgbClr val="142C3E"/>
                          </a:solidFill>
                          <a:latin typeface="Arial"/>
                          <a:ea typeface="Arial"/>
                          <a:cs typeface="Arial"/>
                        </a:rPr>
                        <a:t>Can bounded agents complete tasks under enforced authority?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E8B4680-8CEA-43C5-BCC9-B292398EE09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30</a:t>
            </a:r>
          </a:p>
        </p:txBody>
      </p:sp>
    </p:spTree>
    <p:extLst>
      <p:ext uri="{BB962C8B-B14F-4D97-AF65-F5344CB8AC3E}">
        <p14:creationId xmlns:p14="http://schemas.microsoft.com/office/powerpoint/2010/main" val="1321637605"/>
      </p:ext>
    </p:extLst>
  </p:cSld>
</p:sld>
</file>

<file path=ppt/slides/slide3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B197BC9-0029-40DA-AD48-80C562C649F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R0: reproducibility before product claims</a:t>
            </a:r>
          </a:p>
        </p:txBody>
      </p:sp>
      <p:sp>
        <p:nvSpPr>
          <p:cNvPr id="2" name="">
            <a:extLst xmlns:a="http://schemas.openxmlformats.org/drawingml/2006/main">
              <a:ext uri="{FF2B5EF4-FFF2-40B4-BE49-F238E27FC236}">
                <a16:creationId xmlns:a16="http://schemas.microsoft.com/office/drawing/2014/main" id="{71BE229C-A422-44B9-848C-E4FD93A70108}"/>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Trace each result</a:t>
            </a:r>
          </a:p>
        </p:txBody>
      </p:sp>
      <p:sp>
        <p:nvSpPr>
          <p:cNvPr id="3" name="">
            <a:extLst xmlns:a="http://schemas.openxmlformats.org/drawingml/2006/main">
              <a:ext uri="{FF2B5EF4-FFF2-40B4-BE49-F238E27FC236}">
                <a16:creationId xmlns:a16="http://schemas.microsoft.com/office/drawing/2014/main" id="{91204B06-BEC1-49CC-A5C9-2A4A5E5CC9B2}"/>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Dataset, label source, preprocessing, split, seed, code and output.</a:t>
            </a:r>
          </a:p>
        </p:txBody>
      </p:sp>
      <p:sp>
        <p:nvSpPr>
          <p:cNvPr id="4" name="">
            <a:extLst xmlns:a="http://schemas.openxmlformats.org/drawingml/2006/main">
              <a:ext uri="{FF2B5EF4-FFF2-40B4-BE49-F238E27FC236}">
                <a16:creationId xmlns:a16="http://schemas.microsoft.com/office/drawing/2014/main" id="{9DD21D6C-3790-48D5-82EA-B07830A2976E}"/>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Resolve differences</a:t>
            </a:r>
          </a:p>
        </p:txBody>
      </p:sp>
      <p:sp>
        <p:nvSpPr>
          <p:cNvPr id="5" name="">
            <a:extLst xmlns:a="http://schemas.openxmlformats.org/drawingml/2006/main">
              <a:ext uri="{FF2B5EF4-FFF2-40B4-BE49-F238E27FC236}">
                <a16:creationId xmlns:a16="http://schemas.microsoft.com/office/drawing/2014/main" id="{B2620EAD-F54C-4829-A1AF-9E4E204B32DB}"/>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Map mock-data reports and paper metrics to their exact execution paths.</a:t>
            </a:r>
          </a:p>
        </p:txBody>
      </p:sp>
      <p:sp>
        <p:nvSpPr>
          <p:cNvPr id="6" name="">
            <a:extLst xmlns:a="http://schemas.openxmlformats.org/drawingml/2006/main">
              <a:ext uri="{FF2B5EF4-FFF2-40B4-BE49-F238E27FC236}">
                <a16:creationId xmlns:a16="http://schemas.microsoft.com/office/drawing/2014/main" id="{2EAAA8D2-8291-405F-A7AE-37C571B1049D}"/>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Reject missing ground truth</a:t>
            </a:r>
          </a:p>
        </p:txBody>
      </p:sp>
      <p:sp>
        <p:nvSpPr>
          <p:cNvPr id="7" name="">
            <a:extLst xmlns:a="http://schemas.openxmlformats.org/drawingml/2006/main">
              <a:ext uri="{FF2B5EF4-FFF2-40B4-BE49-F238E27FC236}">
                <a16:creationId xmlns:a16="http://schemas.microsoft.com/office/drawing/2014/main" id="{3555B625-F0D5-4A7E-9265-045744B2BDE3}"/>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Evaluation must fail rather than manufacture labels.</a:t>
            </a:r>
          </a:p>
        </p:txBody>
      </p:sp>
      <p:sp>
        <p:nvSpPr>
          <p:cNvPr id="8" name="">
            <a:extLst xmlns:a="http://schemas.openxmlformats.org/drawingml/2006/main">
              <a:ext uri="{FF2B5EF4-FFF2-40B4-BE49-F238E27FC236}">
                <a16:creationId xmlns:a16="http://schemas.microsoft.com/office/drawing/2014/main" id="{DC767E26-37DA-4144-AC29-5B19E7CEB9D4}"/>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Publish the status</a:t>
            </a:r>
          </a:p>
        </p:txBody>
      </p:sp>
      <p:sp>
        <p:nvSpPr>
          <p:cNvPr id="9" name="">
            <a:extLst xmlns:a="http://schemas.openxmlformats.org/drawingml/2006/main">
              <a:ext uri="{FF2B5EF4-FFF2-40B4-BE49-F238E27FC236}">
                <a16:creationId xmlns:a16="http://schemas.microsoft.com/office/drawing/2014/main" id="{C94C7E14-8B46-438B-8F6E-19ED81B2C3AF}"/>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Reproduced, partly reproduced, blocked or synthetic demonstration.</a:t>
            </a:r>
          </a:p>
        </p:txBody>
      </p:sp>
      <p:sp>
        <p:nvSpPr>
          <p:cNvPr id="10" name="">
            <a:extLst xmlns:a="http://schemas.openxmlformats.org/drawingml/2006/main">
              <a:ext uri="{FF2B5EF4-FFF2-40B4-BE49-F238E27FC236}">
                <a16:creationId xmlns:a16="http://schemas.microsoft.com/office/drawing/2014/main" id="{87F7C8A6-E152-4522-BD75-260B545F3AF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31</a:t>
            </a:r>
          </a:p>
        </p:txBody>
      </p:sp>
    </p:spTree>
    <p:extLst>
      <p:ext uri="{BB962C8B-B14F-4D97-AF65-F5344CB8AC3E}">
        <p14:creationId xmlns:p14="http://schemas.microsoft.com/office/powerpoint/2010/main" val="572160444"/>
      </p:ext>
    </p:extLst>
  </p:cSld>
</p:sld>
</file>

<file path=ppt/slides/slide3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F77313D-F969-4FAB-8267-EE06D75BE40C}"/>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R1: adaptive learning evaluation</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Design element</a:t>
                      </a:r>
                    </a:p>
                  </a:txBody>
                  <a:tcPr marL="91440" marR="91440" marT="45720" marB="45720">
                    <a:solidFill>
                      <a:srgbClr val="102938"/>
                    </a:solidFill>
                  </a:tcPr>
                </a:tc>
                <a:tc>
                  <a:txBody>
                    <a:bodyPr/>
                    <a:lstStyle/>
                    <a:p>
                      <a:r>
                        <a:rPr sz="1800" b="1">
                          <a:solidFill>
                            <a:srgbClr val="FFFFFF"/>
                          </a:solidFill>
                          <a:latin typeface="Arial"/>
                          <a:ea typeface="Arial"/>
                          <a:cs typeface="Arial"/>
                        </a:rPr>
                        <a:t>Protocol</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Comparison</a:t>
                      </a:r>
                    </a:p>
                  </a:txBody>
                  <a:tcPr marL="91440" marR="91440" marT="45720" marB="45720">
                    <a:solidFill>
                      <a:srgbClr val="FFFFFF"/>
                    </a:solidFill>
                  </a:tcPr>
                </a:tc>
                <a:tc>
                  <a:txBody>
                    <a:bodyPr/>
                    <a:lstStyle/>
                    <a:p>
                      <a:r>
                        <a:rPr sz="1800" b="0">
                          <a:solidFill>
                            <a:srgbClr val="142C3E"/>
                          </a:solidFill>
                          <a:latin typeface="Arial"/>
                          <a:ea typeface="Arial"/>
                          <a:cs typeface="Arial"/>
                        </a:rPr>
                        <a:t>Fixed role-relevant content versus rule-based adaptation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Primary outcome</a:t>
                      </a:r>
                    </a:p>
                  </a:txBody>
                  <a:tcPr marL="91440" marR="91440" marT="45720" marB="45720">
                    <a:solidFill>
                      <a:srgbClr val="EEF3F5"/>
                    </a:solidFill>
                  </a:tcPr>
                </a:tc>
                <a:tc>
                  <a:txBody>
                    <a:bodyPr/>
                    <a:lstStyle/>
                    <a:p>
                      <a:r>
                        <a:rPr sz="1800" b="0">
                          <a:solidFill>
                            <a:srgbClr val="142C3E"/>
                          </a:solidFill>
                          <a:latin typeface="Arial"/>
                          <a:ea typeface="Arial"/>
                          <a:cs typeface="Arial"/>
                        </a:rPr>
                        <a:t>Knowledge retention after four weeks</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Secondary outcomes</a:t>
                      </a:r>
                    </a:p>
                  </a:txBody>
                  <a:tcPr marL="91440" marR="91440" marT="45720" marB="45720">
                    <a:solidFill>
                      <a:srgbClr val="FFFFFF"/>
                    </a:solidFill>
                  </a:tcPr>
                </a:tc>
                <a:tc>
                  <a:txBody>
                    <a:bodyPr/>
                    <a:lstStyle/>
                    <a:p>
                      <a:r>
                        <a:rPr sz="1800" b="0">
                          <a:solidFill>
                            <a:srgbClr val="142C3E"/>
                          </a:solidFill>
                          <a:latin typeface="Arial"/>
                          <a:ea typeface="Arial"/>
                          <a:cs typeface="Arial"/>
                        </a:rPr>
                        <a:t>Reporting behaviour, completion, relevance and burden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Pilot interpretation</a:t>
                      </a:r>
                    </a:p>
                  </a:txBody>
                  <a:tcPr marL="91440" marR="91440" marT="45720" marB="45720">
                    <a:solidFill>
                      <a:srgbClr val="EEF3F5"/>
                    </a:solidFill>
                  </a:tcPr>
                </a:tc>
                <a:tc>
                  <a:txBody>
                    <a:bodyPr/>
                    <a:lstStyle/>
                    <a:p>
                      <a:r>
                        <a:rPr sz="1800" b="0">
                          <a:solidFill>
                            <a:srgbClr val="142C3E"/>
                          </a:solidFill>
                          <a:latin typeface="Arial"/>
                          <a:ea typeface="Arial"/>
                          <a:cs typeface="Arial"/>
                        </a:rPr>
                        <a:t>Feasibility and effect estimates before a powered causal trial</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99DD43AE-6234-457C-AD8C-4B95172FB57E}"/>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A small pilot cannot establish a guaranteed reduction in phishing risk.</a:t>
            </a:r>
          </a:p>
        </p:txBody>
      </p:sp>
      <p:sp>
        <p:nvSpPr>
          <p:cNvPr id="4" name="">
            <a:extLst xmlns:a="http://schemas.openxmlformats.org/drawingml/2006/main">
              <a:ext uri="{FF2B5EF4-FFF2-40B4-BE49-F238E27FC236}">
                <a16:creationId xmlns:a16="http://schemas.microsoft.com/office/drawing/2014/main" id="{C45C4B73-86E7-4A31-8893-E59BE1A50B25}"/>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32</a:t>
            </a:r>
          </a:p>
        </p:txBody>
      </p:sp>
    </p:spTree>
    <p:extLst>
      <p:ext uri="{BB962C8B-B14F-4D97-AF65-F5344CB8AC3E}">
        <p14:creationId xmlns:p14="http://schemas.microsoft.com/office/powerpoint/2010/main" val="45950940"/>
      </p:ext>
    </p:extLst>
  </p:cSld>
</p:sld>
</file>

<file path=ppt/slides/slide3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9D6574C-018A-47FA-B517-DD0C170C574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R2–R3: useful detection and explanation</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Detection</a:t>
                      </a:r>
                    </a:p>
                  </a:txBody>
                  <a:tcPr marL="91440" marR="91440" marT="45720" marB="45720">
                    <a:solidFill>
                      <a:srgbClr val="102938"/>
                    </a:solidFill>
                  </a:tcPr>
                </a:tc>
                <a:tc>
                  <a:txBody>
                    <a:bodyPr/>
                    <a:lstStyle/>
                    <a:p>
                      <a:r>
                        <a:rPr sz="1800" b="1">
                          <a:solidFill>
                            <a:srgbClr val="FFFFFF"/>
                          </a:solidFill>
                          <a:latin typeface="Arial"/>
                          <a:ea typeface="Arial"/>
                          <a:cs typeface="Arial"/>
                        </a:rPr>
                        <a:t>Explanation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Time/site separation and leakage checks</a:t>
                      </a:r>
                    </a:p>
                  </a:txBody>
                  <a:tcPr marL="91440" marR="91440" marT="45720" marB="45720">
                    <a:solidFill>
                      <a:srgbClr val="FFFFFF"/>
                    </a:solidFill>
                  </a:tcPr>
                </a:tc>
                <a:tc>
                  <a:txBody>
                    <a:bodyPr/>
                    <a:lstStyle/>
                    <a:p>
                      <a:r>
                        <a:rPr sz="1800" b="0">
                          <a:solidFill>
                            <a:srgbClr val="142C3E"/>
                          </a:solidFill>
                          <a:latin typeface="Arial"/>
                          <a:ea typeface="Arial"/>
                          <a:cs typeface="Arial"/>
                        </a:rPr>
                        <a:t>Claims cite the evidence available to the investigator</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Rules versus clustering/fusion baselines</a:t>
                      </a:r>
                    </a:p>
                  </a:txBody>
                  <a:tcPr marL="91440" marR="91440" marT="45720" marB="45720">
                    <a:solidFill>
                      <a:srgbClr val="EEF3F5"/>
                    </a:solidFill>
                  </a:tcPr>
                </a:tc>
                <a:tc>
                  <a:txBody>
                    <a:bodyPr/>
                    <a:lstStyle/>
                    <a:p>
                      <a:r>
                        <a:rPr sz="1800" b="0">
                          <a:solidFill>
                            <a:srgbClr val="142C3E"/>
                          </a:solidFill>
                          <a:latin typeface="Arial"/>
                          <a:ea typeface="Arial"/>
                          <a:cs typeface="Arial"/>
                        </a:rPr>
                        <a:t>Test faithfulness by changing supporting evidence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False alerts per investigator-day</a:t>
                      </a:r>
                    </a:p>
                  </a:txBody>
                  <a:tcPr marL="91440" marR="91440" marT="45720" marB="45720">
                    <a:solidFill>
                      <a:srgbClr val="FFFFFF"/>
                    </a:solidFill>
                  </a:tcPr>
                </a:tc>
                <a:tc>
                  <a:txBody>
                    <a:bodyPr/>
                    <a:lstStyle/>
                    <a:p>
                      <a:r>
                        <a:rPr sz="1800" b="0">
                          <a:solidFill>
                            <a:srgbClr val="142C3E"/>
                          </a:solidFill>
                          <a:latin typeface="Arial"/>
                          <a:ea typeface="Arial"/>
                          <a:cs typeface="Arial"/>
                        </a:rPr>
                        <a:t>Measure decision quality and triage time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Shadow-mode promotion</a:t>
                      </a:r>
                    </a:p>
                  </a:txBody>
                  <a:tcPr marL="91440" marR="91440" marT="45720" marB="45720">
                    <a:solidFill>
                      <a:srgbClr val="EEF3F5"/>
                    </a:solidFill>
                  </a:tcPr>
                </a:tc>
                <a:tc>
                  <a:txBody>
                    <a:bodyPr/>
                    <a:lstStyle/>
                    <a:p>
                      <a:r>
                        <a:rPr sz="1800" b="0">
                          <a:solidFill>
                            <a:srgbClr val="142C3E"/>
                          </a:solidFill>
                          <a:latin typeface="Arial"/>
                          <a:ea typeface="Arial"/>
                          <a:cs typeface="Arial"/>
                        </a:rPr>
                        <a:t>Clarity ratings alone do not establish correctness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F4252F77-B65D-42F5-AF08-E513B4593CD9}"/>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33</a:t>
            </a:r>
          </a:p>
        </p:txBody>
      </p:sp>
    </p:spTree>
    <p:extLst>
      <p:ext uri="{BB962C8B-B14F-4D97-AF65-F5344CB8AC3E}">
        <p14:creationId xmlns:p14="http://schemas.microsoft.com/office/powerpoint/2010/main" val="127145550"/>
      </p:ext>
    </p:extLst>
  </p:cSld>
</p:sld>
</file>

<file path=ppt/slides/slide3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785F539-86C0-47C1-BF30-B5BD71ACA12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R4–R5: validation and privacy research</a:t>
            </a:r>
          </a:p>
        </p:txBody>
      </p:sp>
      <p:sp>
        <p:nvSpPr>
          <p:cNvPr id="2" name="">
            <a:extLst xmlns:a="http://schemas.openxmlformats.org/drawingml/2006/main">
              <a:ext uri="{FF2B5EF4-FFF2-40B4-BE49-F238E27FC236}">
                <a16:creationId xmlns:a16="http://schemas.microsoft.com/office/drawing/2014/main" id="{46932C56-EF63-497F-BB5F-3F6AF9843117}"/>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Adversarial validation</a:t>
            </a:r>
          </a:p>
        </p:txBody>
      </p:sp>
      <p:sp>
        <p:nvSpPr>
          <p:cNvPr id="3" name="">
            <a:extLst xmlns:a="http://schemas.openxmlformats.org/drawingml/2006/main">
              <a:ext uri="{FF2B5EF4-FFF2-40B4-BE49-F238E27FC236}">
                <a16:creationId xmlns:a16="http://schemas.microsoft.com/office/drawing/2014/main" id="{54D360EA-A178-4A81-8853-3A01D5299821}"/>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Compare reproducible scripted checks before generative methods or GANs.</a:t>
            </a:r>
          </a:p>
        </p:txBody>
      </p:sp>
      <p:sp>
        <p:nvSpPr>
          <p:cNvPr id="4" name="">
            <a:extLst xmlns:a="http://schemas.openxmlformats.org/drawingml/2006/main">
              <a:ext uri="{FF2B5EF4-FFF2-40B4-BE49-F238E27FC236}">
                <a16:creationId xmlns:a16="http://schemas.microsoft.com/office/drawing/2014/main" id="{9BF536F3-E81F-4B30-9ADC-ECFBB47AB030}"/>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Local inference</a:t>
            </a:r>
          </a:p>
        </p:txBody>
      </p:sp>
      <p:sp>
        <p:nvSpPr>
          <p:cNvPr id="5" name="">
            <a:extLst xmlns:a="http://schemas.openxmlformats.org/drawingml/2006/main">
              <a:ext uri="{FF2B5EF4-FFF2-40B4-BE49-F238E27FC236}">
                <a16:creationId xmlns:a16="http://schemas.microsoft.com/office/drawing/2014/main" id="{B793B45B-E721-4A1A-8EB1-8629540A5AD8}"/>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Measure quality, latency, memory and failure cost on actual hardware.</a:t>
            </a:r>
          </a:p>
        </p:txBody>
      </p:sp>
      <p:sp>
        <p:nvSpPr>
          <p:cNvPr id="6" name="">
            <a:extLst xmlns:a="http://schemas.openxmlformats.org/drawingml/2006/main">
              <a:ext uri="{FF2B5EF4-FFF2-40B4-BE49-F238E27FC236}">
                <a16:creationId xmlns:a16="http://schemas.microsoft.com/office/drawing/2014/main" id="{106A9562-0527-43FE-92A8-EE110DFDEFA3}"/>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Federated intelligence</a:t>
            </a:r>
          </a:p>
        </p:txBody>
      </p:sp>
      <p:sp>
        <p:nvSpPr>
          <p:cNvPr id="7" name="">
            <a:extLst xmlns:a="http://schemas.openxmlformats.org/drawingml/2006/main">
              <a:ext uri="{FF2B5EF4-FFF2-40B4-BE49-F238E27FC236}">
                <a16:creationId xmlns:a16="http://schemas.microsoft.com/office/drawing/2014/main" id="{1B8C562C-1E7C-4C11-8616-FED027379CE1}"/>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Require useful local models, permitted data use and a privacy threat model.</a:t>
            </a:r>
          </a:p>
        </p:txBody>
      </p:sp>
      <p:sp>
        <p:nvSpPr>
          <p:cNvPr id="8" name="">
            <a:extLst xmlns:a="http://schemas.openxmlformats.org/drawingml/2006/main">
              <a:ext uri="{FF2B5EF4-FFF2-40B4-BE49-F238E27FC236}">
                <a16:creationId xmlns:a16="http://schemas.microsoft.com/office/drawing/2014/main" id="{6E21320F-758A-47D4-B909-CFF8047DEC2E}"/>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Industrial research</a:t>
            </a:r>
          </a:p>
        </p:txBody>
      </p:sp>
      <p:sp>
        <p:nvSpPr>
          <p:cNvPr id="9" name="">
            <a:extLst xmlns:a="http://schemas.openxmlformats.org/drawingml/2006/main">
              <a:ext uri="{FF2B5EF4-FFF2-40B4-BE49-F238E27FC236}">
                <a16:creationId xmlns:a16="http://schemas.microsoft.com/office/drawing/2014/main" id="{290146C7-1975-4359-A6DD-EE9C53B44794}"/>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 passive lab evidence before a scoped customer pilot.</a:t>
            </a:r>
          </a:p>
        </p:txBody>
      </p:sp>
      <p:sp>
        <p:nvSpPr>
          <p:cNvPr id="10" name="">
            <a:extLst xmlns:a="http://schemas.openxmlformats.org/drawingml/2006/main">
              <a:ext uri="{FF2B5EF4-FFF2-40B4-BE49-F238E27FC236}">
                <a16:creationId xmlns:a16="http://schemas.microsoft.com/office/drawing/2014/main" id="{69D6F1CA-DDD7-4421-9CB2-69A2DB73A4A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34</a:t>
            </a:r>
          </a:p>
        </p:txBody>
      </p:sp>
    </p:spTree>
    <p:extLst>
      <p:ext uri="{BB962C8B-B14F-4D97-AF65-F5344CB8AC3E}">
        <p14:creationId xmlns:p14="http://schemas.microsoft.com/office/powerpoint/2010/main" val="1472730789"/>
      </p:ext>
    </p:extLst>
  </p:cSld>
</p:sld>
</file>

<file path=ppt/slides/slide3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B727965-7C05-4761-9DD7-292645D0606A}"/>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Frontier agent research</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Research input</a:t>
                      </a:r>
                    </a:p>
                  </a:txBody>
                  <a:tcPr marL="91440" marR="91440" marT="45720" marB="45720">
                    <a:solidFill>
                      <a:srgbClr val="102938"/>
                    </a:solidFill>
                  </a:tcPr>
                </a:tc>
                <a:tc>
                  <a:txBody>
                    <a:bodyPr/>
                    <a:lstStyle/>
                    <a:p>
                      <a:r>
                        <a:rPr sz="1800" b="1">
                          <a:solidFill>
                            <a:srgbClr val="FFFFFF"/>
                          </a:solidFill>
                          <a:latin typeface="Arial"/>
                          <a:ea typeface="Arial"/>
                          <a:cs typeface="Arial"/>
                        </a:rPr>
                        <a:t>AegisAI experiment</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AgentLAB, February 2026</a:t>
                      </a:r>
                    </a:p>
                  </a:txBody>
                  <a:tcPr marL="91440" marR="91440" marT="45720" marB="45720">
                    <a:solidFill>
                      <a:srgbClr val="FFFFFF"/>
                    </a:solidFill>
                  </a:tcPr>
                </a:tc>
                <a:tc>
                  <a:txBody>
                    <a:bodyPr/>
                    <a:lstStyle/>
                    <a:p>
                      <a:r>
                        <a:rPr sz="1800" b="0">
                          <a:solidFill>
                            <a:srgbClr val="142C3E"/>
                          </a:solidFill>
                          <a:latin typeface="Arial"/>
                          <a:ea typeface="Arial"/>
                          <a:cs typeface="Arial"/>
                        </a:rPr>
                        <a:t>Long-horizon attacks through retrieved content and tools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AMA-Bench, February 2026</a:t>
                      </a:r>
                    </a:p>
                  </a:txBody>
                  <a:tcPr marL="91440" marR="91440" marT="45720" marB="45720">
                    <a:solidFill>
                      <a:srgbClr val="EEF3F5"/>
                    </a:solidFill>
                  </a:tcPr>
                </a:tc>
                <a:tc>
                  <a:txBody>
                    <a:bodyPr/>
                    <a:lstStyle/>
                    <a:p>
                      <a:r>
                        <a:rPr sz="1800" b="0">
                          <a:solidFill>
                            <a:srgbClr val="142C3E"/>
                          </a:solidFill>
                          <a:latin typeface="Arial"/>
                          <a:ea typeface="Arial"/>
                          <a:cs typeface="Arial"/>
                        </a:rPr>
                        <a:t>Explicit task state and retrieval versus richer memory</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AgentFlow, August 2026</a:t>
                      </a:r>
                    </a:p>
                  </a:txBody>
                  <a:tcPr marL="91440" marR="91440" marT="45720" marB="45720">
                    <a:solidFill>
                      <a:srgbClr val="FFFFFF"/>
                    </a:solidFill>
                  </a:tcPr>
                </a:tc>
                <a:tc>
                  <a:txBody>
                    <a:bodyPr/>
                    <a:lstStyle/>
                    <a:p>
                      <a:r>
                        <a:rPr sz="1800" b="0">
                          <a:solidFill>
                            <a:srgbClr val="142C3E"/>
                          </a:solidFill>
                          <a:latin typeface="Arial"/>
                          <a:ea typeface="Arial"/>
                          <a:cs typeface="Arial"/>
                        </a:rPr>
                        <a:t>Independent policy and data-flow enforcement</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Repeated task evaluation</a:t>
                      </a:r>
                    </a:p>
                  </a:txBody>
                  <a:tcPr marL="91440" marR="91440" marT="45720" marB="45720">
                    <a:solidFill>
                      <a:srgbClr val="EEF3F5"/>
                    </a:solidFill>
                  </a:tcPr>
                </a:tc>
                <a:tc>
                  <a:txBody>
                    <a:bodyPr/>
                    <a:lstStyle/>
                    <a:p>
                      <a:r>
                        <a:rPr sz="1800" b="0">
                          <a:solidFill>
                            <a:srgbClr val="142C3E"/>
                          </a:solidFill>
                          <a:latin typeface="Arial"/>
                          <a:ea typeface="Arial"/>
                          <a:cs typeface="Arial"/>
                        </a:rPr>
                        <a:t>Success, authority violations, recovery and total cost</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BFA32D3B-311E-4FF5-B59D-8780263FD1F6}"/>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Research findings remain bounded by their benchmarks. They do not certify product safety.</a:t>
            </a:r>
          </a:p>
        </p:txBody>
      </p:sp>
      <p:sp>
        <p:nvSpPr>
          <p:cNvPr id="4" name="">
            <a:extLst xmlns:a="http://schemas.openxmlformats.org/drawingml/2006/main">
              <a:ext uri="{FF2B5EF4-FFF2-40B4-BE49-F238E27FC236}">
                <a16:creationId xmlns:a16="http://schemas.microsoft.com/office/drawing/2014/main" id="{1FB8745B-58DE-4DB9-B132-0A2EFA4B6CE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35</a:t>
            </a:r>
          </a:p>
        </p:txBody>
      </p:sp>
    </p:spTree>
    <p:extLst>
      <p:ext uri="{BB962C8B-B14F-4D97-AF65-F5344CB8AC3E}">
        <p14:creationId xmlns:p14="http://schemas.microsoft.com/office/powerpoint/2010/main" val="889816010"/>
      </p:ext>
    </p:extLst>
  </p:cSld>
</p:sld>
</file>

<file path=ppt/slides/slide3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B18B59A-361F-4325-B184-1B622CA798E8}"/>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Internal agent workspace</a:t>
            </a:r>
          </a:p>
        </p:txBody>
      </p:sp>
      <p:sp>
        <p:nvSpPr>
          <p:cNvPr id="2" name="">
            <a:extLst xmlns:a="http://schemas.openxmlformats.org/drawingml/2006/main">
              <a:ext uri="{FF2B5EF4-FFF2-40B4-BE49-F238E27FC236}">
                <a16:creationId xmlns:a16="http://schemas.microsoft.com/office/drawing/2014/main" id="{207495A9-A4CD-4BCB-B3CB-9D14A4901DCD}"/>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Early scope</a:t>
            </a:r>
          </a:p>
        </p:txBody>
      </p:sp>
      <p:sp>
        <p:nvSpPr>
          <p:cNvPr id="3" name="">
            <a:extLst xmlns:a="http://schemas.openxmlformats.org/drawingml/2006/main">
              <a:ext uri="{FF2B5EF4-FFF2-40B4-BE49-F238E27FC236}">
                <a16:creationId xmlns:a16="http://schemas.microsoft.com/office/drawing/2014/main" id="{9C3FB85E-9C4D-4E37-82B9-A30449E58325}"/>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Literature review, citation checking, bounded code work and experiments.</a:t>
            </a:r>
          </a:p>
        </p:txBody>
      </p:sp>
      <p:sp>
        <p:nvSpPr>
          <p:cNvPr id="4" name="">
            <a:extLst xmlns:a="http://schemas.openxmlformats.org/drawingml/2006/main">
              <a:ext uri="{FF2B5EF4-FFF2-40B4-BE49-F238E27FC236}">
                <a16:creationId xmlns:a16="http://schemas.microsoft.com/office/drawing/2014/main" id="{E900069E-78D7-4CC8-B42A-0273D9A30B78}"/>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Runtime baseline</a:t>
            </a:r>
          </a:p>
        </p:txBody>
      </p:sp>
      <p:sp>
        <p:nvSpPr>
          <p:cNvPr id="5" name="">
            <a:extLst xmlns:a="http://schemas.openxmlformats.org/drawingml/2006/main">
              <a:ext uri="{FF2B5EF4-FFF2-40B4-BE49-F238E27FC236}">
                <a16:creationId xmlns:a16="http://schemas.microsoft.com/office/drawing/2014/main" id="{BE9E9F56-32B1-43C9-A1E0-A518A958B817}"/>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Evaluate OpenHands with one bounded worker and controlled model/tool interfaces.</a:t>
            </a:r>
          </a:p>
        </p:txBody>
      </p:sp>
      <p:sp>
        <p:nvSpPr>
          <p:cNvPr id="6" name="">
            <a:extLst xmlns:a="http://schemas.openxmlformats.org/drawingml/2006/main">
              <a:ext uri="{FF2B5EF4-FFF2-40B4-BE49-F238E27FC236}">
                <a16:creationId xmlns:a16="http://schemas.microsoft.com/office/drawing/2014/main" id="{BAA38CFA-20AB-4074-B955-1FCB74215699}"/>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Data and authority</a:t>
            </a:r>
          </a:p>
        </p:txBody>
      </p:sp>
      <p:sp>
        <p:nvSpPr>
          <p:cNvPr id="7" name="">
            <a:extLst xmlns:a="http://schemas.openxmlformats.org/drawingml/2006/main">
              <a:ext uri="{FF2B5EF4-FFF2-40B4-BE49-F238E27FC236}">
                <a16:creationId xmlns:a16="http://schemas.microsoft.com/office/drawing/2014/main" id="{EE506AE6-C09B-4664-9F90-BACFB7243BB6}"/>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Separate curated knowledge, task history and untrusted text. Keep secrets outside workers.</a:t>
            </a:r>
          </a:p>
        </p:txBody>
      </p:sp>
      <p:sp>
        <p:nvSpPr>
          <p:cNvPr id="8" name="">
            <a:extLst xmlns:a="http://schemas.openxmlformats.org/drawingml/2006/main">
              <a:ext uri="{FF2B5EF4-FFF2-40B4-BE49-F238E27FC236}">
                <a16:creationId xmlns:a16="http://schemas.microsoft.com/office/drawing/2014/main" id="{606411C1-5A79-45E7-812E-9CF1355D387F}"/>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Promotion</a:t>
            </a:r>
          </a:p>
        </p:txBody>
      </p:sp>
      <p:sp>
        <p:nvSpPr>
          <p:cNvPr id="9" name="">
            <a:extLst xmlns:a="http://schemas.openxmlformats.org/drawingml/2006/main">
              <a:ext uri="{FF2B5EF4-FFF2-40B4-BE49-F238E27FC236}">
                <a16:creationId xmlns:a16="http://schemas.microsoft.com/office/drawing/2014/main" id="{160278BF-7C38-4C11-B5DE-CA102E303392}"/>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Commercial Agent Security follows measured internal results and separate customer discovery.</a:t>
            </a:r>
          </a:p>
        </p:txBody>
      </p:sp>
      <p:sp>
        <p:nvSpPr>
          <p:cNvPr id="10" name="">
            <a:extLst xmlns:a="http://schemas.openxmlformats.org/drawingml/2006/main">
              <a:ext uri="{FF2B5EF4-FFF2-40B4-BE49-F238E27FC236}">
                <a16:creationId xmlns:a16="http://schemas.microsoft.com/office/drawing/2014/main" id="{29BA2C23-AA22-44F0-BA1C-2A5232356528}"/>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36</a:t>
            </a:r>
          </a:p>
        </p:txBody>
      </p:sp>
    </p:spTree>
    <p:extLst>
      <p:ext uri="{BB962C8B-B14F-4D97-AF65-F5344CB8AC3E}">
        <p14:creationId xmlns:p14="http://schemas.microsoft.com/office/powerpoint/2010/main" val="1547770492"/>
      </p:ext>
    </p:extLst>
  </p:cSld>
</p:sld>
</file>

<file path=ppt/slides/slide3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5577B4E-2B6D-4D87-82D6-D58A462640F4}"/>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Roadmap: months 1–12</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1714500"/>
                <a:gridCol w="7581900"/>
                <a:gridCol w="1524000"/>
              </a:tblGrid>
              <a:tr h="476250">
                <a:tc>
                  <a:txBody>
                    <a:bodyPr/>
                    <a:lstStyle/>
                    <a:p>
                      <a:r>
                        <a:rPr sz="1800" b="1">
                          <a:solidFill>
                            <a:srgbClr val="FFFFFF"/>
                          </a:solidFill>
                          <a:latin typeface="Arial"/>
                          <a:ea typeface="Arial"/>
                          <a:cs typeface="Arial"/>
                        </a:rPr>
                        <a:t>Window</a:t>
                      </a:r>
                    </a:p>
                  </a:txBody>
                  <a:tcPr marL="91440" marR="91440" marT="45720" marB="45720">
                    <a:solidFill>
                      <a:srgbClr val="102938"/>
                    </a:solidFill>
                  </a:tcPr>
                </a:tc>
                <a:tc>
                  <a:txBody>
                    <a:bodyPr/>
                    <a:lstStyle/>
                    <a:p>
                      <a:r>
                        <a:rPr sz="1800" b="1">
                          <a:solidFill>
                            <a:srgbClr val="FFFFFF"/>
                          </a:solidFill>
                          <a:latin typeface="Arial"/>
                          <a:ea typeface="Arial"/>
                          <a:cs typeface="Arial"/>
                        </a:rPr>
                        <a:t>Primary delivery</a:t>
                      </a:r>
                    </a:p>
                  </a:txBody>
                  <a:tcPr marL="91440" marR="91440" marT="45720" marB="45720">
                    <a:solidFill>
                      <a:srgbClr val="102938"/>
                    </a:solidFill>
                  </a:tcPr>
                </a:tc>
                <a:tc>
                  <a:txBody>
                    <a:bodyPr/>
                    <a:lstStyle/>
                    <a:p>
                      <a:r>
                        <a:rPr sz="1800" b="1">
                          <a:solidFill>
                            <a:srgbClr val="FFFFFF"/>
                          </a:solidFill>
                          <a:latin typeface="Arial"/>
                          <a:ea typeface="Arial"/>
                          <a:cs typeface="Arial"/>
                        </a:rPr>
                        <a:t>Gate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M1–3</a:t>
                      </a:r>
                    </a:p>
                  </a:txBody>
                  <a:tcPr marL="91440" marR="91440" marT="45720" marB="45720">
                    <a:solidFill>
                      <a:srgbClr val="FFFFFF"/>
                    </a:solidFill>
                  </a:tcPr>
                </a:tc>
                <a:tc>
                  <a:txBody>
                    <a:bodyPr/>
                    <a:lstStyle/>
                    <a:p>
                      <a:r>
                        <a:rPr sz="1800" b="0">
                          <a:solidFill>
                            <a:srgbClr val="142C3E"/>
                          </a:solidFill>
                          <a:latin typeface="Arial"/>
                          <a:ea typeface="Arial"/>
                          <a:cs typeface="Arial"/>
                        </a:rPr>
                        <a:t>Human Firewall pilot and shared foundations</a:t>
                      </a:r>
                    </a:p>
                  </a:txBody>
                  <a:tcPr marL="91440" marR="91440" marT="45720" marB="45720">
                    <a:solidFill>
                      <a:srgbClr val="FFFFFF"/>
                    </a:solidFill>
                  </a:tcPr>
                </a:tc>
                <a:tc>
                  <a:txBody>
                    <a:bodyPr/>
                    <a:lstStyle/>
                    <a:p>
                      <a:r>
                        <a:rPr sz="1800" b="0">
                          <a:solidFill>
                            <a:srgbClr val="142C3E"/>
                          </a:solidFill>
                          <a:latin typeface="Arial"/>
                          <a:ea typeface="Arial"/>
                          <a:cs typeface="Arial"/>
                        </a:rPr>
                        <a:t>G1</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M4–6</a:t>
                      </a:r>
                    </a:p>
                  </a:txBody>
                  <a:tcPr marL="91440" marR="91440" marT="45720" marB="45720">
                    <a:solidFill>
                      <a:srgbClr val="EEF3F5"/>
                    </a:solidFill>
                  </a:tcPr>
                </a:tc>
                <a:tc>
                  <a:txBody>
                    <a:bodyPr/>
                    <a:lstStyle/>
                    <a:p>
                      <a:r>
                        <a:rPr sz="1800" b="0">
                          <a:solidFill>
                            <a:srgbClr val="142C3E"/>
                          </a:solidFill>
                          <a:latin typeface="Arial"/>
                          <a:ea typeface="Arial"/>
                          <a:cs typeface="Arial"/>
                        </a:rPr>
                        <a:t>Paid training pilots and production release</a:t>
                      </a:r>
                    </a:p>
                  </a:txBody>
                  <a:tcPr marL="91440" marR="91440" marT="45720" marB="45720">
                    <a:solidFill>
                      <a:srgbClr val="EEF3F5"/>
                    </a:solidFill>
                  </a:tcPr>
                </a:tc>
                <a:tc>
                  <a:txBody>
                    <a:bodyPr/>
                    <a:lstStyle/>
                    <a:p>
                      <a:r>
                        <a:rPr sz="1800" b="0">
                          <a:solidFill>
                            <a:srgbClr val="142C3E"/>
                          </a:solidFill>
                          <a:latin typeface="Arial"/>
                          <a:ea typeface="Arial"/>
                          <a:cs typeface="Arial"/>
                        </a:rPr>
                        <a:t>G2</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M7–9</a:t>
                      </a:r>
                    </a:p>
                  </a:txBody>
                  <a:tcPr marL="91440" marR="91440" marT="45720" marB="45720">
                    <a:solidFill>
                      <a:srgbClr val="FFFFFF"/>
                    </a:solidFill>
                  </a:tcPr>
                </a:tc>
                <a:tc>
                  <a:txBody>
                    <a:bodyPr/>
                    <a:lstStyle/>
                    <a:p>
                      <a:r>
                        <a:rPr sz="1800" b="0">
                          <a:solidFill>
                            <a:srgbClr val="142C3E"/>
                          </a:solidFill>
                          <a:latin typeface="Arial"/>
                          <a:ea typeface="Arial"/>
                          <a:cs typeface="Arial"/>
                        </a:rPr>
                        <a:t>Security Operations pilot</a:t>
                      </a:r>
                    </a:p>
                  </a:txBody>
                  <a:tcPr marL="91440" marR="91440" marT="45720" marB="45720">
                    <a:solidFill>
                      <a:srgbClr val="FFFFFF"/>
                    </a:solidFill>
                  </a:tcPr>
                </a:tc>
                <a:tc>
                  <a:txBody>
                    <a:bodyPr/>
                    <a:lstStyle/>
                    <a:p>
                      <a:r>
                        <a:rPr sz="1800" b="0">
                          <a:solidFill>
                            <a:srgbClr val="142C3E"/>
                          </a:solidFill>
                          <a:latin typeface="Arial"/>
                          <a:ea typeface="Arial"/>
                          <a:cs typeface="Arial"/>
                        </a:rPr>
                        <a:t>G3</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M10–12</a:t>
                      </a:r>
                    </a:p>
                  </a:txBody>
                  <a:tcPr marL="91440" marR="91440" marT="45720" marB="45720">
                    <a:solidFill>
                      <a:srgbClr val="EEF3F5"/>
                    </a:solidFill>
                  </a:tcPr>
                </a:tc>
                <a:tc>
                  <a:txBody>
                    <a:bodyPr/>
                    <a:lstStyle/>
                    <a:p>
                      <a:r>
                        <a:rPr sz="1800" b="0">
                          <a:solidFill>
                            <a:srgbClr val="142C3E"/>
                          </a:solidFill>
                          <a:latin typeface="Arial"/>
                          <a:ea typeface="Arial"/>
                          <a:cs typeface="Arial"/>
                        </a:rPr>
                        <a:t>Supported Security Operations release</a:t>
                      </a:r>
                    </a:p>
                  </a:txBody>
                  <a:tcPr marL="91440" marR="91440" marT="45720" marB="45720">
                    <a:solidFill>
                      <a:srgbClr val="EEF3F5"/>
                    </a:solidFill>
                  </a:tcPr>
                </a:tc>
                <a:tc>
                  <a:txBody>
                    <a:bodyPr/>
                    <a:lstStyle/>
                    <a:p>
                      <a:r>
                        <a:rPr sz="1800" b="0">
                          <a:solidFill>
                            <a:srgbClr val="142C3E"/>
                          </a:solidFill>
                          <a:latin typeface="Arial"/>
                          <a:ea typeface="Arial"/>
                          <a:cs typeface="Arial"/>
                        </a:rPr>
                        <a:t>G4</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C0BC21F6-E6E6-4E0E-BD8D-C1E0804108EF}"/>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Research runs within its allocation. Each product works independently.</a:t>
            </a:r>
          </a:p>
        </p:txBody>
      </p:sp>
      <p:sp>
        <p:nvSpPr>
          <p:cNvPr id="4" name="">
            <a:extLst xmlns:a="http://schemas.openxmlformats.org/drawingml/2006/main">
              <a:ext uri="{FF2B5EF4-FFF2-40B4-BE49-F238E27FC236}">
                <a16:creationId xmlns:a16="http://schemas.microsoft.com/office/drawing/2014/main" id="{E7557CBD-051B-46BB-98FC-F004569776A8}"/>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37</a:t>
            </a:r>
          </a:p>
        </p:txBody>
      </p:sp>
    </p:spTree>
    <p:extLst>
      <p:ext uri="{BB962C8B-B14F-4D97-AF65-F5344CB8AC3E}">
        <p14:creationId xmlns:p14="http://schemas.microsoft.com/office/powerpoint/2010/main" val="1677457940"/>
      </p:ext>
    </p:extLst>
  </p:cSld>
</p:sld>
</file>

<file path=ppt/slides/slide3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96FDC3-42B2-467E-8946-752CE2F6FD81}"/>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Roadmap: months 13–24</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1714500"/>
                <a:gridCol w="7581900"/>
                <a:gridCol w="1524000"/>
              </a:tblGrid>
              <a:tr h="476250">
                <a:tc>
                  <a:txBody>
                    <a:bodyPr/>
                    <a:lstStyle/>
                    <a:p>
                      <a:r>
                        <a:rPr sz="1800" b="1">
                          <a:solidFill>
                            <a:srgbClr val="FFFFFF"/>
                          </a:solidFill>
                          <a:latin typeface="Arial"/>
                          <a:ea typeface="Arial"/>
                          <a:cs typeface="Arial"/>
                        </a:rPr>
                        <a:t>Window</a:t>
                      </a:r>
                    </a:p>
                  </a:txBody>
                  <a:tcPr marL="91440" marR="91440" marT="45720" marB="45720">
                    <a:solidFill>
                      <a:srgbClr val="102938"/>
                    </a:solidFill>
                  </a:tcPr>
                </a:tc>
                <a:tc>
                  <a:txBody>
                    <a:bodyPr/>
                    <a:lstStyle/>
                    <a:p>
                      <a:r>
                        <a:rPr sz="1800" b="1">
                          <a:solidFill>
                            <a:srgbClr val="FFFFFF"/>
                          </a:solidFill>
                          <a:latin typeface="Arial"/>
                          <a:ea typeface="Arial"/>
                          <a:cs typeface="Arial"/>
                        </a:rPr>
                        <a:t>Primary delivery</a:t>
                      </a:r>
                    </a:p>
                  </a:txBody>
                  <a:tcPr marL="91440" marR="91440" marT="45720" marB="45720">
                    <a:solidFill>
                      <a:srgbClr val="102938"/>
                    </a:solidFill>
                  </a:tcPr>
                </a:tc>
                <a:tc>
                  <a:txBody>
                    <a:bodyPr/>
                    <a:lstStyle/>
                    <a:p>
                      <a:r>
                        <a:rPr sz="1800" b="1">
                          <a:solidFill>
                            <a:srgbClr val="FFFFFF"/>
                          </a:solidFill>
                          <a:latin typeface="Arial"/>
                          <a:ea typeface="Arial"/>
                          <a:cs typeface="Arial"/>
                        </a:rPr>
                        <a:t>Gate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M13–15</a:t>
                      </a:r>
                    </a:p>
                  </a:txBody>
                  <a:tcPr marL="91440" marR="91440" marT="45720" marB="45720">
                    <a:solidFill>
                      <a:srgbClr val="FFFFFF"/>
                    </a:solidFill>
                  </a:tcPr>
                </a:tc>
                <a:tc>
                  <a:txBody>
                    <a:bodyPr/>
                    <a:lstStyle/>
                    <a:p>
                      <a:r>
                        <a:rPr sz="1800" b="0">
                          <a:solidFill>
                            <a:srgbClr val="142C3E"/>
                          </a:solidFill>
                          <a:latin typeface="Arial"/>
                          <a:ea typeface="Arial"/>
                          <a:cs typeface="Arial"/>
                        </a:rPr>
                        <a:t>Defense Box and Validation pilot</a:t>
                      </a:r>
                    </a:p>
                  </a:txBody>
                  <a:tcPr marL="91440" marR="91440" marT="45720" marB="45720">
                    <a:solidFill>
                      <a:srgbClr val="FFFFFF"/>
                    </a:solidFill>
                  </a:tcPr>
                </a:tc>
                <a:tc>
                  <a:txBody>
                    <a:bodyPr/>
                    <a:lstStyle/>
                    <a:p>
                      <a:r>
                        <a:rPr sz="1800" b="0">
                          <a:solidFill>
                            <a:srgbClr val="142C3E"/>
                          </a:solidFill>
                          <a:latin typeface="Arial"/>
                          <a:ea typeface="Arial"/>
                          <a:cs typeface="Arial"/>
                        </a:rPr>
                        <a:t>G5</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M16–18</a:t>
                      </a:r>
                    </a:p>
                  </a:txBody>
                  <a:tcPr marL="91440" marR="91440" marT="45720" marB="45720">
                    <a:solidFill>
                      <a:srgbClr val="EEF3F5"/>
                    </a:solidFill>
                  </a:tcPr>
                </a:tc>
                <a:tc>
                  <a:txBody>
                    <a:bodyPr/>
                    <a:lstStyle/>
                    <a:p>
                      <a:r>
                        <a:rPr sz="1800" b="0">
                          <a:solidFill>
                            <a:srgbClr val="142C3E"/>
                          </a:solidFill>
                          <a:latin typeface="Arial"/>
                          <a:ea typeface="Arial"/>
                          <a:cs typeface="Arial"/>
                        </a:rPr>
                        <a:t>Supported appliance release</a:t>
                      </a:r>
                    </a:p>
                  </a:txBody>
                  <a:tcPr marL="91440" marR="91440" marT="45720" marB="45720">
                    <a:solidFill>
                      <a:srgbClr val="EEF3F5"/>
                    </a:solidFill>
                  </a:tcPr>
                </a:tc>
                <a:tc>
                  <a:txBody>
                    <a:bodyPr/>
                    <a:lstStyle/>
                    <a:p>
                      <a:r>
                        <a:rPr sz="1800" b="0">
                          <a:solidFill>
                            <a:srgbClr val="142C3E"/>
                          </a:solidFill>
                          <a:latin typeface="Arial"/>
                          <a:ea typeface="Arial"/>
                          <a:cs typeface="Arial"/>
                        </a:rPr>
                        <a:t>G6</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M19–21</a:t>
                      </a:r>
                    </a:p>
                  </a:txBody>
                  <a:tcPr marL="91440" marR="91440" marT="45720" marB="45720">
                    <a:solidFill>
                      <a:srgbClr val="FFFFFF"/>
                    </a:solidFill>
                  </a:tcPr>
                </a:tc>
                <a:tc>
                  <a:txBody>
                    <a:bodyPr/>
                    <a:lstStyle/>
                    <a:p>
                      <a:r>
                        <a:rPr sz="1800" b="0">
                          <a:solidFill>
                            <a:srgbClr val="142C3E"/>
                          </a:solidFill>
                          <a:latin typeface="Arial"/>
                          <a:ea typeface="Arial"/>
                          <a:cs typeface="Arial"/>
                        </a:rPr>
                        <a:t>Agent Security external pilot</a:t>
                      </a:r>
                    </a:p>
                  </a:txBody>
                  <a:tcPr marL="91440" marR="91440" marT="45720" marB="45720">
                    <a:solidFill>
                      <a:srgbClr val="FFFFFF"/>
                    </a:solidFill>
                  </a:tcPr>
                </a:tc>
                <a:tc>
                  <a:txBody>
                    <a:bodyPr/>
                    <a:lstStyle/>
                    <a:p>
                      <a:r>
                        <a:rPr sz="1800" b="0">
                          <a:solidFill>
                            <a:srgbClr val="142C3E"/>
                          </a:solidFill>
                          <a:latin typeface="Arial"/>
                          <a:ea typeface="Arial"/>
                          <a:cs typeface="Arial"/>
                        </a:rPr>
                        <a:t>G7</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M22–24</a:t>
                      </a:r>
                    </a:p>
                  </a:txBody>
                  <a:tcPr marL="91440" marR="91440" marT="45720" marB="45720">
                    <a:solidFill>
                      <a:srgbClr val="EEF3F5"/>
                    </a:solidFill>
                  </a:tcPr>
                </a:tc>
                <a:tc>
                  <a:txBody>
                    <a:bodyPr/>
                    <a:lstStyle/>
                    <a:p>
                      <a:r>
                        <a:rPr sz="1800" b="0">
                          <a:solidFill>
                            <a:srgbClr val="142C3E"/>
                          </a:solidFill>
                          <a:latin typeface="Arial"/>
                          <a:ea typeface="Arial"/>
                          <a:cs typeface="Arial"/>
                        </a:rPr>
                        <a:t>Agent Security release and portfolio integration</a:t>
                      </a:r>
                    </a:p>
                  </a:txBody>
                  <a:tcPr marL="91440" marR="91440" marT="45720" marB="45720">
                    <a:solidFill>
                      <a:srgbClr val="EEF3F5"/>
                    </a:solidFill>
                  </a:tcPr>
                </a:tc>
                <a:tc>
                  <a:txBody>
                    <a:bodyPr/>
                    <a:lstStyle/>
                    <a:p>
                      <a:r>
                        <a:rPr sz="1800" b="0">
                          <a:solidFill>
                            <a:srgbClr val="142C3E"/>
                          </a:solidFill>
                          <a:latin typeface="Arial"/>
                          <a:ea typeface="Arial"/>
                          <a:cs typeface="Arial"/>
                        </a:rPr>
                        <a:t>G8</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BECA04A2-7895-41F4-9D19-9863A7D83131}"/>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OT, federation and partnerships remain conditional on evidence and capacity.</a:t>
            </a:r>
          </a:p>
        </p:txBody>
      </p:sp>
      <p:sp>
        <p:nvSpPr>
          <p:cNvPr id="4" name="">
            <a:extLst xmlns:a="http://schemas.openxmlformats.org/drawingml/2006/main">
              <a:ext uri="{FF2B5EF4-FFF2-40B4-BE49-F238E27FC236}">
                <a16:creationId xmlns:a16="http://schemas.microsoft.com/office/drawing/2014/main" id="{29217F8B-8EA2-47C8-B1E8-9A1D9034606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38</a:t>
            </a:r>
          </a:p>
        </p:txBody>
      </p:sp>
    </p:spTree>
    <p:extLst>
      <p:ext uri="{BB962C8B-B14F-4D97-AF65-F5344CB8AC3E}">
        <p14:creationId xmlns:p14="http://schemas.microsoft.com/office/powerpoint/2010/main" val="1140425463"/>
      </p:ext>
    </p:extLst>
  </p:cSld>
</p:sld>
</file>

<file path=ppt/slides/slide3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A369099-463A-4191-BCEF-D08666178EA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First 90 days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Period</a:t>
                      </a:r>
                    </a:p>
                  </a:txBody>
                  <a:tcPr marL="91440" marR="91440" marT="45720" marB="45720">
                    <a:solidFill>
                      <a:srgbClr val="102938"/>
                    </a:solidFill>
                  </a:tcPr>
                </a:tc>
                <a:tc>
                  <a:txBody>
                    <a:bodyPr/>
                    <a:lstStyle/>
                    <a:p>
                      <a:r>
                        <a:rPr sz="1800" b="1">
                          <a:solidFill>
                            <a:srgbClr val="FFFFFF"/>
                          </a:solidFill>
                          <a:latin typeface="Arial"/>
                          <a:ea typeface="Arial"/>
                          <a:cs typeface="Arial"/>
                        </a:rPr>
                        <a:t>Delivery focus</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Weeks 1–2</a:t>
                      </a:r>
                    </a:p>
                  </a:txBody>
                  <a:tcPr marL="91440" marR="91440" marT="45720" marB="45720">
                    <a:solidFill>
                      <a:srgbClr val="FFFFFF"/>
                    </a:solidFill>
                  </a:tcPr>
                </a:tc>
                <a:tc>
                  <a:txBody>
                    <a:bodyPr/>
                    <a:lstStyle/>
                    <a:p>
                      <a:r>
                        <a:rPr sz="1800" b="0">
                          <a:solidFill>
                            <a:srgbClr val="142C3E"/>
                          </a:solidFill>
                          <a:latin typeface="Arial"/>
                          <a:ea typeface="Arial"/>
                          <a:cs typeface="Arial"/>
                        </a:rPr>
                        <a:t>Owners, discovery, content, contracts and threat model</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Weeks 3–4</a:t>
                      </a:r>
                    </a:p>
                  </a:txBody>
                  <a:tcPr marL="91440" marR="91440" marT="45720" marB="45720">
                    <a:solidFill>
                      <a:srgbClr val="EEF3F5"/>
                    </a:solidFill>
                  </a:tcPr>
                </a:tc>
                <a:tc>
                  <a:txBody>
                    <a:bodyPr/>
                    <a:lstStyle/>
                    <a:p>
                      <a:r>
                        <a:rPr sz="1800" b="0">
                          <a:solidFill>
                            <a:srgbClr val="142C3E"/>
                          </a:solidFill>
                          <a:latin typeface="Arial"/>
                          <a:ea typeface="Arial"/>
                          <a:cs typeface="Arial"/>
                        </a:rPr>
                        <a:t>Identity, deployment and a complete training slice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Weeks 5–8</a:t>
                      </a:r>
                    </a:p>
                  </a:txBody>
                  <a:tcPr marL="91440" marR="91440" marT="45720" marB="45720">
                    <a:solidFill>
                      <a:srgbClr val="FFFFFF"/>
                    </a:solidFill>
                  </a:tcPr>
                </a:tc>
                <a:tc>
                  <a:txBody>
                    <a:bodyPr/>
                    <a:lstStyle/>
                    <a:p>
                      <a:r>
                        <a:rPr sz="1800" b="0">
                          <a:solidFill>
                            <a:srgbClr val="142C3E"/>
                          </a:solidFill>
                          <a:latin typeface="Arial"/>
                          <a:ea typeface="Arial"/>
                          <a:cs typeface="Arial"/>
                        </a:rPr>
                        <a:t>Adaptation, reports, audit, monitoring and pilot programme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Weeks 9–10</a:t>
                      </a:r>
                    </a:p>
                  </a:txBody>
                  <a:tcPr marL="91440" marR="91440" marT="45720" marB="45720">
                    <a:solidFill>
                      <a:srgbClr val="EEF3F5"/>
                    </a:solidFill>
                  </a:tcPr>
                </a:tc>
                <a:tc>
                  <a:txBody>
                    <a:bodyPr/>
                    <a:lstStyle/>
                    <a:p>
                      <a:r>
                        <a:rPr sz="1800" b="0">
                          <a:solidFill>
                            <a:srgbClr val="142C3E"/>
                          </a:solidFill>
                          <a:latin typeface="Arial"/>
                          <a:ea typeface="Arial"/>
                          <a:cs typeface="Arial"/>
                        </a:rPr>
                        <a:t>Recovery, privacy, accessibility and cost model</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Weeks 11–13</a:t>
                      </a:r>
                    </a:p>
                  </a:txBody>
                  <a:tcPr marL="91440" marR="91440" marT="45720" marB="45720">
                    <a:solidFill>
                      <a:srgbClr val="FFFFFF"/>
                    </a:solidFill>
                  </a:tcPr>
                </a:tc>
                <a:tc>
                  <a:txBody>
                    <a:bodyPr/>
                    <a:lstStyle/>
                    <a:p>
                      <a:r>
                        <a:rPr sz="1800" b="0">
                          <a:solidFill>
                            <a:srgbClr val="142C3E"/>
                          </a:solidFill>
                          <a:latin typeface="Arial"/>
                          <a:ea typeface="Arial"/>
                          <a:cs typeface="Arial"/>
                        </a:rPr>
                        <a:t>Pilot release review and Operations preparation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115BE963-8AD3-45B7-93DE-E435AF400352}"/>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39</a:t>
            </a:r>
          </a:p>
        </p:txBody>
      </p:sp>
    </p:spTree>
    <p:extLst>
      <p:ext uri="{BB962C8B-B14F-4D97-AF65-F5344CB8AC3E}">
        <p14:creationId xmlns:p14="http://schemas.microsoft.com/office/powerpoint/2010/main" val="1453542892"/>
      </p:ext>
    </p:extLst>
  </p:cSld>
</p:sld>
</file>

<file path=ppt/slides/slide4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6F6E6A8-8168-426C-8F79-26E66C4413C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Shared implementation dependencies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Foundation task</a:t>
                      </a:r>
                    </a:p>
                  </a:txBody>
                  <a:tcPr marL="91440" marR="91440" marT="45720" marB="45720">
                    <a:solidFill>
                      <a:srgbClr val="102938"/>
                    </a:solidFill>
                  </a:tcPr>
                </a:tc>
                <a:tc>
                  <a:txBody>
                    <a:bodyPr/>
                    <a:lstStyle/>
                    <a:p>
                      <a:r>
                        <a:rPr sz="1800" b="1">
                          <a:solidFill>
                            <a:srgbClr val="FFFFFF"/>
                          </a:solidFill>
                          <a:latin typeface="Arial"/>
                          <a:ea typeface="Arial"/>
                          <a:cs typeface="Arial"/>
                        </a:rPr>
                        <a:t>Product dependency</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CORE-01 / CORE-02</a:t>
                      </a:r>
                    </a:p>
                  </a:txBody>
                  <a:tcPr marL="91440" marR="91440" marT="45720" marB="45720">
                    <a:solidFill>
                      <a:srgbClr val="FFFFFF"/>
                    </a:solidFill>
                  </a:tcPr>
                </a:tc>
                <a:tc>
                  <a:txBody>
                    <a:bodyPr/>
                    <a:lstStyle/>
                    <a:p>
                      <a:r>
                        <a:rPr sz="1800" b="0">
                          <a:solidFill>
                            <a:srgbClr val="142C3E"/>
                          </a:solidFill>
                          <a:latin typeface="Arial"/>
                          <a:ea typeface="Arial"/>
                          <a:cs typeface="Arial"/>
                        </a:rPr>
                        <a:t>Identity, isolation, schemas and evidence before customer data</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CORE-03 / CORE-05</a:t>
                      </a:r>
                    </a:p>
                  </a:txBody>
                  <a:tcPr marL="91440" marR="91440" marT="45720" marB="45720">
                    <a:solidFill>
                      <a:srgbClr val="EEF3F5"/>
                    </a:solidFill>
                  </a:tcPr>
                </a:tc>
                <a:tc>
                  <a:txBody>
                    <a:bodyPr/>
                    <a:lstStyle/>
                    <a:p>
                      <a:r>
                        <a:rPr sz="1800" b="0">
                          <a:solidFill>
                            <a:srgbClr val="142C3E"/>
                          </a:solidFill>
                          <a:latin typeface="Arial"/>
                          <a:ea typeface="Arial"/>
                          <a:cs typeface="Arial"/>
                        </a:rPr>
                        <a:t>Repeatable deployment, monitoring and recovery before release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CORE-04</a:t>
                      </a:r>
                    </a:p>
                  </a:txBody>
                  <a:tcPr marL="91440" marR="91440" marT="45720" marB="45720">
                    <a:solidFill>
                      <a:srgbClr val="FFFFFF"/>
                    </a:solidFill>
                  </a:tcPr>
                </a:tc>
                <a:tc>
                  <a:txBody>
                    <a:bodyPr/>
                    <a:lstStyle/>
                    <a:p>
                      <a:r>
                        <a:rPr sz="1800" b="0">
                          <a:solidFill>
                            <a:srgbClr val="142C3E"/>
                          </a:solidFill>
                          <a:latin typeface="Arial"/>
                          <a:ea typeface="Arial"/>
                          <a:cs typeface="Arial"/>
                        </a:rPr>
                        <a:t>Audit and bound approvals before consequential actions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CORE-06 / AG-01</a:t>
                      </a:r>
                    </a:p>
                  </a:txBody>
                  <a:tcPr marL="91440" marR="91440" marT="45720" marB="45720">
                    <a:solidFill>
                      <a:srgbClr val="EEF3F5"/>
                    </a:solidFill>
                  </a:tcPr>
                </a:tc>
                <a:tc>
                  <a:txBody>
                    <a:bodyPr/>
                    <a:lstStyle/>
                    <a:p>
                      <a:r>
                        <a:rPr sz="1800" b="0">
                          <a:solidFill>
                            <a:srgbClr val="142C3E"/>
                          </a:solidFill>
                          <a:latin typeface="Arial"/>
                          <a:ea typeface="Arial"/>
                          <a:cs typeface="Arial"/>
                        </a:rPr>
                        <a:t>Optional connectivity and internal agent experiments stay bounded</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67205DA2-5684-44C3-A7F6-FDBC39EDB16D}"/>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40</a:t>
            </a:r>
          </a:p>
        </p:txBody>
      </p:sp>
    </p:spTree>
    <p:extLst>
      <p:ext uri="{BB962C8B-B14F-4D97-AF65-F5344CB8AC3E}">
        <p14:creationId xmlns:p14="http://schemas.microsoft.com/office/powerpoint/2010/main" val="517676822"/>
      </p:ext>
    </p:extLst>
  </p:cSld>
</p:sld>
</file>

<file path=ppt/slides/slide4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732ACC1-A665-4A41-A749-0C58CB9FC62C}"/>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Team capacity and responsibilities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Role / allocation</a:t>
                      </a:r>
                    </a:p>
                  </a:txBody>
                  <a:tcPr marL="91440" marR="91440" marT="45720" marB="45720">
                    <a:solidFill>
                      <a:srgbClr val="102938"/>
                    </a:solidFill>
                  </a:tcPr>
                </a:tc>
                <a:tc>
                  <a:txBody>
                    <a:bodyPr/>
                    <a:lstStyle/>
                    <a:p>
                      <a:r>
                        <a:rPr sz="1800" b="1">
                          <a:solidFill>
                            <a:srgbClr val="FFFFFF"/>
                          </a:solidFill>
                          <a:latin typeface="Arial"/>
                          <a:ea typeface="Arial"/>
                          <a:cs typeface="Arial"/>
                        </a:rPr>
                        <a:t>Responsibility</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Product Lead</a:t>
                      </a:r>
                    </a:p>
                  </a:txBody>
                  <a:tcPr marL="91440" marR="91440" marT="45720" marB="45720">
                    <a:solidFill>
                      <a:srgbClr val="FFFFFF"/>
                    </a:solidFill>
                  </a:tcPr>
                </a:tc>
                <a:tc>
                  <a:txBody>
                    <a:bodyPr/>
                    <a:lstStyle/>
                    <a:p>
                      <a:r>
                        <a:rPr sz="1800" b="0">
                          <a:solidFill>
                            <a:srgbClr val="142C3E"/>
                          </a:solidFill>
                          <a:latin typeface="Arial"/>
                          <a:ea typeface="Arial"/>
                          <a:cs typeface="Arial"/>
                        </a:rPr>
                        <a:t>Customers, scope, packaging and portfolio decisions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Platform/Security Lead</a:t>
                      </a:r>
                    </a:p>
                  </a:txBody>
                  <a:tcPr marL="91440" marR="91440" marT="45720" marB="45720">
                    <a:solidFill>
                      <a:srgbClr val="EEF3F5"/>
                    </a:solidFill>
                  </a:tcPr>
                </a:tc>
                <a:tc>
                  <a:txBody>
                    <a:bodyPr/>
                    <a:lstStyle/>
                    <a:p>
                      <a:r>
                        <a:rPr sz="1800" b="0">
                          <a:solidFill>
                            <a:srgbClr val="142C3E"/>
                          </a:solidFill>
                          <a:latin typeface="Arial"/>
                          <a:ea typeface="Arial"/>
                          <a:cs typeface="Arial"/>
                        </a:rPr>
                        <a:t>Architecture, operations and technical release approval</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Application Engineer</a:t>
                      </a:r>
                    </a:p>
                  </a:txBody>
                  <a:tcPr marL="91440" marR="91440" marT="45720" marB="45720">
                    <a:solidFill>
                      <a:srgbClr val="FFFFFF"/>
                    </a:solidFill>
                  </a:tcPr>
                </a:tc>
                <a:tc>
                  <a:txBody>
                    <a:bodyPr/>
                    <a:lstStyle/>
                    <a:p>
                      <a:r>
                        <a:rPr sz="1800" b="0">
                          <a:solidFill>
                            <a:srgbClr val="142C3E"/>
                          </a:solidFill>
                          <a:latin typeface="Arial"/>
                          <a:ea typeface="Arial"/>
                          <a:cs typeface="Arial"/>
                        </a:rPr>
                        <a:t>Product journeys, UI and supported integrations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Research Lead</a:t>
                      </a:r>
                    </a:p>
                  </a:txBody>
                  <a:tcPr marL="91440" marR="91440" marT="45720" marB="45720">
                    <a:solidFill>
                      <a:srgbClr val="EEF3F5"/>
                    </a:solidFill>
                  </a:tcPr>
                </a:tc>
                <a:tc>
                  <a:txBody>
                    <a:bodyPr/>
                    <a:lstStyle/>
                    <a:p>
                      <a:r>
                        <a:rPr sz="1800" b="0">
                          <a:solidFill>
                            <a:srgbClr val="142C3E"/>
                          </a:solidFill>
                          <a:latin typeface="Arial"/>
                          <a:ea typeface="Arial"/>
                          <a:cs typeface="Arial"/>
                        </a:rPr>
                        <a:t>Methods, experiments and scientific claims</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FA5BAAB5-E03B-4C5A-9988-BB1635CEEAD9}"/>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Three-FTE planning baseline: 60% product, 20% research/discovery, 20% support. People may hold multiple roles.</a:t>
            </a:r>
          </a:p>
        </p:txBody>
      </p:sp>
      <p:sp>
        <p:nvSpPr>
          <p:cNvPr id="4" name="">
            <a:extLst xmlns:a="http://schemas.openxmlformats.org/drawingml/2006/main">
              <a:ext uri="{FF2B5EF4-FFF2-40B4-BE49-F238E27FC236}">
                <a16:creationId xmlns:a16="http://schemas.microsoft.com/office/drawing/2014/main" id="{C5C34F41-8BE8-49CB-9D04-D1E2587521D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41</a:t>
            </a:r>
          </a:p>
        </p:txBody>
      </p:sp>
    </p:spTree>
    <p:extLst>
      <p:ext uri="{BB962C8B-B14F-4D97-AF65-F5344CB8AC3E}">
        <p14:creationId xmlns:p14="http://schemas.microsoft.com/office/powerpoint/2010/main" val="903346938"/>
      </p:ext>
    </p:extLst>
  </p:cSld>
</p:sld>
</file>

<file path=ppt/slides/slide4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ACC0380-985F-44DA-B34A-07943EF1565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Work packages 1–5</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762375"/>
                <a:gridCol w="2190750"/>
                <a:gridCol w="4867275"/>
              </a:tblGrid>
              <a:tr h="476250">
                <a:tc>
                  <a:txBody>
                    <a:bodyPr/>
                    <a:lstStyle/>
                    <a:p>
                      <a:r>
                        <a:rPr sz="1800" b="1">
                          <a:solidFill>
                            <a:srgbClr val="FFFFFF"/>
                          </a:solidFill>
                          <a:latin typeface="Arial"/>
                          <a:ea typeface="Arial"/>
                          <a:cs typeface="Arial"/>
                        </a:rPr>
                        <a:t>Work package</a:t>
                      </a:r>
                    </a:p>
                  </a:txBody>
                  <a:tcPr marL="91440" marR="91440" marT="45720" marB="45720">
                    <a:solidFill>
                      <a:srgbClr val="102938"/>
                    </a:solidFill>
                  </a:tcPr>
                </a:tc>
                <a:tc>
                  <a:txBody>
                    <a:bodyPr/>
                    <a:lstStyle/>
                    <a:p>
                      <a:r>
                        <a:rPr sz="1800" b="1">
                          <a:solidFill>
                            <a:srgbClr val="FFFFFF"/>
                          </a:solidFill>
                          <a:latin typeface="Arial"/>
                          <a:ea typeface="Arial"/>
                          <a:cs typeface="Arial"/>
                        </a:rPr>
                        <a:t>Owner</a:t>
                      </a:r>
                    </a:p>
                  </a:txBody>
                  <a:tcPr marL="91440" marR="91440" marT="45720" marB="45720">
                    <a:solidFill>
                      <a:srgbClr val="102938"/>
                    </a:solidFill>
                  </a:tcPr>
                </a:tc>
                <a:tc>
                  <a:txBody>
                    <a:bodyPr/>
                    <a:lstStyle/>
                    <a:p>
                      <a:r>
                        <a:rPr sz="1800" b="1">
                          <a:solidFill>
                            <a:srgbClr val="FFFFFF"/>
                          </a:solidFill>
                          <a:latin typeface="Arial"/>
                          <a:ea typeface="Arial"/>
                          <a:cs typeface="Arial"/>
                        </a:rPr>
                        <a:t>Deliverable</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WP1  AI experiments</a:t>
                      </a:r>
                    </a:p>
                  </a:txBody>
                  <a:tcPr marL="91440" marR="91440" marT="45720" marB="45720">
                    <a:solidFill>
                      <a:srgbClr val="FFFFFF"/>
                    </a:solidFill>
                  </a:tcPr>
                </a:tc>
                <a:tc>
                  <a:txBody>
                    <a:bodyPr/>
                    <a:lstStyle/>
                    <a:p>
                      <a:r>
                        <a:rPr sz="1800" b="0">
                          <a:solidFill>
                            <a:srgbClr val="142C3E"/>
                          </a:solidFill>
                          <a:latin typeface="Arial"/>
                          <a:ea typeface="Arial"/>
                          <a:cs typeface="Arial"/>
                        </a:rPr>
                        <a:t>Research</a:t>
                      </a:r>
                    </a:p>
                  </a:txBody>
                  <a:tcPr marL="91440" marR="91440" marT="45720" marB="45720">
                    <a:solidFill>
                      <a:srgbClr val="FFFFFF"/>
                    </a:solidFill>
                  </a:tcPr>
                </a:tc>
                <a:tc>
                  <a:txBody>
                    <a:bodyPr/>
                    <a:lstStyle/>
                    <a:p>
                      <a:r>
                        <a:rPr sz="1800" b="0">
                          <a:solidFill>
                            <a:srgbClr val="142C3E"/>
                          </a:solidFill>
                          <a:latin typeface="Arial"/>
                          <a:ea typeface="Arial"/>
                          <a:cs typeface="Arial"/>
                        </a:rPr>
                        <a:t>Protocols and promotion evidence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WP2  Data model</a:t>
                      </a:r>
                    </a:p>
                  </a:txBody>
                  <a:tcPr marL="91440" marR="91440" marT="45720" marB="45720">
                    <a:solidFill>
                      <a:srgbClr val="EEF3F5"/>
                    </a:solidFill>
                  </a:tcPr>
                </a:tc>
                <a:tc>
                  <a:txBody>
                    <a:bodyPr/>
                    <a:lstStyle/>
                    <a:p>
                      <a:r>
                        <a:rPr sz="1800" b="0">
                          <a:solidFill>
                            <a:srgbClr val="142C3E"/>
                          </a:solidFill>
                          <a:latin typeface="Arial"/>
                          <a:ea typeface="Arial"/>
                          <a:cs typeface="Arial"/>
                        </a:rPr>
                        <a:t>Platform / Research</a:t>
                      </a:r>
                    </a:p>
                  </a:txBody>
                  <a:tcPr marL="91440" marR="91440" marT="45720" marB="45720">
                    <a:solidFill>
                      <a:srgbClr val="EEF3F5"/>
                    </a:solidFill>
                  </a:tcPr>
                </a:tc>
                <a:tc>
                  <a:txBody>
                    <a:bodyPr/>
                    <a:lstStyle/>
                    <a:p>
                      <a:r>
                        <a:rPr sz="1800" b="0">
                          <a:solidFill>
                            <a:srgbClr val="142C3E"/>
                          </a:solidFill>
                          <a:latin typeface="Arial"/>
                          <a:ea typeface="Arial"/>
                          <a:cs typeface="Arial"/>
                        </a:rPr>
                        <a:t>Schemas, provenance and boundaries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WP3  Gamification / UX</a:t>
                      </a:r>
                    </a:p>
                  </a:txBody>
                  <a:tcPr marL="91440" marR="91440" marT="45720" marB="45720">
                    <a:solidFill>
                      <a:srgbClr val="FFFFFF"/>
                    </a:solidFill>
                  </a:tcPr>
                </a:tc>
                <a:tc>
                  <a:txBody>
                    <a:bodyPr/>
                    <a:lstStyle/>
                    <a:p>
                      <a:r>
                        <a:rPr sz="1800" b="0">
                          <a:solidFill>
                            <a:srgbClr val="142C3E"/>
                          </a:solidFill>
                          <a:latin typeface="Arial"/>
                          <a:ea typeface="Arial"/>
                          <a:cs typeface="Arial"/>
                        </a:rPr>
                        <a:t>Application</a:t>
                      </a:r>
                    </a:p>
                  </a:txBody>
                  <a:tcPr marL="91440" marR="91440" marT="45720" marB="45720">
                    <a:solidFill>
                      <a:srgbClr val="FFFFFF"/>
                    </a:solidFill>
                  </a:tcPr>
                </a:tc>
                <a:tc>
                  <a:txBody>
                    <a:bodyPr/>
                    <a:lstStyle/>
                    <a:p>
                      <a:r>
                        <a:rPr sz="1800" b="0">
                          <a:solidFill>
                            <a:srgbClr val="142C3E"/>
                          </a:solidFill>
                          <a:latin typeface="Arial"/>
                          <a:ea typeface="Arial"/>
                          <a:cs typeface="Arial"/>
                        </a:rPr>
                        <a:t>Training release and design system</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WP4  Edge infrastructure</a:t>
                      </a:r>
                    </a:p>
                  </a:txBody>
                  <a:tcPr marL="91440" marR="91440" marT="45720" marB="45720">
                    <a:solidFill>
                      <a:srgbClr val="EEF3F5"/>
                    </a:solidFill>
                  </a:tcPr>
                </a:tc>
                <a:tc>
                  <a:txBody>
                    <a:bodyPr/>
                    <a:lstStyle/>
                    <a:p>
                      <a:r>
                        <a:rPr sz="1800" b="0">
                          <a:solidFill>
                            <a:srgbClr val="142C3E"/>
                          </a:solidFill>
                          <a:latin typeface="Arial"/>
                          <a:ea typeface="Arial"/>
                          <a:cs typeface="Arial"/>
                        </a:rPr>
                        <a:t>Platform</a:t>
                      </a:r>
                    </a:p>
                  </a:txBody>
                  <a:tcPr marL="91440" marR="91440" marT="45720" marB="45720">
                    <a:solidFill>
                      <a:srgbClr val="EEF3F5"/>
                    </a:solidFill>
                  </a:tcPr>
                </a:tc>
                <a:tc>
                  <a:txBody>
                    <a:bodyPr/>
                    <a:lstStyle/>
                    <a:p>
                      <a:r>
                        <a:rPr sz="1800" b="0">
                          <a:solidFill>
                            <a:srgbClr val="142C3E"/>
                          </a:solidFill>
                          <a:latin typeface="Arial"/>
                          <a:ea typeface="Arial"/>
                          <a:cs typeface="Arial"/>
                        </a:rPr>
                        <a:t>Collectors, local AI and appliance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WP5  Governance</a:t>
                      </a:r>
                    </a:p>
                  </a:txBody>
                  <a:tcPr marL="91440" marR="91440" marT="45720" marB="45720">
                    <a:solidFill>
                      <a:srgbClr val="FFFFFF"/>
                    </a:solidFill>
                  </a:tcPr>
                </a:tc>
                <a:tc>
                  <a:txBody>
                    <a:bodyPr/>
                    <a:lstStyle/>
                    <a:p>
                      <a:r>
                        <a:rPr sz="1800" b="0">
                          <a:solidFill>
                            <a:srgbClr val="142C3E"/>
                          </a:solidFill>
                          <a:latin typeface="Arial"/>
                          <a:ea typeface="Arial"/>
                          <a:cs typeface="Arial"/>
                        </a:rPr>
                        <a:t>Product / Security</a:t>
                      </a:r>
                    </a:p>
                  </a:txBody>
                  <a:tcPr marL="91440" marR="91440" marT="45720" marB="45720">
                    <a:solidFill>
                      <a:srgbClr val="FFFFFF"/>
                    </a:solidFill>
                  </a:tcPr>
                </a:tc>
                <a:tc>
                  <a:txBody>
                    <a:bodyPr/>
                    <a:lstStyle/>
                    <a:p>
                      <a:r>
                        <a:rPr sz="1800" b="0">
                          <a:solidFill>
                            <a:srgbClr val="142C3E"/>
                          </a:solidFill>
                          <a:latin typeface="Arial"/>
                          <a:ea typeface="Arial"/>
                          <a:cs typeface="Arial"/>
                        </a:rPr>
                        <a:t>Applicability and oversight records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5A729BC4-E987-4A1D-BCCE-703B7A794504}"/>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42</a:t>
            </a:r>
          </a:p>
        </p:txBody>
      </p:sp>
    </p:spTree>
    <p:extLst>
      <p:ext uri="{BB962C8B-B14F-4D97-AF65-F5344CB8AC3E}">
        <p14:creationId xmlns:p14="http://schemas.microsoft.com/office/powerpoint/2010/main" val="494043244"/>
      </p:ext>
    </p:extLst>
  </p:cSld>
</p:sld>
</file>

<file path=ppt/slides/slide4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D505A25-694B-4FAA-817B-88FDD5E0CBC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Work packages 6–10</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762375"/>
                <a:gridCol w="2190750"/>
                <a:gridCol w="4867275"/>
              </a:tblGrid>
              <a:tr h="476250">
                <a:tc>
                  <a:txBody>
                    <a:bodyPr/>
                    <a:lstStyle/>
                    <a:p>
                      <a:r>
                        <a:rPr sz="1800" b="1">
                          <a:solidFill>
                            <a:srgbClr val="FFFFFF"/>
                          </a:solidFill>
                          <a:latin typeface="Arial"/>
                          <a:ea typeface="Arial"/>
                          <a:cs typeface="Arial"/>
                        </a:rPr>
                        <a:t>Work package</a:t>
                      </a:r>
                    </a:p>
                  </a:txBody>
                  <a:tcPr marL="91440" marR="91440" marT="45720" marB="45720">
                    <a:solidFill>
                      <a:srgbClr val="102938"/>
                    </a:solidFill>
                  </a:tcPr>
                </a:tc>
                <a:tc>
                  <a:txBody>
                    <a:bodyPr/>
                    <a:lstStyle/>
                    <a:p>
                      <a:r>
                        <a:rPr sz="1800" b="1">
                          <a:solidFill>
                            <a:srgbClr val="FFFFFF"/>
                          </a:solidFill>
                          <a:latin typeface="Arial"/>
                          <a:ea typeface="Arial"/>
                          <a:cs typeface="Arial"/>
                        </a:rPr>
                        <a:t>Owner</a:t>
                      </a:r>
                    </a:p>
                  </a:txBody>
                  <a:tcPr marL="91440" marR="91440" marT="45720" marB="45720">
                    <a:solidFill>
                      <a:srgbClr val="102938"/>
                    </a:solidFill>
                  </a:tcPr>
                </a:tc>
                <a:tc>
                  <a:txBody>
                    <a:bodyPr/>
                    <a:lstStyle/>
                    <a:p>
                      <a:r>
                        <a:rPr sz="1800" b="1">
                          <a:solidFill>
                            <a:srgbClr val="FFFFFF"/>
                          </a:solidFill>
                          <a:latin typeface="Arial"/>
                          <a:ea typeface="Arial"/>
                          <a:cs typeface="Arial"/>
                        </a:rPr>
                        <a:t>Deliverable</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WP6  SME integration</a:t>
                      </a:r>
                    </a:p>
                  </a:txBody>
                  <a:tcPr marL="91440" marR="91440" marT="45720" marB="45720">
                    <a:solidFill>
                      <a:srgbClr val="FFFFFF"/>
                    </a:solidFill>
                  </a:tcPr>
                </a:tc>
                <a:tc>
                  <a:txBody>
                    <a:bodyPr/>
                    <a:lstStyle/>
                    <a:p>
                      <a:r>
                        <a:rPr sz="1800" b="0">
                          <a:solidFill>
                            <a:srgbClr val="142C3E"/>
                          </a:solidFill>
                          <a:latin typeface="Arial"/>
                          <a:ea typeface="Arial"/>
                          <a:cs typeface="Arial"/>
                        </a:rPr>
                        <a:t>Product / Application</a:t>
                      </a:r>
                    </a:p>
                  </a:txBody>
                  <a:tcPr marL="91440" marR="91440" marT="45720" marB="45720">
                    <a:solidFill>
                      <a:srgbClr val="FFFFFF"/>
                    </a:solidFill>
                  </a:tcPr>
                </a:tc>
                <a:tc>
                  <a:txBody>
                    <a:bodyPr/>
                    <a:lstStyle/>
                    <a:p>
                      <a:r>
                        <a:rPr sz="1800" b="0">
                          <a:solidFill>
                            <a:srgbClr val="142C3E"/>
                          </a:solidFill>
                          <a:latin typeface="Arial"/>
                          <a:ea typeface="Arial"/>
                          <a:cs typeface="Arial"/>
                        </a:rPr>
                        <a:t>Onboarding and connectors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WP7  Data lifecycle</a:t>
                      </a:r>
                    </a:p>
                  </a:txBody>
                  <a:tcPr marL="91440" marR="91440" marT="45720" marB="45720">
                    <a:solidFill>
                      <a:srgbClr val="EEF3F5"/>
                    </a:solidFill>
                  </a:tcPr>
                </a:tc>
                <a:tc>
                  <a:txBody>
                    <a:bodyPr/>
                    <a:lstStyle/>
                    <a:p>
                      <a:r>
                        <a:rPr sz="1800" b="0">
                          <a:solidFill>
                            <a:srgbClr val="142C3E"/>
                          </a:solidFill>
                          <a:latin typeface="Arial"/>
                          <a:ea typeface="Arial"/>
                          <a:cs typeface="Arial"/>
                        </a:rPr>
                        <a:t>Platform</a:t>
                      </a:r>
                    </a:p>
                  </a:txBody>
                  <a:tcPr marL="91440" marR="91440" marT="45720" marB="45720">
                    <a:solidFill>
                      <a:srgbClr val="EEF3F5"/>
                    </a:solidFill>
                  </a:tcPr>
                </a:tc>
                <a:tc>
                  <a:txBody>
                    <a:bodyPr/>
                    <a:lstStyle/>
                    <a:p>
                      <a:r>
                        <a:rPr sz="1800" b="0">
                          <a:solidFill>
                            <a:srgbClr val="142C3E"/>
                          </a:solidFill>
                          <a:latin typeface="Arial"/>
                          <a:ea typeface="Arial"/>
                          <a:cs typeface="Arial"/>
                        </a:rPr>
                        <a:t>Quality, retention and rights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WP8  Commercialisation</a:t>
                      </a:r>
                    </a:p>
                  </a:txBody>
                  <a:tcPr marL="91440" marR="91440" marT="45720" marB="45720">
                    <a:solidFill>
                      <a:srgbClr val="FFFFFF"/>
                    </a:solidFill>
                  </a:tcPr>
                </a:tc>
                <a:tc>
                  <a:txBody>
                    <a:bodyPr/>
                    <a:lstStyle/>
                    <a:p>
                      <a:r>
                        <a:rPr sz="1800" b="0">
                          <a:solidFill>
                            <a:srgbClr val="142C3E"/>
                          </a:solidFill>
                          <a:latin typeface="Arial"/>
                          <a:ea typeface="Arial"/>
                          <a:cs typeface="Arial"/>
                        </a:rPr>
                        <a:t>Product</a:t>
                      </a:r>
                    </a:p>
                  </a:txBody>
                  <a:tcPr marL="91440" marR="91440" marT="45720" marB="45720">
                    <a:solidFill>
                      <a:srgbClr val="FFFFFF"/>
                    </a:solidFill>
                  </a:tcPr>
                </a:tc>
                <a:tc>
                  <a:txBody>
                    <a:bodyPr/>
                    <a:lstStyle/>
                    <a:p>
                      <a:r>
                        <a:rPr sz="1800" b="0">
                          <a:solidFill>
                            <a:srgbClr val="142C3E"/>
                          </a:solidFill>
                          <a:latin typeface="Arial"/>
                          <a:ea typeface="Arial"/>
                          <a:cs typeface="Arial"/>
                        </a:rPr>
                        <a:t>Packaging and pilot economics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WP9  Reliability</a:t>
                      </a:r>
                    </a:p>
                  </a:txBody>
                  <a:tcPr marL="91440" marR="91440" marT="45720" marB="45720">
                    <a:solidFill>
                      <a:srgbClr val="EEF3F5"/>
                    </a:solidFill>
                  </a:tcPr>
                </a:tc>
                <a:tc>
                  <a:txBody>
                    <a:bodyPr/>
                    <a:lstStyle/>
                    <a:p>
                      <a:r>
                        <a:rPr sz="1800" b="0">
                          <a:solidFill>
                            <a:srgbClr val="142C3E"/>
                          </a:solidFill>
                          <a:latin typeface="Arial"/>
                          <a:ea typeface="Arial"/>
                          <a:cs typeface="Arial"/>
                        </a:rPr>
                        <a:t>Platform</a:t>
                      </a:r>
                    </a:p>
                  </a:txBody>
                  <a:tcPr marL="91440" marR="91440" marT="45720" marB="45720">
                    <a:solidFill>
                      <a:srgbClr val="EEF3F5"/>
                    </a:solidFill>
                  </a:tcPr>
                </a:tc>
                <a:tc>
                  <a:txBody>
                    <a:bodyPr/>
                    <a:lstStyle/>
                    <a:p>
                      <a:r>
                        <a:rPr sz="1800" b="0">
                          <a:solidFill>
                            <a:srgbClr val="142C3E"/>
                          </a:solidFill>
                          <a:latin typeface="Arial"/>
                          <a:ea typeface="Arial"/>
                          <a:cs typeface="Arial"/>
                        </a:rPr>
                        <a:t>CI/CD, recovery and operations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WP10  Release assurance</a:t>
                      </a:r>
                    </a:p>
                  </a:txBody>
                  <a:tcPr marL="91440" marR="91440" marT="45720" marB="45720">
                    <a:solidFill>
                      <a:srgbClr val="FFFFFF"/>
                    </a:solidFill>
                  </a:tcPr>
                </a:tc>
                <a:tc>
                  <a:txBody>
                    <a:bodyPr/>
                    <a:lstStyle/>
                    <a:p>
                      <a:r>
                        <a:rPr sz="1800" b="0">
                          <a:solidFill>
                            <a:srgbClr val="142C3E"/>
                          </a:solidFill>
                          <a:latin typeface="Arial"/>
                          <a:ea typeface="Arial"/>
                          <a:cs typeface="Arial"/>
                        </a:rPr>
                        <a:t>Security / reviewer</a:t>
                      </a:r>
                    </a:p>
                  </a:txBody>
                  <a:tcPr marL="91440" marR="91440" marT="45720" marB="45720">
                    <a:solidFill>
                      <a:srgbClr val="FFFFFF"/>
                    </a:solidFill>
                  </a:tcPr>
                </a:tc>
                <a:tc>
                  <a:txBody>
                    <a:bodyPr/>
                    <a:lstStyle/>
                    <a:p>
                      <a:r>
                        <a:rPr sz="1800" b="0">
                          <a:solidFill>
                            <a:srgbClr val="142C3E"/>
                          </a:solidFill>
                          <a:latin typeface="Arial"/>
                          <a:ea typeface="Arial"/>
                          <a:cs typeface="Arial"/>
                        </a:rPr>
                        <a:t>Tests, assessment and gate record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B645599F-13C9-4D42-9CED-1BB647958FFD}"/>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43</a:t>
            </a:r>
          </a:p>
        </p:txBody>
      </p:sp>
    </p:spTree>
    <p:extLst>
      <p:ext uri="{BB962C8B-B14F-4D97-AF65-F5344CB8AC3E}">
        <p14:creationId xmlns:p14="http://schemas.microsoft.com/office/powerpoint/2010/main" val="517403244"/>
      </p:ext>
    </p:extLst>
  </p:cSld>
</p:sld>
</file>

<file path=ppt/slides/slide44.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819A407-4C7A-40DE-865F-6C2E9022ECE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Market validation</a:t>
            </a:r>
          </a:p>
        </p:txBody>
      </p:sp>
      <p:sp>
        <p:nvSpPr>
          <p:cNvPr id="2" name="">
            <a:extLst xmlns:a="http://schemas.openxmlformats.org/drawingml/2006/main">
              <a:ext uri="{FF2B5EF4-FFF2-40B4-BE49-F238E27FC236}">
                <a16:creationId xmlns:a16="http://schemas.microsoft.com/office/drawing/2014/main" id="{F4AB3096-A491-477A-8B34-98D21E697C76}"/>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Initial discovery</a:t>
            </a:r>
          </a:p>
        </p:txBody>
      </p:sp>
      <p:sp>
        <p:nvSpPr>
          <p:cNvPr id="3" name="">
            <a:extLst xmlns:a="http://schemas.openxmlformats.org/drawingml/2006/main">
              <a:ext uri="{FF2B5EF4-FFF2-40B4-BE49-F238E27FC236}">
                <a16:creationId xmlns:a16="http://schemas.microsoft.com/office/drawing/2014/main" id="{C69F55AE-2153-4A12-9D36-B6F59B6C9D51}"/>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Ten interviews with buyers and operators across target Portuguese SMEs.</a:t>
            </a:r>
          </a:p>
        </p:txBody>
      </p:sp>
      <p:sp>
        <p:nvSpPr>
          <p:cNvPr id="4" name="">
            <a:extLst xmlns:a="http://schemas.openxmlformats.org/drawingml/2006/main">
              <a:ext uri="{FF2B5EF4-FFF2-40B4-BE49-F238E27FC236}">
                <a16:creationId xmlns:a16="http://schemas.microsoft.com/office/drawing/2014/main" id="{BEBD867F-5F24-41A7-A76B-67233D0C3D4B}"/>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Pilot objective</a:t>
            </a:r>
          </a:p>
        </p:txBody>
      </p:sp>
      <p:sp>
        <p:nvSpPr>
          <p:cNvPr id="5" name="">
            <a:extLst xmlns:a="http://schemas.openxmlformats.org/drawingml/2006/main">
              <a:ext uri="{FF2B5EF4-FFF2-40B4-BE49-F238E27FC236}">
                <a16:creationId xmlns:a16="http://schemas.microsoft.com/office/drawing/2014/main" id="{C6322935-BFF0-4FC1-ABCB-858ECD93CED0}"/>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Recruit 3–5 paid training pilots after technical and privacy readiness.</a:t>
            </a:r>
          </a:p>
        </p:txBody>
      </p:sp>
      <p:sp>
        <p:nvSpPr>
          <p:cNvPr id="6" name="">
            <a:extLst xmlns:a="http://schemas.openxmlformats.org/drawingml/2006/main">
              <a:ext uri="{FF2B5EF4-FFF2-40B4-BE49-F238E27FC236}">
                <a16:creationId xmlns:a16="http://schemas.microsoft.com/office/drawing/2014/main" id="{FDE6A25E-60A2-4897-A65E-296DBA30A034}"/>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Later products</a:t>
            </a:r>
          </a:p>
        </p:txBody>
      </p:sp>
      <p:sp>
        <p:nvSpPr>
          <p:cNvPr id="7" name="">
            <a:extLst xmlns:a="http://schemas.openxmlformats.org/drawingml/2006/main">
              <a:ext uri="{FF2B5EF4-FFF2-40B4-BE49-F238E27FC236}">
                <a16:creationId xmlns:a16="http://schemas.microsoft.com/office/drawing/2014/main" id="{605AF48F-E8ED-43FF-9092-D3DE927587A0}"/>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Interview at least five relevant buyers/operators before each new product.</a:t>
            </a:r>
          </a:p>
        </p:txBody>
      </p:sp>
      <p:sp>
        <p:nvSpPr>
          <p:cNvPr id="8" name="">
            <a:extLst xmlns:a="http://schemas.openxmlformats.org/drawingml/2006/main">
              <a:ext uri="{FF2B5EF4-FFF2-40B4-BE49-F238E27FC236}">
                <a16:creationId xmlns:a16="http://schemas.microsoft.com/office/drawing/2014/main" id="{CE06CADF-2BB8-4E11-B951-6E0C76C7B3DF}"/>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Commercial checkpoints</a:t>
            </a:r>
          </a:p>
        </p:txBody>
      </p:sp>
      <p:sp>
        <p:nvSpPr>
          <p:cNvPr id="9" name="">
            <a:extLst xmlns:a="http://schemas.openxmlformats.org/drawingml/2006/main">
              <a:ext uri="{FF2B5EF4-FFF2-40B4-BE49-F238E27FC236}">
                <a16:creationId xmlns:a16="http://schemas.microsoft.com/office/drawing/2014/main" id="{BB2255AA-0117-47AB-8372-70B28BBC1AE9}"/>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Assess renewal, support effort, cost and willingness to pay before expansion.</a:t>
            </a:r>
          </a:p>
        </p:txBody>
      </p:sp>
      <p:sp>
        <p:nvSpPr>
          <p:cNvPr id="10" name="">
            <a:extLst xmlns:a="http://schemas.openxmlformats.org/drawingml/2006/main">
              <a:ext uri="{FF2B5EF4-FFF2-40B4-BE49-F238E27FC236}">
                <a16:creationId xmlns:a16="http://schemas.microsoft.com/office/drawing/2014/main" id="{51F047C1-6BD1-4042-A5A9-CD6C212D74B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44</a:t>
            </a:r>
          </a:p>
        </p:txBody>
      </p:sp>
    </p:spTree>
    <p:extLst>
      <p:ext uri="{BB962C8B-B14F-4D97-AF65-F5344CB8AC3E}">
        <p14:creationId xmlns:p14="http://schemas.microsoft.com/office/powerpoint/2010/main" val="802255960"/>
      </p:ext>
    </p:extLst>
  </p:cSld>
</p:sld>
</file>

<file path=ppt/slides/slide4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D69D91E-89C6-4FF3-B025-8D3BDB9A39B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Competitive references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Reference</a:t>
                      </a:r>
                    </a:p>
                  </a:txBody>
                  <a:tcPr marL="91440" marR="91440" marT="45720" marB="45720">
                    <a:solidFill>
                      <a:srgbClr val="102938"/>
                    </a:solidFill>
                  </a:tcPr>
                </a:tc>
                <a:tc>
                  <a:txBody>
                    <a:bodyPr/>
                    <a:lstStyle/>
                    <a:p>
                      <a:r>
                        <a:rPr sz="1800" b="1">
                          <a:solidFill>
                            <a:srgbClr val="FFFFFF"/>
                          </a:solidFill>
                          <a:latin typeface="Arial"/>
                          <a:ea typeface="Arial"/>
                          <a:cs typeface="Arial"/>
                        </a:rPr>
                        <a:t>What the team should learn</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NetBird / Tailscale / Firezone</a:t>
                      </a:r>
                    </a:p>
                  </a:txBody>
                  <a:tcPr marL="91440" marR="91440" marT="45720" marB="45720">
                    <a:solidFill>
                      <a:srgbClr val="FFFFFF"/>
                    </a:solidFill>
                  </a:tcPr>
                </a:tc>
                <a:tc>
                  <a:txBody>
                    <a:bodyPr/>
                    <a:lstStyle/>
                    <a:p>
                      <a:r>
                        <a:rPr sz="1800" b="0">
                          <a:solidFill>
                            <a:srgbClr val="142C3E"/>
                          </a:solidFill>
                          <a:latin typeface="Arial"/>
                          <a:ea typeface="Arial"/>
                          <a:cs typeface="Arial"/>
                        </a:rPr>
                        <a:t>Adoption tiers, managed access and organisational controls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Wazuh</a:t>
                      </a:r>
                    </a:p>
                  </a:txBody>
                  <a:tcPr marL="91440" marR="91440" marT="45720" marB="45720">
                    <a:solidFill>
                      <a:srgbClr val="EEF3F5"/>
                    </a:solidFill>
                  </a:tcPr>
                </a:tc>
                <a:tc>
                  <a:txBody>
                    <a:bodyPr/>
                    <a:lstStyle/>
                    <a:p>
                      <a:r>
                        <a:rPr sz="1800" b="0">
                          <a:solidFill>
                            <a:srgbClr val="142C3E"/>
                          </a:solidFill>
                          <a:latin typeface="Arial"/>
                          <a:ea typeface="Arial"/>
                          <a:cs typeface="Arial"/>
                        </a:rPr>
                        <a:t>Supported services around an open security platform</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KnowBe4 AIDA</a:t>
                      </a:r>
                    </a:p>
                  </a:txBody>
                  <a:tcPr marL="91440" marR="91440" marT="45720" marB="45720">
                    <a:solidFill>
                      <a:srgbClr val="FFFFFF"/>
                    </a:solidFill>
                  </a:tcPr>
                </a:tc>
                <a:tc>
                  <a:txBody>
                    <a:bodyPr/>
                    <a:lstStyle/>
                    <a:p>
                      <a:r>
                        <a:rPr sz="1800" b="0">
                          <a:solidFill>
                            <a:srgbClr val="142C3E"/>
                          </a:solidFill>
                          <a:latin typeface="Arial"/>
                          <a:ea typeface="Arial"/>
                          <a:cs typeface="Arial"/>
                        </a:rPr>
                        <a:t>AI training orchestration already has strong competitors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Agent-access offerings</a:t>
                      </a:r>
                    </a:p>
                  </a:txBody>
                  <a:tcPr marL="91440" marR="91440" marT="45720" marB="45720">
                    <a:solidFill>
                      <a:srgbClr val="EEF3F5"/>
                    </a:solidFill>
                  </a:tcPr>
                </a:tc>
                <a:tc>
                  <a:txBody>
                    <a:bodyPr/>
                    <a:lstStyle/>
                    <a:p>
                      <a:r>
                        <a:rPr sz="1800" b="0">
                          <a:solidFill>
                            <a:srgbClr val="142C3E"/>
                          </a:solidFill>
                          <a:latin typeface="Arial"/>
                          <a:ea typeface="Arial"/>
                          <a:cs typeface="Arial"/>
                        </a:rPr>
                        <a:t>Validate task-level authority and execution differentiation</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E6D4984C-9C85-4BC0-8E8E-E1018A378EBA}"/>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Vendor claims and case studies inform discovery. They do not validate AegisAI results.</a:t>
            </a:r>
          </a:p>
        </p:txBody>
      </p:sp>
      <p:sp>
        <p:nvSpPr>
          <p:cNvPr id="4" name="">
            <a:extLst xmlns:a="http://schemas.openxmlformats.org/drawingml/2006/main">
              <a:ext uri="{FF2B5EF4-FFF2-40B4-BE49-F238E27FC236}">
                <a16:creationId xmlns:a16="http://schemas.microsoft.com/office/drawing/2014/main" id="{714C78B3-1E8C-41D2-A5BF-AE8700655D57}"/>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45</a:t>
            </a:r>
          </a:p>
        </p:txBody>
      </p:sp>
    </p:spTree>
    <p:extLst>
      <p:ext uri="{BB962C8B-B14F-4D97-AF65-F5344CB8AC3E}">
        <p14:creationId xmlns:p14="http://schemas.microsoft.com/office/powerpoint/2010/main" val="1035846680"/>
      </p:ext>
    </p:extLst>
  </p:cSld>
</p:sld>
</file>

<file path=ppt/slides/slide4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0500237-AAEC-49DE-963A-921FEA72B7BD}"/>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Open core and commercial value</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4572000"/>
                <a:gridCol w="6248400"/>
              </a:tblGrid>
              <a:tr h="476250">
                <a:tc>
                  <a:txBody>
                    <a:bodyPr/>
                    <a:lstStyle/>
                    <a:p>
                      <a:r>
                        <a:rPr sz="1800" b="1">
                          <a:solidFill>
                            <a:srgbClr val="FFFFFF"/>
                          </a:solidFill>
                          <a:latin typeface="Arial"/>
                          <a:ea typeface="Arial"/>
                          <a:cs typeface="Arial"/>
                        </a:rPr>
                        <a:t>Useful community foundation</a:t>
                      </a:r>
                    </a:p>
                  </a:txBody>
                  <a:tcPr marL="91440" marR="91440" marT="45720" marB="45720">
                    <a:solidFill>
                      <a:srgbClr val="102938"/>
                    </a:solidFill>
                  </a:tcPr>
                </a:tc>
                <a:tc>
                  <a:txBody>
                    <a:bodyPr/>
                    <a:lstStyle/>
                    <a:p>
                      <a:r>
                        <a:rPr sz="1800" b="1">
                          <a:solidFill>
                            <a:srgbClr val="FFFFFF"/>
                          </a:solidFill>
                          <a:latin typeface="Arial"/>
                          <a:ea typeface="Arial"/>
                          <a:cs typeface="Arial"/>
                        </a:rPr>
                        <a:t>Paid operating value</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Schemas and selected adapters</a:t>
                      </a:r>
                    </a:p>
                  </a:txBody>
                  <a:tcPr marL="91440" marR="91440" marT="45720" marB="45720">
                    <a:solidFill>
                      <a:srgbClr val="FFFFFF"/>
                    </a:solidFill>
                  </a:tcPr>
                </a:tc>
                <a:tc>
                  <a:txBody>
                    <a:bodyPr/>
                    <a:lstStyle/>
                    <a:p>
                      <a:r>
                        <a:rPr sz="1800" b="0">
                          <a:solidFill>
                            <a:srgbClr val="142C3E"/>
                          </a:solidFill>
                          <a:latin typeface="Arial"/>
                          <a:ea typeface="Arial"/>
                          <a:cs typeface="Arial"/>
                        </a:rPr>
                        <a:t>Managed EU operation and enterprise administration</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Basic workflows and export</a:t>
                      </a:r>
                    </a:p>
                  </a:txBody>
                  <a:tcPr marL="91440" marR="91440" marT="45720" marB="45720">
                    <a:solidFill>
                      <a:srgbClr val="EEF3F5"/>
                    </a:solidFill>
                  </a:tcPr>
                </a:tc>
                <a:tc>
                  <a:txBody>
                    <a:bodyPr/>
                    <a:lstStyle/>
                    <a:p>
                      <a:r>
                        <a:rPr sz="1800" b="0">
                          <a:solidFill>
                            <a:srgbClr val="142C3E"/>
                          </a:solidFill>
                          <a:latin typeface="Arial"/>
                          <a:ea typeface="Arial"/>
                          <a:cs typeface="Arial"/>
                        </a:rPr>
                        <a:t>Maintained integrations and supported deployment</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Evaluation tools and research artefacts</a:t>
                      </a:r>
                    </a:p>
                  </a:txBody>
                  <a:tcPr marL="91440" marR="91440" marT="45720" marB="45720">
                    <a:solidFill>
                      <a:srgbClr val="FFFFFF"/>
                    </a:solidFill>
                  </a:tcPr>
                </a:tc>
                <a:tc>
                  <a:txBody>
                    <a:bodyPr/>
                    <a:lstStyle/>
                    <a:p>
                      <a:r>
                        <a:rPr sz="1800" b="0">
                          <a:solidFill>
                            <a:srgbClr val="142C3E"/>
                          </a:solidFill>
                          <a:latin typeface="Arial"/>
                          <a:ea typeface="Arial"/>
                          <a:cs typeface="Arial"/>
                        </a:rPr>
                        <a:t>Support agreements and implementation services</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Documented self-hosting path</a:t>
                      </a:r>
                    </a:p>
                  </a:txBody>
                  <a:tcPr marL="91440" marR="91440" marT="45720" marB="45720">
                    <a:solidFill>
                      <a:srgbClr val="EEF3F5"/>
                    </a:solidFill>
                  </a:tcPr>
                </a:tc>
                <a:tc>
                  <a:txBody>
                    <a:bodyPr/>
                    <a:lstStyle/>
                    <a:p>
                      <a:r>
                        <a:rPr sz="1800" b="0">
                          <a:solidFill>
                            <a:srgbClr val="142C3E"/>
                          </a:solidFill>
                          <a:latin typeface="Arial"/>
                          <a:ea typeface="Arial"/>
                          <a:cs typeface="Arial"/>
                        </a:rPr>
                        <a:t>Customer-specific work with explicit maintenance scope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C5735195-757F-44BF-A6E2-F79FA5939A50}"/>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Apache-2.0 is the default proposal for original components, subject to IP and upstream review.</a:t>
            </a:r>
          </a:p>
        </p:txBody>
      </p:sp>
      <p:sp>
        <p:nvSpPr>
          <p:cNvPr id="4" name="">
            <a:extLst xmlns:a="http://schemas.openxmlformats.org/drawingml/2006/main">
              <a:ext uri="{FF2B5EF4-FFF2-40B4-BE49-F238E27FC236}">
                <a16:creationId xmlns:a16="http://schemas.microsoft.com/office/drawing/2014/main" id="{42707A18-3152-4903-8399-7E6A78710733}"/>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46</a:t>
            </a:r>
          </a:p>
        </p:txBody>
      </p:sp>
    </p:spTree>
    <p:extLst>
      <p:ext uri="{BB962C8B-B14F-4D97-AF65-F5344CB8AC3E}">
        <p14:creationId xmlns:p14="http://schemas.microsoft.com/office/powerpoint/2010/main" val="1847337720"/>
      </p:ext>
    </p:extLst>
  </p:cSld>
</p:sld>
</file>

<file path=ppt/slides/slide4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4229453-47E9-43C7-9B83-5B02FB4F1A62}"/>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Product packaging</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Product</a:t>
                      </a:r>
                    </a:p>
                  </a:txBody>
                  <a:tcPr marL="91440" marR="91440" marT="45720" marB="45720">
                    <a:solidFill>
                      <a:srgbClr val="102938"/>
                    </a:solidFill>
                  </a:tcPr>
                </a:tc>
                <a:tc>
                  <a:txBody>
                    <a:bodyPr/>
                    <a:lstStyle/>
                    <a:p>
                      <a:r>
                        <a:rPr sz="1800" b="1">
                          <a:solidFill>
                            <a:srgbClr val="FFFFFF"/>
                          </a:solidFill>
                          <a:latin typeface="Arial"/>
                          <a:ea typeface="Arial"/>
                          <a:cs typeface="Arial"/>
                        </a:rPr>
                        <a:t>Primary cost and billing driver</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Human Firewall</a:t>
                      </a:r>
                    </a:p>
                  </a:txBody>
                  <a:tcPr marL="91440" marR="91440" marT="45720" marB="45720">
                    <a:solidFill>
                      <a:srgbClr val="FFFFFF"/>
                    </a:solidFill>
                  </a:tcPr>
                </a:tc>
                <a:tc>
                  <a:txBody>
                    <a:bodyPr/>
                    <a:lstStyle/>
                    <a:p>
                      <a:r>
                        <a:rPr sz="1800" b="0">
                          <a:solidFill>
                            <a:srgbClr val="142C3E"/>
                          </a:solidFill>
                          <a:latin typeface="Arial"/>
                          <a:ea typeface="Arial"/>
                          <a:cs typeface="Arial"/>
                        </a:rPr>
                        <a:t>Organisation base and active learner band</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Security Operations</a:t>
                      </a:r>
                    </a:p>
                  </a:txBody>
                  <a:tcPr marL="91440" marR="91440" marT="45720" marB="45720">
                    <a:solidFill>
                      <a:srgbClr val="EEF3F5"/>
                    </a:solidFill>
                  </a:tcPr>
                </a:tc>
                <a:tc>
                  <a:txBody>
                    <a:bodyPr/>
                    <a:lstStyle/>
                    <a:p>
                      <a:r>
                        <a:rPr sz="1800" b="0">
                          <a:solidFill>
                            <a:srgbClr val="142C3E"/>
                          </a:solidFill>
                          <a:latin typeface="Arial"/>
                          <a:ea typeface="Arial"/>
                          <a:cs typeface="Arial"/>
                        </a:rPr>
                        <a:t>Organisation base, assets and event volume</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Defense Box</a:t>
                      </a:r>
                    </a:p>
                  </a:txBody>
                  <a:tcPr marL="91440" marR="91440" marT="45720" marB="45720">
                    <a:solidFill>
                      <a:srgbClr val="FFFFFF"/>
                    </a:solidFill>
                  </a:tcPr>
                </a:tc>
                <a:tc>
                  <a:txBody>
                    <a:bodyPr/>
                    <a:lstStyle/>
                    <a:p>
                      <a:r>
                        <a:rPr sz="1800" b="0">
                          <a:solidFill>
                            <a:srgbClr val="142C3E"/>
                          </a:solidFill>
                          <a:latin typeface="Arial"/>
                          <a:ea typeface="Arial"/>
                          <a:cs typeface="Arial"/>
                        </a:rPr>
                        <a:t>Site/appliance and supported validation allowance</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Agent Security</a:t>
                      </a:r>
                    </a:p>
                  </a:txBody>
                  <a:tcPr marL="91440" marR="91440" marT="45720" marB="45720">
                    <a:solidFill>
                      <a:srgbClr val="EEF3F5"/>
                    </a:solidFill>
                  </a:tcPr>
                </a:tc>
                <a:tc>
                  <a:txBody>
                    <a:bodyPr/>
                    <a:lstStyle/>
                    <a:p>
                      <a:r>
                        <a:rPr sz="1800" b="0">
                          <a:solidFill>
                            <a:srgbClr val="142C3E"/>
                          </a:solidFill>
                          <a:latin typeface="Arial"/>
                          <a:ea typeface="Arial"/>
                          <a:cs typeface="Arial"/>
                        </a:rPr>
                        <a:t>Organisation/workloads and execution usage</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FD3FF034-CE3E-428E-B0BC-CD2804EDBEBF}"/>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Onboarding and bespoke integrations have separate scopes. No prices or contracts are approved yet.</a:t>
            </a:r>
          </a:p>
        </p:txBody>
      </p:sp>
      <p:sp>
        <p:nvSpPr>
          <p:cNvPr id="4" name="">
            <a:extLst xmlns:a="http://schemas.openxmlformats.org/drawingml/2006/main">
              <a:ext uri="{FF2B5EF4-FFF2-40B4-BE49-F238E27FC236}">
                <a16:creationId xmlns:a16="http://schemas.microsoft.com/office/drawing/2014/main" id="{0CCA8D82-0E71-48E1-ACAE-7D4D14D3FA59}"/>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47</a:t>
            </a:r>
          </a:p>
        </p:txBody>
      </p:sp>
    </p:spTree>
    <p:extLst>
      <p:ext uri="{BB962C8B-B14F-4D97-AF65-F5344CB8AC3E}">
        <p14:creationId xmlns:p14="http://schemas.microsoft.com/office/powerpoint/2010/main" val="628211949"/>
      </p:ext>
    </p:extLst>
  </p:cSld>
</p:sld>
</file>

<file path=ppt/slides/slide4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E86E04C-B190-41A7-8FE1-445FE9C56918}"/>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Support effort changes the price floor</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5676900"/>
                <a:gridCol w="2571750"/>
                <a:gridCol w="2571750"/>
              </a:tblGrid>
              <a:tr h="476250">
                <a:tc>
                  <a:txBody>
                    <a:bodyPr/>
                    <a:lstStyle/>
                    <a:p>
                      <a:r>
                        <a:rPr sz="1800" b="1">
                          <a:solidFill>
                            <a:srgbClr val="FFFFFF"/>
                          </a:solidFill>
                          <a:latin typeface="Arial"/>
                          <a:ea typeface="Arial"/>
                          <a:cs typeface="Arial"/>
                        </a:rPr>
                        <a:t>Illustrative monthly scenario</a:t>
                      </a:r>
                    </a:p>
                  </a:txBody>
                  <a:tcPr marL="91440" marR="91440" marT="45720" marB="45720">
                    <a:solidFill>
                      <a:srgbClr val="102938"/>
                    </a:solidFill>
                  </a:tcPr>
                </a:tc>
                <a:tc>
                  <a:txBody>
                    <a:bodyPr/>
                    <a:lstStyle/>
                    <a:p>
                      <a:r>
                        <a:rPr sz="1800" b="1">
                          <a:solidFill>
                            <a:srgbClr val="FFFFFF"/>
                          </a:solidFill>
                          <a:latin typeface="Arial"/>
                          <a:ea typeface="Arial"/>
                          <a:cs typeface="Arial"/>
                        </a:rPr>
                        <a:t>2 support hours</a:t>
                      </a:r>
                    </a:p>
                  </a:txBody>
                  <a:tcPr marL="91440" marR="91440" marT="45720" marB="45720">
                    <a:solidFill>
                      <a:srgbClr val="102938"/>
                    </a:solidFill>
                  </a:tcPr>
                </a:tc>
                <a:tc>
                  <a:txBody>
                    <a:bodyPr/>
                    <a:lstStyle/>
                    <a:p>
                      <a:r>
                        <a:rPr sz="1800" b="1">
                          <a:solidFill>
                            <a:srgbClr val="FFFFFF"/>
                          </a:solidFill>
                          <a:latin typeface="Arial"/>
                          <a:ea typeface="Arial"/>
                          <a:cs typeface="Arial"/>
                        </a:rPr>
                        <a:t>4 support hours</a:t>
                      </a:r>
                    </a:p>
                  </a:txBody>
                  <a:tcPr marL="91440" marR="91440" marT="45720" marB="45720">
                    <a:solidFill>
                      <a:srgbClr val="102938"/>
                    </a:solidFill>
                  </a:tcPr>
                </a:tc>
              </a:tr>
              <a:tr h="952500">
                <a:tc>
                  <a:txBody>
                    <a:bodyPr/>
                    <a:lstStyle/>
                    <a:p>
                      <a:r>
                        <a:rPr sz="1800" b="1">
                          <a:solidFill>
                            <a:srgbClr val="142C3E"/>
                          </a:solidFill>
                          <a:latin typeface="Arial"/>
                          <a:ea typeface="Arial"/>
                          <a:cs typeface="Arial"/>
                        </a:rPr>
                        <a:t>Infrastructure, backup and model use</a:t>
                      </a:r>
                    </a:p>
                  </a:txBody>
                  <a:tcPr marL="91440" marR="91440" marT="45720" marB="45720">
                    <a:solidFill>
                      <a:srgbClr val="FFFFFF"/>
                    </a:solidFill>
                  </a:tcPr>
                </a:tc>
                <a:tc>
                  <a:txBody>
                    <a:bodyPr/>
                    <a:lstStyle/>
                    <a:p>
                      <a:r>
                        <a:rPr sz="1800" b="0">
                          <a:solidFill>
                            <a:srgbClr val="142C3E"/>
                          </a:solidFill>
                          <a:latin typeface="Arial"/>
                          <a:ea typeface="Arial"/>
                          <a:cs typeface="Arial"/>
                        </a:rPr>
                        <a:t>EUR 85</a:t>
                      </a:r>
                    </a:p>
                  </a:txBody>
                  <a:tcPr marL="91440" marR="91440" marT="45720" marB="45720">
                    <a:solidFill>
                      <a:srgbClr val="FFFFFF"/>
                    </a:solidFill>
                  </a:tcPr>
                </a:tc>
                <a:tc>
                  <a:txBody>
                    <a:bodyPr/>
                    <a:lstStyle/>
                    <a:p>
                      <a:r>
                        <a:rPr sz="1800" b="0">
                          <a:solidFill>
                            <a:srgbClr val="142C3E"/>
                          </a:solidFill>
                          <a:latin typeface="Arial"/>
                          <a:ea typeface="Arial"/>
                          <a:cs typeface="Arial"/>
                        </a:rPr>
                        <a:t>EUR 85</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Support at EUR 40 per hour</a:t>
                      </a:r>
                    </a:p>
                  </a:txBody>
                  <a:tcPr marL="91440" marR="91440" marT="45720" marB="45720">
                    <a:solidFill>
                      <a:srgbClr val="EEF3F5"/>
                    </a:solidFill>
                  </a:tcPr>
                </a:tc>
                <a:tc>
                  <a:txBody>
                    <a:bodyPr/>
                    <a:lstStyle/>
                    <a:p>
                      <a:r>
                        <a:rPr sz="1800" b="0">
                          <a:solidFill>
                            <a:srgbClr val="142C3E"/>
                          </a:solidFill>
                          <a:latin typeface="Arial"/>
                          <a:ea typeface="Arial"/>
                          <a:cs typeface="Arial"/>
                        </a:rPr>
                        <a:t>EUR 80</a:t>
                      </a:r>
                    </a:p>
                  </a:txBody>
                  <a:tcPr marL="91440" marR="91440" marT="45720" marB="45720">
                    <a:solidFill>
                      <a:srgbClr val="EEF3F5"/>
                    </a:solidFill>
                  </a:tcPr>
                </a:tc>
                <a:tc>
                  <a:txBody>
                    <a:bodyPr/>
                    <a:lstStyle/>
                    <a:p>
                      <a:r>
                        <a:rPr sz="1800" b="0">
                          <a:solidFill>
                            <a:srgbClr val="142C3E"/>
                          </a:solidFill>
                          <a:latin typeface="Arial"/>
                          <a:ea typeface="Arial"/>
                          <a:cs typeface="Arial"/>
                        </a:rPr>
                        <a:t>EUR 160</a:t>
                      </a:r>
                    </a:p>
                  </a:txBody>
                  <a:tcPr marL="91440" marR="91440" marT="45720" marB="45720">
                    <a:solidFill>
                      <a:srgbClr val="EEF3F5"/>
                    </a:solidFill>
                  </a:tcPr>
                </a:tc>
              </a:tr>
              <a:tr h="952500">
                <a:tc>
                  <a:txBody>
                    <a:bodyPr/>
                    <a:lstStyle/>
                    <a:p>
                      <a:r>
                        <a:rPr sz="1800" b="1">
                          <a:solidFill>
                            <a:srgbClr val="142C3E"/>
                          </a:solidFill>
                          <a:latin typeface="Arial"/>
                          <a:ea typeface="Arial"/>
                          <a:cs typeface="Arial"/>
                        </a:rPr>
                        <a:t>Direct monthly cost</a:t>
                      </a:r>
                    </a:p>
                  </a:txBody>
                  <a:tcPr marL="91440" marR="91440" marT="45720" marB="45720">
                    <a:solidFill>
                      <a:srgbClr val="FFFFFF"/>
                    </a:solidFill>
                  </a:tcPr>
                </a:tc>
                <a:tc>
                  <a:txBody>
                    <a:bodyPr/>
                    <a:lstStyle/>
                    <a:p>
                      <a:r>
                        <a:rPr sz="1800" b="0">
                          <a:solidFill>
                            <a:srgbClr val="142C3E"/>
                          </a:solidFill>
                          <a:latin typeface="Arial"/>
                          <a:ea typeface="Arial"/>
                          <a:cs typeface="Arial"/>
                        </a:rPr>
                        <a:t>EUR 165</a:t>
                      </a:r>
                    </a:p>
                  </a:txBody>
                  <a:tcPr marL="91440" marR="91440" marT="45720" marB="45720">
                    <a:solidFill>
                      <a:srgbClr val="FFFFFF"/>
                    </a:solidFill>
                  </a:tcPr>
                </a:tc>
                <a:tc>
                  <a:txBody>
                    <a:bodyPr/>
                    <a:lstStyle/>
                    <a:p>
                      <a:r>
                        <a:rPr sz="1800" b="0">
                          <a:solidFill>
                            <a:srgbClr val="142C3E"/>
                          </a:solidFill>
                          <a:latin typeface="Arial"/>
                          <a:ea typeface="Arial"/>
                          <a:cs typeface="Arial"/>
                        </a:rPr>
                        <a:t>EUR 245</a:t>
                      </a:r>
                    </a:p>
                  </a:txBody>
                  <a:tcPr marL="91440" marR="91440" marT="45720" marB="45720">
                    <a:solidFill>
                      <a:srgbClr val="FFFFFF"/>
                    </a:solidFill>
                  </a:tcPr>
                </a:tc>
              </a:tr>
              <a:tr h="952500">
                <a:tc>
                  <a:txBody>
                    <a:bodyPr/>
                    <a:lstStyle/>
                    <a:p>
                      <a:r>
                        <a:rPr sz="1800" b="1">
                          <a:solidFill>
                            <a:srgbClr val="142C3E"/>
                          </a:solidFill>
                          <a:latin typeface="Arial"/>
                          <a:ea typeface="Arial"/>
                          <a:cs typeface="Arial"/>
                        </a:rPr>
                        <a:t>Price at a hypothetical 60% margin</a:t>
                      </a:r>
                    </a:p>
                  </a:txBody>
                  <a:tcPr marL="91440" marR="91440" marT="45720" marB="45720">
                    <a:solidFill>
                      <a:srgbClr val="EEF3F5"/>
                    </a:solidFill>
                  </a:tcPr>
                </a:tc>
                <a:tc>
                  <a:txBody>
                    <a:bodyPr/>
                    <a:lstStyle/>
                    <a:p>
                      <a:r>
                        <a:rPr sz="1800" b="0">
                          <a:solidFill>
                            <a:srgbClr val="142C3E"/>
                          </a:solidFill>
                          <a:latin typeface="Arial"/>
                          <a:ea typeface="Arial"/>
                          <a:cs typeface="Arial"/>
                        </a:rPr>
                        <a:t>EUR 412.50</a:t>
                      </a:r>
                    </a:p>
                  </a:txBody>
                  <a:tcPr marL="91440" marR="91440" marT="45720" marB="45720">
                    <a:solidFill>
                      <a:srgbClr val="EEF3F5"/>
                    </a:solidFill>
                  </a:tcPr>
                </a:tc>
                <a:tc>
                  <a:txBody>
                    <a:bodyPr/>
                    <a:lstStyle/>
                    <a:p>
                      <a:r>
                        <a:rPr sz="1800" b="0">
                          <a:solidFill>
                            <a:srgbClr val="142C3E"/>
                          </a:solidFill>
                          <a:latin typeface="Arial"/>
                          <a:ea typeface="Arial"/>
                          <a:cs typeface="Arial"/>
                        </a:rPr>
                        <a:t>EUR 612.50</a:t>
                      </a:r>
                    </a:p>
                  </a:txBody>
                  <a:tcPr marL="91440" marR="91440" marT="45720" marB="45720">
                    <a:solidFill>
                      <a:srgbClr val="EEF3F5"/>
                    </a:solidFill>
                  </a:tcPr>
                </a:tc>
              </a:tr>
            </a:tbl>
          </a:graphicData>
        </a:graphic>
      </p:graphicFrame>
      <p:sp>
        <p:nvSpPr>
          <p:cNvPr id="3" name="">
            <a:extLst xmlns:a="http://schemas.openxmlformats.org/drawingml/2006/main">
              <a:ext uri="{FF2B5EF4-FFF2-40B4-BE49-F238E27FC236}">
                <a16:creationId xmlns:a16="http://schemas.microsoft.com/office/drawing/2014/main" id="{18975A16-08C3-4CC8-A4DC-7A7E6B81CE2A}"/>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Illustration only. Excludes upstream licences, sales, R&amp;D, tax and company overhead.</a:t>
            </a:r>
          </a:p>
        </p:txBody>
      </p:sp>
      <p:sp>
        <p:nvSpPr>
          <p:cNvPr id="4" name="">
            <a:extLst xmlns:a="http://schemas.openxmlformats.org/drawingml/2006/main">
              <a:ext uri="{FF2B5EF4-FFF2-40B4-BE49-F238E27FC236}">
                <a16:creationId xmlns:a16="http://schemas.microsoft.com/office/drawing/2014/main" id="{F8B9FCF9-9B6C-42C7-BC03-486BFFD829A2}"/>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48</a:t>
            </a:r>
          </a:p>
        </p:txBody>
      </p:sp>
    </p:spTree>
    <p:extLst>
      <p:ext uri="{BB962C8B-B14F-4D97-AF65-F5344CB8AC3E}">
        <p14:creationId xmlns:p14="http://schemas.microsoft.com/office/powerpoint/2010/main" val="1821737295"/>
      </p:ext>
    </p:extLst>
  </p:cSld>
</p:sld>
</file>

<file path=ppt/slides/slide4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B932FC9-4D46-4C82-AC63-534C4B42F76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Security and privacy risks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Risk</a:t>
                      </a:r>
                    </a:p>
                  </a:txBody>
                  <a:tcPr marL="91440" marR="91440" marT="45720" marB="45720">
                    <a:solidFill>
                      <a:srgbClr val="102938"/>
                    </a:solidFill>
                  </a:tcPr>
                </a:tc>
                <a:tc>
                  <a:txBody>
                    <a:bodyPr/>
                    <a:lstStyle/>
                    <a:p>
                      <a:r>
                        <a:rPr sz="1800" b="1">
                          <a:solidFill>
                            <a:srgbClr val="FFFFFF"/>
                          </a:solidFill>
                          <a:latin typeface="Arial"/>
                          <a:ea typeface="Arial"/>
                          <a:cs typeface="Arial"/>
                        </a:rPr>
                        <a:t>Required control</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Cross-customer access</a:t>
                      </a:r>
                    </a:p>
                  </a:txBody>
                  <a:tcPr marL="91440" marR="91440" marT="45720" marB="45720">
                    <a:solidFill>
                      <a:srgbClr val="FFFFFF"/>
                    </a:solidFill>
                  </a:tcPr>
                </a:tc>
                <a:tc>
                  <a:txBody>
                    <a:bodyPr/>
                    <a:lstStyle/>
                    <a:p>
                      <a:r>
                        <a:rPr sz="1800" b="0">
                          <a:solidFill>
                            <a:srgbClr val="142C3E"/>
                          </a:solidFill>
                          <a:latin typeface="Arial"/>
                          <a:ea typeface="Arial"/>
                          <a:cs typeface="Arial"/>
                        </a:rPr>
                        <a:t>Isolated stacks and object-level authorisation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Agent or collector compromise</a:t>
                      </a:r>
                    </a:p>
                  </a:txBody>
                  <a:tcPr marL="91440" marR="91440" marT="45720" marB="45720">
                    <a:solidFill>
                      <a:srgbClr val="EEF3F5"/>
                    </a:solidFill>
                  </a:tcPr>
                </a:tc>
                <a:tc>
                  <a:txBody>
                    <a:bodyPr/>
                    <a:lstStyle/>
                    <a:p>
                      <a:r>
                        <a:rPr sz="1800" b="0">
                          <a:solidFill>
                            <a:srgbClr val="142C3E"/>
                          </a:solidFill>
                          <a:latin typeface="Arial"/>
                          <a:ea typeface="Arial"/>
                          <a:cs typeface="Arial"/>
                        </a:rPr>
                        <a:t>Scoped identities, revocation and execution isolation</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Repeated or destructive action</a:t>
                      </a:r>
                    </a:p>
                  </a:txBody>
                  <a:tcPr marL="91440" marR="91440" marT="45720" marB="45720">
                    <a:solidFill>
                      <a:srgbClr val="FFFFFF"/>
                    </a:solidFill>
                  </a:tcPr>
                </a:tc>
                <a:tc>
                  <a:txBody>
                    <a:bodyPr/>
                    <a:lstStyle/>
                    <a:p>
                      <a:r>
                        <a:rPr sz="1800" b="0">
                          <a:solidFill>
                            <a:srgbClr val="142C3E"/>
                          </a:solidFill>
                          <a:latin typeface="Arial"/>
                          <a:ea typeface="Arial"/>
                          <a:cs typeface="Arial"/>
                        </a:rPr>
                        <a:t>Bound approvals and reconciliation</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Employee surveillance</a:t>
                      </a:r>
                    </a:p>
                  </a:txBody>
                  <a:tcPr marL="91440" marR="91440" marT="45720" marB="45720">
                    <a:solidFill>
                      <a:srgbClr val="EEF3F5"/>
                    </a:solidFill>
                  </a:tcPr>
                </a:tc>
                <a:tc>
                  <a:txBody>
                    <a:bodyPr/>
                    <a:lstStyle/>
                    <a:p>
                      <a:r>
                        <a:rPr sz="1800" b="0">
                          <a:solidFill>
                            <a:srgbClr val="142C3E"/>
                          </a:solidFill>
                          <a:latin typeface="Arial"/>
                          <a:ea typeface="Arial"/>
                          <a:cs typeface="Arial"/>
                        </a:rPr>
                        <a:t>Separate purposes and restricted learning data</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Unsafe validation</a:t>
                      </a:r>
                    </a:p>
                  </a:txBody>
                  <a:tcPr marL="91440" marR="91440" marT="45720" marB="45720">
                    <a:solidFill>
                      <a:srgbClr val="FFFFFF"/>
                    </a:solidFill>
                  </a:tcPr>
                </a:tc>
                <a:tc>
                  <a:txBody>
                    <a:bodyPr/>
                    <a:lstStyle/>
                    <a:p>
                      <a:r>
                        <a:rPr sz="1800" b="0">
                          <a:solidFill>
                            <a:srgbClr val="142C3E"/>
                          </a:solidFill>
                          <a:latin typeface="Arial"/>
                          <a:ea typeface="Arial"/>
                          <a:cs typeface="Arial"/>
                        </a:rPr>
                        <a:t>Explicit scope, limits, abort and cleanup</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60E951E-D0E9-4159-B0FE-D3E3B018A98A}"/>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49</a:t>
            </a:r>
          </a:p>
        </p:txBody>
      </p:sp>
    </p:spTree>
    <p:extLst>
      <p:ext uri="{BB962C8B-B14F-4D97-AF65-F5344CB8AC3E}">
        <p14:creationId xmlns:p14="http://schemas.microsoft.com/office/powerpoint/2010/main" val="25144977"/>
      </p:ext>
    </p:extLst>
  </p:cSld>
</p:sld>
</file>

<file path=ppt/slides/slide5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0DB7BDF-E334-4DDD-8698-E7C67F145FA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Regulatory applicability</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Framework</a:t>
                      </a:r>
                    </a:p>
                  </a:txBody>
                  <a:tcPr marL="91440" marR="91440" marT="45720" marB="45720">
                    <a:solidFill>
                      <a:srgbClr val="102938"/>
                    </a:solidFill>
                  </a:tcPr>
                </a:tc>
                <a:tc>
                  <a:txBody>
                    <a:bodyPr/>
                    <a:lstStyle/>
                    <a:p>
                      <a:r>
                        <a:rPr sz="1800" b="1">
                          <a:solidFill>
                            <a:srgbClr val="FFFFFF"/>
                          </a:solidFill>
                          <a:latin typeface="Arial"/>
                          <a:ea typeface="Arial"/>
                          <a:cs typeface="Arial"/>
                        </a:rPr>
                        <a:t>Question to resolve</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GDPR</a:t>
                      </a:r>
                    </a:p>
                  </a:txBody>
                  <a:tcPr marL="91440" marR="91440" marT="45720" marB="45720">
                    <a:solidFill>
                      <a:srgbClr val="FFFFFF"/>
                    </a:solidFill>
                  </a:tcPr>
                </a:tc>
                <a:tc>
                  <a:txBody>
                    <a:bodyPr/>
                    <a:lstStyle/>
                    <a:p>
                      <a:r>
                        <a:rPr sz="1800" b="0">
                          <a:solidFill>
                            <a:srgbClr val="142C3E"/>
                          </a:solidFill>
                          <a:latin typeface="Arial"/>
                          <a:ea typeface="Arial"/>
                          <a:cs typeface="Arial"/>
                        </a:rPr>
                        <a:t>Data purpose, roles, lawful basis, rights and DPIA</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EU AI Act</a:t>
                      </a:r>
                    </a:p>
                  </a:txBody>
                  <a:tcPr marL="91440" marR="91440" marT="45720" marB="45720">
                    <a:solidFill>
                      <a:srgbClr val="EEF3F5"/>
                    </a:solidFill>
                  </a:tcPr>
                </a:tc>
                <a:tc>
                  <a:txBody>
                    <a:bodyPr/>
                    <a:lstStyle/>
                    <a:p>
                      <a:r>
                        <a:rPr sz="1800" b="0">
                          <a:solidFill>
                            <a:srgbClr val="142C3E"/>
                          </a:solidFill>
                          <a:latin typeface="Arial"/>
                          <a:ea typeface="Arial"/>
                          <a:cs typeface="Arial"/>
                        </a:rPr>
                        <a:t>Feature intended use and provider/deployer obligations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Portugal / NIS2</a:t>
                      </a:r>
                    </a:p>
                  </a:txBody>
                  <a:tcPr marL="91440" marR="91440" marT="45720" marB="45720">
                    <a:solidFill>
                      <a:srgbClr val="FFFFFF"/>
                    </a:solidFill>
                  </a:tcPr>
                </a:tc>
                <a:tc>
                  <a:txBody>
                    <a:bodyPr/>
                    <a:lstStyle/>
                    <a:p>
                      <a:r>
                        <a:rPr sz="1800" b="0">
                          <a:solidFill>
                            <a:srgbClr val="142C3E"/>
                          </a:solidFill>
                          <a:latin typeface="Arial"/>
                          <a:ea typeface="Arial"/>
                          <a:cs typeface="Arial"/>
                        </a:rPr>
                        <a:t>Entity and service scope under current requirements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Cyber Resilience Act</a:t>
                      </a:r>
                    </a:p>
                  </a:txBody>
                  <a:tcPr marL="91440" marR="91440" marT="45720" marB="45720">
                    <a:solidFill>
                      <a:srgbClr val="EEF3F5"/>
                    </a:solidFill>
                  </a:tcPr>
                </a:tc>
                <a:tc>
                  <a:txBody>
                    <a:bodyPr/>
                    <a:lstStyle/>
                    <a:p>
                      <a:r>
                        <a:rPr sz="1800" b="0">
                          <a:solidFill>
                            <a:srgbClr val="142C3E"/>
                          </a:solidFill>
                          <a:latin typeface="Arial"/>
                          <a:ea typeface="Arial"/>
                          <a:cs typeface="Arial"/>
                        </a:rPr>
                        <a:t>Product scope, manufacturer role and reporting</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NIST Cyber AI Profile</a:t>
                      </a:r>
                    </a:p>
                  </a:txBody>
                  <a:tcPr marL="91440" marR="91440" marT="45720" marB="45720">
                    <a:solidFill>
                      <a:srgbClr val="FFFFFF"/>
                    </a:solidFill>
                  </a:tcPr>
                </a:tc>
                <a:tc>
                  <a:txBody>
                    <a:bodyPr/>
                    <a:lstStyle/>
                    <a:p>
                      <a:r>
                        <a:rPr sz="1800" b="0">
                          <a:solidFill>
                            <a:srgbClr val="142C3E"/>
                          </a:solidFill>
                          <a:latin typeface="Arial"/>
                          <a:ea typeface="Arial"/>
                          <a:cs typeface="Arial"/>
                        </a:rPr>
                        <a:t>Control mapping with draft status clearly identified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A3E002F1-9A15-4995-91E3-4D389486B386}"/>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Qualified applicability review precedes affected processing or shipment. No automatic compliance claim.</a:t>
            </a:r>
          </a:p>
        </p:txBody>
      </p:sp>
      <p:sp>
        <p:nvSpPr>
          <p:cNvPr id="4" name="">
            <a:extLst xmlns:a="http://schemas.openxmlformats.org/drawingml/2006/main">
              <a:ext uri="{FF2B5EF4-FFF2-40B4-BE49-F238E27FC236}">
                <a16:creationId xmlns:a16="http://schemas.microsoft.com/office/drawing/2014/main" id="{D8671F84-2803-4A2D-B970-D840CC3D7F46}"/>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50</a:t>
            </a:r>
          </a:p>
        </p:txBody>
      </p:sp>
    </p:spTree>
    <p:extLst>
      <p:ext uri="{BB962C8B-B14F-4D97-AF65-F5344CB8AC3E}">
        <p14:creationId xmlns:p14="http://schemas.microsoft.com/office/powerpoint/2010/main" val="2080418594"/>
      </p:ext>
    </p:extLst>
  </p:cSld>
</p:sld>
</file>

<file path=ppt/slides/slide5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C4F65D1-05F6-447E-8FF8-9480932E1EE1}"/>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Production readiness at every release</a:t>
            </a:r>
          </a:p>
        </p:txBody>
      </p:sp>
      <p:sp>
        <p:nvSpPr>
          <p:cNvPr id="2" name="">
            <a:extLst xmlns:a="http://schemas.openxmlformats.org/drawingml/2006/main">
              <a:ext uri="{FF2B5EF4-FFF2-40B4-BE49-F238E27FC236}">
                <a16:creationId xmlns:a16="http://schemas.microsoft.com/office/drawing/2014/main" id="{6DF8EF03-E0B9-492C-8962-FFA9E1BF97CF}"/>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Common pilot requirements</a:t>
            </a:r>
          </a:p>
        </p:txBody>
      </p:sp>
      <p:sp>
        <p:nvSpPr>
          <p:cNvPr id="3" name="">
            <a:extLst xmlns:a="http://schemas.openxmlformats.org/drawingml/2006/main">
              <a:ext uri="{FF2B5EF4-FFF2-40B4-BE49-F238E27FC236}">
                <a16:creationId xmlns:a16="http://schemas.microsoft.com/office/drawing/2014/main" id="{59C44085-5C2A-4DB5-9622-9BACB306B8C6}"/>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Isolation, secrets, monitoring, restore evidence and scoped customer agreement.</a:t>
            </a:r>
          </a:p>
        </p:txBody>
      </p:sp>
      <p:sp>
        <p:nvSpPr>
          <p:cNvPr id="4" name="">
            <a:extLst xmlns:a="http://schemas.openxmlformats.org/drawingml/2006/main">
              <a:ext uri="{FF2B5EF4-FFF2-40B4-BE49-F238E27FC236}">
                <a16:creationId xmlns:a16="http://schemas.microsoft.com/office/drawing/2014/main" id="{78BED628-359C-47A6-B9CD-E9D2AA7EF57C}"/>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General availability</a:t>
            </a:r>
          </a:p>
        </p:txBody>
      </p:sp>
      <p:sp>
        <p:nvSpPr>
          <p:cNvPr id="5" name="">
            <a:extLst xmlns:a="http://schemas.openxmlformats.org/drawingml/2006/main">
              <a:ext uri="{FF2B5EF4-FFF2-40B4-BE49-F238E27FC236}">
                <a16:creationId xmlns:a16="http://schemas.microsoft.com/office/drawing/2014/main" id="{3EA09F8E-18AC-46AA-A33D-8F9CD39AD68B}"/>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Independent assessment, resolved critical/high findings, capacity and recovery evidence.</a:t>
            </a:r>
          </a:p>
        </p:txBody>
      </p:sp>
      <p:sp>
        <p:nvSpPr>
          <p:cNvPr id="6" name="">
            <a:extLst xmlns:a="http://schemas.openxmlformats.org/drawingml/2006/main">
              <a:ext uri="{FF2B5EF4-FFF2-40B4-BE49-F238E27FC236}">
                <a16:creationId xmlns:a16="http://schemas.microsoft.com/office/drawing/2014/main" id="{B1CDA687-FDD8-4025-A6A0-4AF8602BD2FB}"/>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Product-specific acceptance</a:t>
            </a:r>
          </a:p>
        </p:txBody>
      </p:sp>
      <p:sp>
        <p:nvSpPr>
          <p:cNvPr id="7" name="">
            <a:extLst xmlns:a="http://schemas.openxmlformats.org/drawingml/2006/main">
              <a:ext uri="{FF2B5EF4-FFF2-40B4-BE49-F238E27FC236}">
                <a16:creationId xmlns:a16="http://schemas.microsoft.com/office/drawing/2014/main" id="{04093F8E-8C11-4CD6-9BCE-194C144E248F}"/>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Useful learning, manageable alerts, safe validation or enforced agent authority.</a:t>
            </a:r>
          </a:p>
        </p:txBody>
      </p:sp>
      <p:sp>
        <p:nvSpPr>
          <p:cNvPr id="8" name="">
            <a:extLst xmlns:a="http://schemas.openxmlformats.org/drawingml/2006/main">
              <a:ext uri="{FF2B5EF4-FFF2-40B4-BE49-F238E27FC236}">
                <a16:creationId xmlns:a16="http://schemas.microsoft.com/office/drawing/2014/main" id="{4F16EE54-0D7E-43CE-A403-8CF0A2983010}"/>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Gate decision</a:t>
            </a:r>
          </a:p>
        </p:txBody>
      </p:sp>
      <p:sp>
        <p:nvSpPr>
          <p:cNvPr id="9" name="">
            <a:extLst xmlns:a="http://schemas.openxmlformats.org/drawingml/2006/main">
              <a:ext uri="{FF2B5EF4-FFF2-40B4-BE49-F238E27FC236}">
                <a16:creationId xmlns:a16="http://schemas.microsoft.com/office/drawing/2014/main" id="{6A29B75F-A96E-45E4-9F27-930D206D4AE2}"/>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Pass with evidence, reduce scope or move dependent work. All gates are currently pending.</a:t>
            </a:r>
          </a:p>
        </p:txBody>
      </p:sp>
      <p:sp>
        <p:nvSpPr>
          <p:cNvPr id="10" name="">
            <a:extLst xmlns:a="http://schemas.openxmlformats.org/drawingml/2006/main">
              <a:ext uri="{FF2B5EF4-FFF2-40B4-BE49-F238E27FC236}">
                <a16:creationId xmlns:a16="http://schemas.microsoft.com/office/drawing/2014/main" id="{4395B5A5-1704-47D0-BDE7-2899C06046EE}"/>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51</a:t>
            </a:r>
          </a:p>
        </p:txBody>
      </p:sp>
    </p:spTree>
    <p:extLst>
      <p:ext uri="{BB962C8B-B14F-4D97-AF65-F5344CB8AC3E}">
        <p14:creationId xmlns:p14="http://schemas.microsoft.com/office/powerpoint/2010/main" val="1619997499"/>
      </p:ext>
    </p:extLst>
  </p:cSld>
</p:sld>
</file>

<file path=ppt/slides/slide5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97C1DE-C063-4E15-9635-1D6DD5E421A0}"/>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Operating targets and runbooks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Area</a:t>
                      </a:r>
                    </a:p>
                  </a:txBody>
                  <a:tcPr marL="91440" marR="91440" marT="45720" marB="45720">
                    <a:solidFill>
                      <a:srgbClr val="102938"/>
                    </a:solidFill>
                  </a:tcPr>
                </a:tc>
                <a:tc>
                  <a:txBody>
                    <a:bodyPr/>
                    <a:lstStyle/>
                    <a:p>
                      <a:r>
                        <a:rPr sz="1800" b="1">
                          <a:solidFill>
                            <a:srgbClr val="FFFFFF"/>
                          </a:solidFill>
                          <a:latin typeface="Arial"/>
                          <a:ea typeface="Arial"/>
                          <a:cs typeface="Arial"/>
                        </a:rPr>
                        <a:t>Planning requirement</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Availability</a:t>
                      </a:r>
                    </a:p>
                  </a:txBody>
                  <a:tcPr marL="91440" marR="91440" marT="45720" marB="45720">
                    <a:solidFill>
                      <a:srgbClr val="FFFFFF"/>
                    </a:solidFill>
                  </a:tcPr>
                </a:tc>
                <a:tc>
                  <a:txBody>
                    <a:bodyPr/>
                    <a:lstStyle/>
                    <a:p>
                      <a:r>
                        <a:rPr sz="1800" b="0">
                          <a:solidFill>
                            <a:srgbClr val="142C3E"/>
                          </a:solidFill>
                          <a:latin typeface="Arial"/>
                          <a:ea typeface="Arial"/>
                          <a:cs typeface="Arial"/>
                        </a:rPr>
                        <a:t>99.9% monthly application target before any contractual SLA</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Pilot recovery</a:t>
                      </a:r>
                    </a:p>
                  </a:txBody>
                  <a:tcPr marL="91440" marR="91440" marT="45720" marB="45720">
                    <a:solidFill>
                      <a:srgbClr val="EEF3F5"/>
                    </a:solidFill>
                  </a:tcPr>
                </a:tc>
                <a:tc>
                  <a:txBody>
                    <a:bodyPr/>
                    <a:lstStyle/>
                    <a:p>
                      <a:r>
                        <a:rPr sz="1800" b="0">
                          <a:solidFill>
                            <a:srgbClr val="142C3E"/>
                          </a:solidFill>
                          <a:latin typeface="Arial"/>
                          <a:ea typeface="Arial"/>
                          <a:cs typeface="Arial"/>
                        </a:rPr>
                        <a:t>24-hour recovery point and four-hour recovery time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GA recovery</a:t>
                      </a:r>
                    </a:p>
                  </a:txBody>
                  <a:tcPr marL="91440" marR="91440" marT="45720" marB="45720">
                    <a:solidFill>
                      <a:srgbClr val="FFFFFF"/>
                    </a:solidFill>
                  </a:tcPr>
                </a:tc>
                <a:tc>
                  <a:txBody>
                    <a:bodyPr/>
                    <a:lstStyle/>
                    <a:p>
                      <a:r>
                        <a:rPr sz="1800" b="0">
                          <a:solidFill>
                            <a:srgbClr val="142C3E"/>
                          </a:solidFill>
                          <a:latin typeface="Arial"/>
                          <a:ea typeface="Arial"/>
                          <a:cs typeface="Arial"/>
                        </a:rPr>
                        <a:t>One-hour recovery point and four-hour recovery time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Support</a:t>
                      </a:r>
                    </a:p>
                  </a:txBody>
                  <a:tcPr marL="91440" marR="91440" marT="45720" marB="45720">
                    <a:solidFill>
                      <a:srgbClr val="EEF3F5"/>
                    </a:solidFill>
                  </a:tcPr>
                </a:tc>
                <a:tc>
                  <a:txBody>
                    <a:bodyPr/>
                    <a:lstStyle/>
                    <a:p>
                      <a:r>
                        <a:rPr sz="1800" b="0">
                          <a:solidFill>
                            <a:srgbClr val="142C3E"/>
                          </a:solidFill>
                          <a:latin typeface="Arial"/>
                          <a:ea typeface="Arial"/>
                          <a:cs typeface="Arial"/>
                        </a:rPr>
                        <a:t>Portuguese business hours with named escalation arrangements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Runbooks</a:t>
                      </a:r>
                    </a:p>
                  </a:txBody>
                  <a:tcPr marL="91440" marR="91440" marT="45720" marB="45720">
                    <a:solidFill>
                      <a:srgbClr val="FFFFFF"/>
                    </a:solidFill>
                  </a:tcPr>
                </a:tc>
                <a:tc>
                  <a:txBody>
                    <a:bodyPr/>
                    <a:lstStyle/>
                    <a:p>
                      <a:r>
                        <a:rPr sz="1800" b="0">
                          <a:solidFill>
                            <a:srgbClr val="142C3E"/>
                          </a:solidFill>
                          <a:latin typeface="Arial"/>
                          <a:ea typeface="Arial"/>
                          <a:cs typeface="Arial"/>
                        </a:rPr>
                        <a:t>Onboard, upgrade, roll back, respond, restore and offboard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7AF27D9-FC73-404C-A1DC-6489052D9539}"/>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Targets require measured evidence and staffing. Continuous monitoring does not imply 24/7 staffed response.</a:t>
            </a:r>
          </a:p>
        </p:txBody>
      </p:sp>
      <p:sp>
        <p:nvSpPr>
          <p:cNvPr id="4" name="">
            <a:extLst xmlns:a="http://schemas.openxmlformats.org/drawingml/2006/main">
              <a:ext uri="{FF2B5EF4-FFF2-40B4-BE49-F238E27FC236}">
                <a16:creationId xmlns:a16="http://schemas.microsoft.com/office/drawing/2014/main" id="{4B53A472-3C61-4FA6-BA13-6B81627A7D02}"/>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52</a:t>
            </a:r>
          </a:p>
        </p:txBody>
      </p:sp>
    </p:spTree>
    <p:extLst>
      <p:ext uri="{BB962C8B-B14F-4D97-AF65-F5344CB8AC3E}">
        <p14:creationId xmlns:p14="http://schemas.microsoft.com/office/powerpoint/2010/main" val="1736645621"/>
      </p:ext>
    </p:extLst>
  </p:cSld>
</p:sld>
</file>

<file path=ppt/slides/slide5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07EE198-92F6-49CA-81A5-CE32476346C6}"/>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Kickoff decisions and immediate actions</a:t>
            </a:r>
          </a:p>
        </p:txBody>
      </p:sp>
      <p:sp>
        <p:nvSpPr>
          <p:cNvPr id="2" name="">
            <a:extLst xmlns:a="http://schemas.openxmlformats.org/drawingml/2006/main">
              <a:ext uri="{FF2B5EF4-FFF2-40B4-BE49-F238E27FC236}">
                <a16:creationId xmlns:a16="http://schemas.microsoft.com/office/drawing/2014/main" id="{2B50FBDC-8654-43D5-8E3C-4CD858D54ABA}"/>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People and schedule</a:t>
            </a:r>
          </a:p>
        </p:txBody>
      </p:sp>
      <p:sp>
        <p:nvSpPr>
          <p:cNvPr id="3" name="">
            <a:extLst xmlns:a="http://schemas.openxmlformats.org/drawingml/2006/main">
              <a:ext uri="{FF2B5EF4-FFF2-40B4-BE49-F238E27FC236}">
                <a16:creationId xmlns:a16="http://schemas.microsoft.com/office/drawing/2014/main" id="{7AE099BD-4038-45FE-ABFE-8F22F2ED99A2}"/>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Assign role owners and record the kickoff date.</a:t>
            </a:r>
          </a:p>
        </p:txBody>
      </p:sp>
      <p:sp>
        <p:nvSpPr>
          <p:cNvPr id="4" name="">
            <a:extLst xmlns:a="http://schemas.openxmlformats.org/drawingml/2006/main">
              <a:ext uri="{FF2B5EF4-FFF2-40B4-BE49-F238E27FC236}">
                <a16:creationId xmlns:a16="http://schemas.microsoft.com/office/drawing/2014/main" id="{C473170F-31D2-4F6F-839A-3E883690FE60}"/>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First sprint</a:t>
            </a:r>
          </a:p>
        </p:txBody>
      </p:sp>
      <p:sp>
        <p:nvSpPr>
          <p:cNvPr id="5" name="">
            <a:extLst xmlns:a="http://schemas.openxmlformats.org/drawingml/2006/main">
              <a:ext uri="{FF2B5EF4-FFF2-40B4-BE49-F238E27FC236}">
                <a16:creationId xmlns:a16="http://schemas.microsoft.com/office/drawing/2014/main" id="{C9A54ED6-A41B-463D-8464-C905087D7CA7}"/>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Create issues for the first 90 days using the existing task IDs and acceptance criteria.</a:t>
            </a:r>
          </a:p>
        </p:txBody>
      </p:sp>
      <p:sp>
        <p:nvSpPr>
          <p:cNvPr id="6" name="">
            <a:extLst xmlns:a="http://schemas.openxmlformats.org/drawingml/2006/main">
              <a:ext uri="{FF2B5EF4-FFF2-40B4-BE49-F238E27FC236}">
                <a16:creationId xmlns:a16="http://schemas.microsoft.com/office/drawing/2014/main" id="{4C74937D-5E31-498F-8571-54F83F902BFF}"/>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Customer discovery</a:t>
            </a:r>
          </a:p>
        </p:txBody>
      </p:sp>
      <p:sp>
        <p:nvSpPr>
          <p:cNvPr id="7" name="">
            <a:extLst xmlns:a="http://schemas.openxmlformats.org/drawingml/2006/main">
              <a:ext uri="{FF2B5EF4-FFF2-40B4-BE49-F238E27FC236}">
                <a16:creationId xmlns:a16="http://schemas.microsoft.com/office/drawing/2014/main" id="{5C8FB72F-4222-41E0-9C8F-E37147CF12FC}"/>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Confirm interview candidates, buying roles and pilot selection criteria.</a:t>
            </a:r>
          </a:p>
        </p:txBody>
      </p:sp>
      <p:sp>
        <p:nvSpPr>
          <p:cNvPr id="8" name="">
            <a:extLst xmlns:a="http://schemas.openxmlformats.org/drawingml/2006/main">
              <a:ext uri="{FF2B5EF4-FFF2-40B4-BE49-F238E27FC236}">
                <a16:creationId xmlns:a16="http://schemas.microsoft.com/office/drawing/2014/main" id="{0CFB568B-BE65-4F0F-9728-7E190863E69E}"/>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External validation</a:t>
            </a:r>
          </a:p>
        </p:txBody>
      </p:sp>
      <p:sp>
        <p:nvSpPr>
          <p:cNvPr id="9" name="">
            <a:extLst xmlns:a="http://schemas.openxmlformats.org/drawingml/2006/main">
              <a:ext uri="{FF2B5EF4-FFF2-40B4-BE49-F238E27FC236}">
                <a16:creationId xmlns:a16="http://schemas.microsoft.com/office/drawing/2014/main" id="{27F5DC89-ACA6-4821-8B4B-48B908E0F085}"/>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Resolve provider terms, processing roles and model licences before the relevant commitment.</a:t>
            </a:r>
          </a:p>
        </p:txBody>
      </p:sp>
      <p:sp>
        <p:nvSpPr>
          <p:cNvPr id="10" name="">
            <a:extLst xmlns:a="http://schemas.openxmlformats.org/drawingml/2006/main">
              <a:ext uri="{FF2B5EF4-FFF2-40B4-BE49-F238E27FC236}">
                <a16:creationId xmlns:a16="http://schemas.microsoft.com/office/drawing/2014/main" id="{B29C6DC6-7154-471A-8C44-FE2E23665C27}"/>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53</a:t>
            </a:r>
          </a:p>
        </p:txBody>
      </p:sp>
    </p:spTree>
    <p:extLst>
      <p:ext uri="{BB962C8B-B14F-4D97-AF65-F5344CB8AC3E}">
        <p14:creationId xmlns:p14="http://schemas.microsoft.com/office/powerpoint/2010/main" val="483064119"/>
      </p:ext>
    </p:extLst>
  </p:cSld>
</p:sld>
</file>

<file path=ppt/slides/slide54.xml><?xml version="1.0" encoding="utf-8"?>
<p:sld xmlns:p="http://schemas.openxmlformats.org/presentationml/2006/main">
  <p:cSld>
    <p:bg>
      <p:bgPr>
        <a:solidFill xmlns:a="http://schemas.openxmlformats.org/drawingml/2006/main">
          <a:srgbClr val="10293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96FE2DCF-7455-43F5-9000-813B5A012E1D}"/>
              </a:ext>
            </a:extLst>
          </p:cNvPr>
          <p:cNvSpPr>
            <a:spLocks xmlns:a="http://schemas.openxmlformats.org/drawingml/2006/main" noGrp="1"/>
          </p:cNvSpPr>
          <p:nvPr/>
        </p:nvSpPr>
        <p:spPr>
          <a:xfrm xmlns:a="http://schemas.openxmlformats.org/drawingml/2006/main">
            <a:off x="685800" y="147637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Technical reference</a:t>
            </a:r>
          </a:p>
        </p:txBody>
      </p:sp>
      <p:sp>
        <p:nvSpPr>
          <p:cNvPr id="2" name="">
            <a:extLst xmlns:a="http://schemas.openxmlformats.org/drawingml/2006/main">
              <a:ext uri="{FF2B5EF4-FFF2-40B4-BE49-F238E27FC236}">
                <a16:creationId xmlns:a16="http://schemas.microsoft.com/office/drawing/2014/main" id="{914B8440-B81B-4B13-9290-112CC4791BB3}"/>
              </a:ext>
            </a:extLst>
          </p:cNvPr>
          <p:cNvSpPr>
            <a:spLocks xmlns:a="http://schemas.openxmlformats.org/drawingml/2006/main" noGrp="1"/>
          </p:cNvSpPr>
          <p:nvPr/>
        </p:nvSpPr>
        <p:spPr>
          <a:xfrm xmlns:a="http://schemas.openxmlformats.org/drawingml/2006/main">
            <a:off x="723900" y="27432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A9E0DF"/>
                </a:solidFill>
                <a:latin typeface="Arial"/>
                <a:ea typeface="Arial"/>
                <a:cs typeface="Arial"/>
              </a:defRPr>
            </a:pPr>
            <a:r>
              <a:rPr sz="2850" b="0">
                <a:solidFill>
                  <a:srgbClr val="A9E0DF"/>
                </a:solidFill>
                <a:latin typeface="Arial"/>
                <a:ea typeface="Arial"/>
                <a:cs typeface="Arial"/>
              </a:rPr>
              <a:t>Architecture continuity and implementation detail</a:t>
            </a:r>
          </a:p>
        </p:txBody>
      </p:sp>
      <p:sp>
        <p:nvSpPr>
          <p:cNvPr id="3" name="">
            <a:extLst xmlns:a="http://schemas.openxmlformats.org/drawingml/2006/main">
              <a:ext uri="{FF2B5EF4-FFF2-40B4-BE49-F238E27FC236}">
                <a16:creationId xmlns:a16="http://schemas.microsoft.com/office/drawing/2014/main" id="{7525EDBC-F130-4820-B88A-C3B4066B44D3}"/>
              </a:ext>
            </a:extLst>
          </p:cNvPr>
          <p:cNvSpPr>
            <a:spLocks xmlns:a="http://schemas.openxmlformats.org/drawingml/2006/main" noGrp="1"/>
          </p:cNvSpPr>
          <p:nvPr/>
        </p:nvSpPr>
        <p:spPr>
          <a:xfrm xmlns:a="http://schemas.openxmlformats.org/drawingml/2006/main">
            <a:off x="723900" y="4610100"/>
            <a:ext cx="1047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Appendix for team discussion and follow-up</a:t>
            </a:r>
          </a:p>
          <a:p xmlns:a="http://schemas.openxmlformats.org/drawingml/2006/main">
            <a:pPr>
              <a:defRPr sz="1875" b="0">
                <a:solidFill>
                  <a:srgbClr val="D0DDE3"/>
                </a:solidFill>
                <a:latin typeface="Arial"/>
                <a:ea typeface="Arial"/>
                <a:cs typeface="Arial"/>
              </a:defRPr>
            </a:pPr>
            <a:r>
              <a:rPr sz="1875" b="0">
                <a:solidFill>
                  <a:srgbClr val="D0DDE3"/>
                </a:solidFill>
                <a:latin typeface="Arial"/>
                <a:ea typeface="Arial"/>
                <a:cs typeface="Arial"/>
              </a:rPr>
              <a:t>Detailed source extracts appear in speaker notes</a:t>
            </a:r>
          </a:p>
        </p:txBody>
      </p:sp>
    </p:spTree>
    <p:extLst>
      <p:ext uri="{BB962C8B-B14F-4D97-AF65-F5344CB8AC3E}">
        <p14:creationId xmlns:p14="http://schemas.microsoft.com/office/powerpoint/2010/main" val="2046912257"/>
      </p:ext>
    </p:extLst>
  </p:cSld>
</p:sld>
</file>

<file path=ppt/slides/slide55.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C023AD3-FC0E-4F49-80E3-29D4DE05E4F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Architecture layers 1–7</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Original layer</a:t>
                      </a:r>
                    </a:p>
                  </a:txBody>
                  <a:tcPr marL="91440" marR="91440" marT="45720" marB="45720">
                    <a:solidFill>
                      <a:srgbClr val="102938"/>
                    </a:solidFill>
                  </a:tcPr>
                </a:tc>
                <a:tc>
                  <a:txBody>
                    <a:bodyPr/>
                    <a:lstStyle/>
                    <a:p>
                      <a:r>
                        <a:rPr sz="1800" b="1">
                          <a:solidFill>
                            <a:srgbClr val="FFFFFF"/>
                          </a:solidFill>
                          <a:latin typeface="Arial"/>
                          <a:ea typeface="Arial"/>
                          <a:cs typeface="Arial"/>
                        </a:rPr>
                        <a:t>Current destination</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1  Training UI</a:t>
                      </a:r>
                    </a:p>
                  </a:txBody>
                  <a:tcPr marL="91440" marR="91440" marT="45720" marB="45720">
                    <a:solidFill>
                      <a:srgbClr val="FFFFFF"/>
                    </a:solidFill>
                  </a:tcPr>
                </a:tc>
                <a:tc>
                  <a:txBody>
                    <a:bodyPr/>
                    <a:lstStyle/>
                    <a:p>
                      <a:r>
                        <a:rPr sz="1800" b="0">
                          <a:solidFill>
                            <a:srgbClr val="142C3E"/>
                          </a:solidFill>
                          <a:latin typeface="Arial"/>
                          <a:ea typeface="Arial"/>
                          <a:cs typeface="Arial"/>
                        </a:rPr>
                        <a:t>Human Firewall with accessible web delivery</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2  Agent orchestration</a:t>
                      </a:r>
                    </a:p>
                  </a:txBody>
                  <a:tcPr marL="91440" marR="91440" marT="45720" marB="45720">
                    <a:solidFill>
                      <a:srgbClr val="EEF3F5"/>
                    </a:solidFill>
                  </a:tcPr>
                </a:tc>
                <a:tc>
                  <a:txBody>
                    <a:bodyPr/>
                    <a:lstStyle/>
                    <a:p>
                      <a:r>
                        <a:rPr sz="1800" b="0">
                          <a:solidFill>
                            <a:srgbClr val="142C3E"/>
                          </a:solidFill>
                          <a:latin typeface="Arial"/>
                          <a:ea typeface="Arial"/>
                          <a:cs typeface="Arial"/>
                        </a:rPr>
                        <a:t>Internal workflows, then Agent Security</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3–4  Models and local SLMs</a:t>
                      </a:r>
                    </a:p>
                  </a:txBody>
                  <a:tcPr marL="91440" marR="91440" marT="45720" marB="45720">
                    <a:solidFill>
                      <a:srgbClr val="FFFFFF"/>
                    </a:solidFill>
                  </a:tcPr>
                </a:tc>
                <a:tc>
                  <a:txBody>
                    <a:bodyPr/>
                    <a:lstStyle/>
                    <a:p>
                      <a:r>
                        <a:rPr sz="1800" b="0">
                          <a:solidFill>
                            <a:srgbClr val="142C3E"/>
                          </a:solidFill>
                          <a:latin typeface="Arial"/>
                          <a:ea typeface="Arial"/>
                          <a:cs typeface="Arial"/>
                        </a:rPr>
                        <a:t>Evaluated model adapters and edge inference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5  SNA / UEBA</a:t>
                      </a:r>
                    </a:p>
                  </a:txBody>
                  <a:tcPr marL="91440" marR="91440" marT="45720" marB="45720">
                    <a:solidFill>
                      <a:srgbClr val="EEF3F5"/>
                    </a:solidFill>
                  </a:tcPr>
                </a:tc>
                <a:tc>
                  <a:txBody>
                    <a:bodyPr/>
                    <a:lstStyle/>
                    <a:p>
                      <a:r>
                        <a:rPr sz="1800" b="0">
                          <a:solidFill>
                            <a:srgbClr val="142C3E"/>
                          </a:solidFill>
                          <a:latin typeface="Arial"/>
                          <a:ea typeface="Arial"/>
                          <a:cs typeface="Arial"/>
                        </a:rPr>
                        <a:t>Security Operations research and shadow mode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6–7  XAI and adversarial generation</a:t>
                      </a:r>
                    </a:p>
                  </a:txBody>
                  <a:tcPr marL="91440" marR="91440" marT="45720" marB="45720">
                    <a:solidFill>
                      <a:srgbClr val="FFFFFF"/>
                    </a:solidFill>
                  </a:tcPr>
                </a:tc>
                <a:tc>
                  <a:txBody>
                    <a:bodyPr/>
                    <a:lstStyle/>
                    <a:p>
                      <a:r>
                        <a:rPr sz="1800" b="0">
                          <a:solidFill>
                            <a:srgbClr val="142C3E"/>
                          </a:solidFill>
                          <a:latin typeface="Arial"/>
                          <a:ea typeface="Arial"/>
                          <a:cs typeface="Arial"/>
                        </a:rPr>
                        <a:t>Evidence-based explanation and controlled validation</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383EA47B-2A36-4222-8672-42C6F0616A1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55</a:t>
            </a:r>
          </a:p>
        </p:txBody>
      </p:sp>
    </p:spTree>
    <p:extLst>
      <p:ext uri="{BB962C8B-B14F-4D97-AF65-F5344CB8AC3E}">
        <p14:creationId xmlns:p14="http://schemas.microsoft.com/office/powerpoint/2010/main" val="2049865784"/>
      </p:ext>
    </p:extLst>
  </p:cSld>
</p:sld>
</file>

<file path=ppt/slides/slide56.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7ED8333-1204-48B8-B595-9A8E58CA610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Architecture layers 8–13</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Original layer</a:t>
                      </a:r>
                    </a:p>
                  </a:txBody>
                  <a:tcPr marL="91440" marR="91440" marT="45720" marB="45720">
                    <a:solidFill>
                      <a:srgbClr val="102938"/>
                    </a:solidFill>
                  </a:tcPr>
                </a:tc>
                <a:tc>
                  <a:txBody>
                    <a:bodyPr/>
                    <a:lstStyle/>
                    <a:p>
                      <a:r>
                        <a:rPr sz="1800" b="1">
                          <a:solidFill>
                            <a:srgbClr val="FFFFFF"/>
                          </a:solidFill>
                          <a:latin typeface="Arial"/>
                          <a:ea typeface="Arial"/>
                          <a:cs typeface="Arial"/>
                        </a:rPr>
                        <a:t>Current destination</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8  Workflow automation</a:t>
                      </a:r>
                    </a:p>
                  </a:txBody>
                  <a:tcPr marL="91440" marR="91440" marT="45720" marB="45720">
                    <a:solidFill>
                      <a:srgbClr val="FFFFFF"/>
                    </a:solidFill>
                  </a:tcPr>
                </a:tc>
                <a:tc>
                  <a:txBody>
                    <a:bodyPr/>
                    <a:lstStyle/>
                    <a:p>
                      <a:r>
                        <a:rPr sz="1800" b="0">
                          <a:solidFill>
                            <a:srgbClr val="142C3E"/>
                          </a:solidFill>
                          <a:latin typeface="Arial"/>
                          <a:ea typeface="Arial"/>
                          <a:cs typeface="Arial"/>
                        </a:rPr>
                        <a:t>Persistent jobs and reviewed actions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9–10  Observability and privacy</a:t>
                      </a:r>
                    </a:p>
                  </a:txBody>
                  <a:tcPr marL="91440" marR="91440" marT="45720" marB="45720">
                    <a:solidFill>
                      <a:srgbClr val="EEF3F5"/>
                    </a:solidFill>
                  </a:tcPr>
                </a:tc>
                <a:tc>
                  <a:txBody>
                    <a:bodyPr/>
                    <a:lstStyle/>
                    <a:p>
                      <a:r>
                        <a:rPr sz="1800" b="0">
                          <a:solidFill>
                            <a:srgbClr val="142C3E"/>
                          </a:solidFill>
                          <a:latin typeface="Arial"/>
                          <a:ea typeface="Arial"/>
                          <a:cs typeface="Arial"/>
                        </a:rPr>
                        <a:t>Shared platform from the first release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11  Integrations</a:t>
                      </a:r>
                    </a:p>
                  </a:txBody>
                  <a:tcPr marL="91440" marR="91440" marT="45720" marB="45720">
                    <a:solidFill>
                      <a:srgbClr val="FFFFFF"/>
                    </a:solidFill>
                  </a:tcPr>
                </a:tc>
                <a:tc>
                  <a:txBody>
                    <a:bodyPr/>
                    <a:lstStyle/>
                    <a:p>
                      <a:r>
                        <a:rPr sz="1800" b="0">
                          <a:solidFill>
                            <a:srgbClr val="142C3E"/>
                          </a:solidFill>
                          <a:latin typeface="Arial"/>
                          <a:ea typeface="Arial"/>
                          <a:cs typeface="Arial"/>
                        </a:rPr>
                        <a:t>Versioned adapters and conformance tests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12  Defense Box</a:t>
                      </a:r>
                    </a:p>
                  </a:txBody>
                  <a:tcPr marL="91440" marR="91440" marT="45720" marB="45720">
                    <a:solidFill>
                      <a:srgbClr val="EEF3F5"/>
                    </a:solidFill>
                  </a:tcPr>
                </a:tc>
                <a:tc>
                  <a:txBody>
                    <a:bodyPr/>
                    <a:lstStyle/>
                    <a:p>
                      <a:r>
                        <a:rPr sz="1800" b="0">
                          <a:solidFill>
                            <a:srgbClr val="142C3E"/>
                          </a:solidFill>
                          <a:latin typeface="Arial"/>
                          <a:ea typeface="Arial"/>
                          <a:cs typeface="Arial"/>
                        </a:rPr>
                        <a:t>Software appliance before custom hardware</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13  Desktop integration</a:t>
                      </a:r>
                    </a:p>
                  </a:txBody>
                  <a:tcPr marL="91440" marR="91440" marT="45720" marB="45720">
                    <a:solidFill>
                      <a:srgbClr val="FFFFFF"/>
                    </a:solidFill>
                  </a:tcPr>
                </a:tc>
                <a:tc>
                  <a:txBody>
                    <a:bodyPr/>
                    <a:lstStyle/>
                    <a:p>
                      <a:r>
                        <a:rPr sz="1800" b="0">
                          <a:solidFill>
                            <a:srgbClr val="142C3E"/>
                          </a:solidFill>
                          <a:latin typeface="Arial"/>
                          <a:ea typeface="Arial"/>
                          <a:cs typeface="Arial"/>
                        </a:rPr>
                        <a:t>Edge service first, shell if needed</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592027B-E62C-42E1-BDD4-5876874BC29D}"/>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56</a:t>
            </a:r>
          </a:p>
        </p:txBody>
      </p:sp>
    </p:spTree>
    <p:extLst>
      <p:ext uri="{BB962C8B-B14F-4D97-AF65-F5344CB8AC3E}">
        <p14:creationId xmlns:p14="http://schemas.microsoft.com/office/powerpoint/2010/main" val="1525404084"/>
      </p:ext>
    </p:extLst>
  </p:cSld>
</p:sld>
</file>

<file path=ppt/slides/slide57.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DA4C01B-D9D6-42CA-A11E-1A6490DE75C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The five original integrated products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Original squad product</a:t>
                      </a:r>
                    </a:p>
                  </a:txBody>
                  <a:tcPr marL="91440" marR="91440" marT="45720" marB="45720">
                    <a:solidFill>
                      <a:srgbClr val="102938"/>
                    </a:solidFill>
                  </a:tcPr>
                </a:tc>
                <a:tc>
                  <a:txBody>
                    <a:bodyPr/>
                    <a:lstStyle/>
                    <a:p>
                      <a:r>
                        <a:rPr sz="1800" b="1">
                          <a:solidFill>
                            <a:srgbClr val="FFFFFF"/>
                          </a:solidFill>
                          <a:latin typeface="Arial"/>
                          <a:ea typeface="Arial"/>
                          <a:cs typeface="Arial"/>
                        </a:rPr>
                        <a:t>Revised destination</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Intelligent Training System</a:t>
                      </a:r>
                    </a:p>
                  </a:txBody>
                  <a:tcPr marL="91440" marR="91440" marT="45720" marB="45720">
                    <a:solidFill>
                      <a:srgbClr val="FFFFFF"/>
                    </a:solidFill>
                  </a:tcPr>
                </a:tc>
                <a:tc>
                  <a:txBody>
                    <a:bodyPr/>
                    <a:lstStyle/>
                    <a:p>
                      <a:r>
                        <a:rPr sz="1800" b="0">
                          <a:solidFill>
                            <a:srgbClr val="142C3E"/>
                          </a:solidFill>
                          <a:latin typeface="Arial"/>
                          <a:ea typeface="Arial"/>
                          <a:cs typeface="Arial"/>
                        </a:rPr>
                        <a:t>Human Firewall without compulsory UEBA scoring</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Adversarial Testing Platform</a:t>
                      </a:r>
                    </a:p>
                  </a:txBody>
                  <a:tcPr marL="91440" marR="91440" marT="45720" marB="45720">
                    <a:solidFill>
                      <a:srgbClr val="EEF3F5"/>
                    </a:solidFill>
                  </a:tcPr>
                </a:tc>
                <a:tc>
                  <a:txBody>
                    <a:bodyPr/>
                    <a:lstStyle/>
                    <a:p>
                      <a:r>
                        <a:rPr sz="1800" b="0">
                          <a:solidFill>
                            <a:srgbClr val="142C3E"/>
                          </a:solidFill>
                          <a:latin typeface="Arial"/>
                          <a:ea typeface="Arial"/>
                          <a:cs typeface="Arial"/>
                        </a:rPr>
                        <a:t>Defense Box and Validation</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Privacy-First Analytics</a:t>
                      </a:r>
                    </a:p>
                  </a:txBody>
                  <a:tcPr marL="91440" marR="91440" marT="45720" marB="45720">
                    <a:solidFill>
                      <a:srgbClr val="FFFFFF"/>
                    </a:solidFill>
                  </a:tcPr>
                </a:tc>
                <a:tc>
                  <a:txBody>
                    <a:bodyPr/>
                    <a:lstStyle/>
                    <a:p>
                      <a:r>
                        <a:rPr sz="1800" b="0">
                          <a:solidFill>
                            <a:srgbClr val="142C3E"/>
                          </a:solidFill>
                          <a:latin typeface="Arial"/>
                          <a:ea typeface="Arial"/>
                          <a:cs typeface="Arial"/>
                        </a:rPr>
                        <a:t>Local detection plus conditional federation research</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Enterprise Integration Hub</a:t>
                      </a:r>
                    </a:p>
                  </a:txBody>
                  <a:tcPr marL="91440" marR="91440" marT="45720" marB="45720">
                    <a:solidFill>
                      <a:srgbClr val="EEF3F5"/>
                    </a:solidFill>
                  </a:tcPr>
                </a:tc>
                <a:tc>
                  <a:txBody>
                    <a:bodyPr/>
                    <a:lstStyle/>
                    <a:p>
                      <a:r>
                        <a:rPr sz="1800" b="0">
                          <a:solidFill>
                            <a:srgbClr val="142C3E"/>
                          </a:solidFill>
                          <a:latin typeface="Arial"/>
                          <a:ea typeface="Arial"/>
                          <a:cs typeface="Arial"/>
                        </a:rPr>
                        <a:t>Shared adapters, approvals and response workflows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Desktop Security Assistant</a:t>
                      </a:r>
                    </a:p>
                  </a:txBody>
                  <a:tcPr marL="91440" marR="91440" marT="45720" marB="45720">
                    <a:solidFill>
                      <a:srgbClr val="FFFFFF"/>
                    </a:solidFill>
                  </a:tcPr>
                </a:tc>
                <a:tc>
                  <a:txBody>
                    <a:bodyPr/>
                    <a:lstStyle/>
                    <a:p>
                      <a:r>
                        <a:rPr sz="1800" b="0">
                          <a:solidFill>
                            <a:srgbClr val="142C3E"/>
                          </a:solidFill>
                          <a:latin typeface="Arial"/>
                          <a:ea typeface="Arial"/>
                          <a:cs typeface="Arial"/>
                        </a:rPr>
                        <a:t>Edge/local AI in Defense Box and Agent Security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124FC1E-9AAD-4B86-B7F9-C3A08028276C}"/>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57</a:t>
            </a:r>
          </a:p>
        </p:txBody>
      </p:sp>
    </p:spTree>
    <p:extLst>
      <p:ext uri="{BB962C8B-B14F-4D97-AF65-F5344CB8AC3E}">
        <p14:creationId xmlns:p14="http://schemas.microsoft.com/office/powerpoint/2010/main" val="992192055"/>
      </p:ext>
    </p:extLst>
  </p:cSld>
</p:sld>
</file>

<file path=ppt/slides/slide58.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8BD9FA1-AAD2-47E2-803B-116E105DB46B}"/>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Longer-term capabilities remain in scope</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Capability</a:t>
                      </a:r>
                    </a:p>
                  </a:txBody>
                  <a:tcPr marL="91440" marR="91440" marT="45720" marB="45720">
                    <a:solidFill>
                      <a:srgbClr val="102938"/>
                    </a:solidFill>
                  </a:tcPr>
                </a:tc>
                <a:tc>
                  <a:txBody>
                    <a:bodyPr/>
                    <a:lstStyle/>
                    <a:p>
                      <a:r>
                        <a:rPr sz="1800" b="1">
                          <a:solidFill>
                            <a:srgbClr val="FFFFFF"/>
                          </a:solidFill>
                          <a:latin typeface="Arial"/>
                          <a:ea typeface="Arial"/>
                          <a:cs typeface="Arial"/>
                        </a:rPr>
                        <a:t>Entry condition</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Federated intelligence</a:t>
                      </a:r>
                    </a:p>
                  </a:txBody>
                  <a:tcPr marL="91440" marR="91440" marT="45720" marB="45720">
                    <a:solidFill>
                      <a:srgbClr val="FFFFFF"/>
                    </a:solidFill>
                  </a:tcPr>
                </a:tc>
                <a:tc>
                  <a:txBody>
                    <a:bodyPr/>
                    <a:lstStyle/>
                    <a:p>
                      <a:r>
                        <a:rPr sz="1800" b="0">
                          <a:solidFill>
                            <a:srgbClr val="142C3E"/>
                          </a:solidFill>
                          <a:latin typeface="Arial"/>
                          <a:ea typeface="Arial"/>
                          <a:cs typeface="Arial"/>
                        </a:rPr>
                        <a:t>Useful local models, participants and privacy controls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Industrial / IoT monitoring</a:t>
                      </a:r>
                    </a:p>
                  </a:txBody>
                  <a:tcPr marL="91440" marR="91440" marT="45720" marB="45720">
                    <a:solidFill>
                      <a:srgbClr val="EEF3F5"/>
                    </a:solidFill>
                  </a:tcPr>
                </a:tc>
                <a:tc>
                  <a:txBody>
                    <a:bodyPr/>
                    <a:lstStyle/>
                    <a:p>
                      <a:r>
                        <a:rPr sz="1800" b="0">
                          <a:solidFill>
                            <a:srgbClr val="142C3E"/>
                          </a:solidFill>
                          <a:latin typeface="Arial"/>
                          <a:ea typeface="Arial"/>
                          <a:cs typeface="Arial"/>
                        </a:rPr>
                        <a:t>Passive lab evidence and an operator-sponsored safe pilot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Insurance evidence</a:t>
                      </a:r>
                    </a:p>
                  </a:txBody>
                  <a:tcPr marL="91440" marR="91440" marT="45720" marB="45720">
                    <a:solidFill>
                      <a:srgbClr val="FFFFFF"/>
                    </a:solidFill>
                  </a:tcPr>
                </a:tc>
                <a:tc>
                  <a:txBody>
                    <a:bodyPr/>
                    <a:lstStyle/>
                    <a:p>
                      <a:r>
                        <a:rPr sz="1800" b="0">
                          <a:solidFill>
                            <a:srgbClr val="142C3E"/>
                          </a:solidFill>
                          <a:latin typeface="Arial"/>
                          <a:ea typeface="Arial"/>
                          <a:cs typeface="Arial"/>
                        </a:rPr>
                        <a:t>Partner demand and permitted evidence exchange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Lusophone expansion</a:t>
                      </a:r>
                    </a:p>
                  </a:txBody>
                  <a:tcPr marL="91440" marR="91440" marT="45720" marB="45720">
                    <a:solidFill>
                      <a:srgbClr val="EEF3F5"/>
                    </a:solidFill>
                  </a:tcPr>
                </a:tc>
                <a:tc>
                  <a:txBody>
                    <a:bodyPr/>
                    <a:lstStyle/>
                    <a:p>
                      <a:r>
                        <a:rPr sz="1800" b="0">
                          <a:solidFill>
                            <a:srgbClr val="142C3E"/>
                          </a:solidFill>
                          <a:latin typeface="Arial"/>
                          <a:ea typeface="Arial"/>
                          <a:cs typeface="Arial"/>
                        </a:rPr>
                        <a:t>Portuguese retention and support economics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Advanced automation</a:t>
                      </a:r>
                    </a:p>
                  </a:txBody>
                  <a:tcPr marL="91440" marR="91440" marT="45720" marB="45720">
                    <a:solidFill>
                      <a:srgbClr val="FFFFFF"/>
                    </a:solidFill>
                  </a:tcPr>
                </a:tc>
                <a:tc>
                  <a:txBody>
                    <a:bodyPr/>
                    <a:lstStyle/>
                    <a:p>
                      <a:r>
                        <a:rPr sz="1800" b="0">
                          <a:solidFill>
                            <a:srgbClr val="142C3E"/>
                          </a:solidFill>
                          <a:latin typeface="Arial"/>
                          <a:ea typeface="Arial"/>
                          <a:cs typeface="Arial"/>
                        </a:rPr>
                        <a:t>Measured benefit with bounded authority and rollback</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C0A7B33F-3A7A-464D-BDE4-80858E79369C}"/>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58</a:t>
            </a:r>
          </a:p>
        </p:txBody>
      </p:sp>
    </p:spTree>
    <p:extLst>
      <p:ext uri="{BB962C8B-B14F-4D97-AF65-F5344CB8AC3E}">
        <p14:creationId xmlns:p14="http://schemas.microsoft.com/office/powerpoint/2010/main" val="119781581"/>
      </p:ext>
    </p:extLst>
  </p:cSld>
</p:sld>
</file>

<file path=ppt/slides/slide59.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D3377B2-0F8E-4506-8B4D-56CD7010368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Default data retention</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Data</a:t>
                      </a:r>
                    </a:p>
                  </a:txBody>
                  <a:tcPr marL="91440" marR="91440" marT="45720" marB="45720">
                    <a:solidFill>
                      <a:srgbClr val="102938"/>
                    </a:solidFill>
                  </a:tcPr>
                </a:tc>
                <a:tc>
                  <a:txBody>
                    <a:bodyPr/>
                    <a:lstStyle/>
                    <a:p>
                      <a:r>
                        <a:rPr sz="1800" b="1">
                          <a:solidFill>
                            <a:srgbClr val="FFFFFF"/>
                          </a:solidFill>
                          <a:latin typeface="Arial"/>
                          <a:ea typeface="Arial"/>
                          <a:cs typeface="Arial"/>
                        </a:rPr>
                        <a:t>Planning default</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Local metadata buffer</a:t>
                      </a:r>
                    </a:p>
                  </a:txBody>
                  <a:tcPr marL="91440" marR="91440" marT="45720" marB="45720">
                    <a:solidFill>
                      <a:srgbClr val="FFFFFF"/>
                    </a:solidFill>
                  </a:tcPr>
                </a:tc>
                <a:tc>
                  <a:txBody>
                    <a:bodyPr/>
                    <a:lstStyle/>
                    <a:p>
                      <a:r>
                        <a:rPr sz="1800" b="0">
                          <a:solidFill>
                            <a:srgbClr val="142C3E"/>
                          </a:solidFill>
                          <a:latin typeface="Arial"/>
                          <a:ea typeface="Arial"/>
                          <a:cs typeface="Arial"/>
                        </a:rPr>
                        <a:t>Seven days with a size cap</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Operational observations</a:t>
                      </a:r>
                    </a:p>
                  </a:txBody>
                  <a:tcPr marL="91440" marR="91440" marT="45720" marB="45720">
                    <a:solidFill>
                      <a:srgbClr val="EEF3F5"/>
                    </a:solidFill>
                  </a:tcPr>
                </a:tc>
                <a:tc>
                  <a:txBody>
                    <a:bodyPr/>
                    <a:lstStyle/>
                    <a:p>
                      <a:r>
                        <a:rPr sz="1800" b="0">
                          <a:solidFill>
                            <a:srgbClr val="142C3E"/>
                          </a:solidFill>
                          <a:latin typeface="Arial"/>
                          <a:ea typeface="Arial"/>
                          <a:cs typeface="Arial"/>
                        </a:rPr>
                        <a:t>30 days in the customer stack</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Findings, audit and learning outcomes</a:t>
                      </a:r>
                    </a:p>
                  </a:txBody>
                  <a:tcPr marL="91440" marR="91440" marT="45720" marB="45720">
                    <a:solidFill>
                      <a:srgbClr val="FFFFFF"/>
                    </a:solidFill>
                  </a:tcPr>
                </a:tc>
                <a:tc>
                  <a:txBody>
                    <a:bodyPr/>
                    <a:lstStyle/>
                    <a:p>
                      <a:r>
                        <a:rPr sz="1800" b="0">
                          <a:solidFill>
                            <a:srgbClr val="142C3E"/>
                          </a:solidFill>
                          <a:latin typeface="Arial"/>
                          <a:ea typeface="Arial"/>
                          <a:cs typeface="Arial"/>
                        </a:rPr>
                        <a:t>180 days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Raw packet payload</a:t>
                      </a:r>
                    </a:p>
                  </a:txBody>
                  <a:tcPr marL="91440" marR="91440" marT="45720" marB="45720">
                    <a:solidFill>
                      <a:srgbClr val="EEF3F5"/>
                    </a:solidFill>
                  </a:tcPr>
                </a:tc>
                <a:tc>
                  <a:txBody>
                    <a:bodyPr/>
                    <a:lstStyle/>
                    <a:p>
                      <a:r>
                        <a:rPr sz="1800" b="0">
                          <a:solidFill>
                            <a:srgbClr val="142C3E"/>
                          </a:solidFill>
                          <a:latin typeface="Arial"/>
                          <a:ea typeface="Arial"/>
                          <a:cs typeface="Arial"/>
                        </a:rPr>
                        <a:t>Disabled by default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Encrypted backups</a:t>
                      </a:r>
                    </a:p>
                  </a:txBody>
                  <a:tcPr marL="91440" marR="91440" marT="45720" marB="45720">
                    <a:solidFill>
                      <a:srgbClr val="FFFFFF"/>
                    </a:solidFill>
                  </a:tcPr>
                </a:tc>
                <a:tc>
                  <a:txBody>
                    <a:bodyPr/>
                    <a:lstStyle/>
                    <a:p>
                      <a:r>
                        <a:rPr sz="1800" b="0">
                          <a:solidFill>
                            <a:srgbClr val="142C3E"/>
                          </a:solidFill>
                          <a:latin typeface="Arial"/>
                          <a:ea typeface="Arial"/>
                          <a:cs typeface="Arial"/>
                        </a:rPr>
                        <a:t>30-day rolling expiry with deletion replay</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28FFB47-8FCC-4950-8F62-A599829C1301}"/>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These are adjustable product defaults, not statutory retention periods.</a:t>
            </a:r>
          </a:p>
        </p:txBody>
      </p:sp>
      <p:sp>
        <p:nvSpPr>
          <p:cNvPr id="4" name="">
            <a:extLst xmlns:a="http://schemas.openxmlformats.org/drawingml/2006/main">
              <a:ext uri="{FF2B5EF4-FFF2-40B4-BE49-F238E27FC236}">
                <a16:creationId xmlns:a16="http://schemas.microsoft.com/office/drawing/2014/main" id="{44FE85CD-D666-48A0-915C-12FF08617780}"/>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59</a:t>
            </a:r>
          </a:p>
        </p:txBody>
      </p:sp>
    </p:spTree>
    <p:extLst>
      <p:ext uri="{BB962C8B-B14F-4D97-AF65-F5344CB8AC3E}">
        <p14:creationId xmlns:p14="http://schemas.microsoft.com/office/powerpoint/2010/main" val="35006844"/>
      </p:ext>
    </p:extLst>
  </p:cSld>
</p:sld>
</file>

<file path=ppt/slides/slide60.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C51F02B-E279-4C2A-9D22-FB2C0AC08A39}"/>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Contract and failure tests</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Scenario</a:t>
                      </a:r>
                    </a:p>
                  </a:txBody>
                  <a:tcPr marL="91440" marR="91440" marT="45720" marB="45720">
                    <a:solidFill>
                      <a:srgbClr val="102938"/>
                    </a:solidFill>
                  </a:tcPr>
                </a:tc>
                <a:tc>
                  <a:txBody>
                    <a:bodyPr/>
                    <a:lstStyle/>
                    <a:p>
                      <a:r>
                        <a:rPr sz="1800" b="1">
                          <a:solidFill>
                            <a:srgbClr val="FFFFFF"/>
                          </a:solidFill>
                          <a:latin typeface="Arial"/>
                          <a:ea typeface="Arial"/>
                          <a:cs typeface="Arial"/>
                        </a:rPr>
                        <a:t>Expected behaviour</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Wrong organisation or revoked identity</a:t>
                      </a:r>
                    </a:p>
                  </a:txBody>
                  <a:tcPr marL="91440" marR="91440" marT="45720" marB="45720">
                    <a:solidFill>
                      <a:srgbClr val="FFFFFF"/>
                    </a:solidFill>
                  </a:tcPr>
                </a:tc>
                <a:tc>
                  <a:txBody>
                    <a:bodyPr/>
                    <a:lstStyle/>
                    <a:p>
                      <a:r>
                        <a:rPr sz="1800" b="0">
                          <a:solidFill>
                            <a:srgbClr val="142C3E"/>
                          </a:solidFill>
                          <a:latin typeface="Arial"/>
                          <a:ea typeface="Arial"/>
                          <a:cs typeface="Arial"/>
                        </a:rPr>
                        <a:t>Deny access, including nested evidence references</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Duplicate, late or unsupported event</a:t>
                      </a:r>
                    </a:p>
                  </a:txBody>
                  <a:tcPr marL="91440" marR="91440" marT="45720" marB="45720">
                    <a:solidFill>
                      <a:srgbClr val="EEF3F5"/>
                    </a:solidFill>
                  </a:tcPr>
                </a:tc>
                <a:tc>
                  <a:txBody>
                    <a:bodyPr/>
                    <a:lstStyle/>
                    <a:p>
                      <a:r>
                        <a:rPr sz="1800" b="0">
                          <a:solidFill>
                            <a:srgbClr val="142C3E"/>
                          </a:solidFill>
                          <a:latin typeface="Arial"/>
                          <a:ea typeface="Arial"/>
                          <a:cs typeface="Arial"/>
                        </a:rPr>
                        <a:t>Deduplicate, preserve timing or reject explicitly</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Expired or changed approval</a:t>
                      </a:r>
                    </a:p>
                  </a:txBody>
                  <a:tcPr marL="91440" marR="91440" marT="45720" marB="45720">
                    <a:solidFill>
                      <a:srgbClr val="FFFFFF"/>
                    </a:solidFill>
                  </a:tcPr>
                </a:tc>
                <a:tc>
                  <a:txBody>
                    <a:bodyPr/>
                    <a:lstStyle/>
                    <a:p>
                      <a:r>
                        <a:rPr sz="1800" b="0">
                          <a:solidFill>
                            <a:srgbClr val="142C3E"/>
                          </a:solidFill>
                          <a:latin typeface="Arial"/>
                          <a:ea typeface="Arial"/>
                          <a:cs typeface="Arial"/>
                        </a:rPr>
                        <a:t>Require a new valid approval</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Lost response after side effect</a:t>
                      </a:r>
                    </a:p>
                  </a:txBody>
                  <a:tcPr marL="91440" marR="91440" marT="45720" marB="45720">
                    <a:solidFill>
                      <a:srgbClr val="EEF3F5"/>
                    </a:solidFill>
                  </a:tcPr>
                </a:tc>
                <a:tc>
                  <a:txBody>
                    <a:bodyPr/>
                    <a:lstStyle/>
                    <a:p>
                      <a:r>
                        <a:rPr sz="1800" b="0">
                          <a:solidFill>
                            <a:srgbClr val="142C3E"/>
                          </a:solidFill>
                          <a:latin typeface="Arial"/>
                          <a:ea typeface="Arial"/>
                          <a:cs typeface="Arial"/>
                        </a:rPr>
                        <a:t>Reconcile before retry</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Offline source or stale feed</a:t>
                      </a:r>
                    </a:p>
                  </a:txBody>
                  <a:tcPr marL="91440" marR="91440" marT="45720" marB="45720">
                    <a:solidFill>
                      <a:srgbClr val="FFFFFF"/>
                    </a:solidFill>
                  </a:tcPr>
                </a:tc>
                <a:tc>
                  <a:txBody>
                    <a:bodyPr/>
                    <a:lstStyle/>
                    <a:p>
                      <a:r>
                        <a:rPr sz="1800" b="0">
                          <a:solidFill>
                            <a:srgbClr val="142C3E"/>
                          </a:solidFill>
                          <a:latin typeface="Arial"/>
                          <a:ea typeface="Arial"/>
                          <a:cs typeface="Arial"/>
                        </a:rPr>
                        <a:t>Show uncertainty, last success and loss counters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EFADFE75-AD47-4B89-9BE4-0ED39626B942}"/>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60</a:t>
            </a:r>
          </a:p>
        </p:txBody>
      </p:sp>
    </p:spTree>
    <p:extLst>
      <p:ext uri="{BB962C8B-B14F-4D97-AF65-F5344CB8AC3E}">
        <p14:creationId xmlns:p14="http://schemas.microsoft.com/office/powerpoint/2010/main" val="1620699850"/>
      </p:ext>
    </p:extLst>
  </p:cSld>
</p:sld>
</file>

<file path=ppt/slides/slide61.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6C9A6A0-ED9F-458D-A1A4-80A4E5B7A2C7}"/>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Research promotion record</a:t>
            </a:r>
          </a:p>
        </p:txBody>
      </p:sp>
      <p:graphicFrame>
        <p:nvGraphicFramePr>
          <p:cNvPr id="5"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Evidence item</a:t>
                      </a:r>
                    </a:p>
                  </a:txBody>
                  <a:tcPr marL="91440" marR="91440" marT="45720" marB="45720">
                    <a:solidFill>
                      <a:srgbClr val="102938"/>
                    </a:solidFill>
                  </a:tcPr>
                </a:tc>
                <a:tc>
                  <a:txBody>
                    <a:bodyPr/>
                    <a:lstStyle/>
                    <a:p>
                      <a:r>
                        <a:rPr sz="1800" b="1">
                          <a:solidFill>
                            <a:srgbClr val="FFFFFF"/>
                          </a:solidFill>
                          <a:latin typeface="Arial"/>
                          <a:ea typeface="Arial"/>
                          <a:cs typeface="Arial"/>
                        </a:rPr>
                        <a:t>Required record</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Data and method</a:t>
                      </a:r>
                    </a:p>
                  </a:txBody>
                  <a:tcPr marL="91440" marR="91440" marT="45720" marB="45720">
                    <a:solidFill>
                      <a:srgbClr val="FFFFFF"/>
                    </a:solidFill>
                  </a:tcPr>
                </a:tc>
                <a:tc>
                  <a:txBody>
                    <a:bodyPr/>
                    <a:lstStyle/>
                    <a:p>
                      <a:r>
                        <a:rPr sz="1800" b="0">
                          <a:solidFill>
                            <a:srgbClr val="142C3E"/>
                          </a:solidFill>
                          <a:latin typeface="Arial"/>
                          <a:ea typeface="Arial"/>
                          <a:cs typeface="Arial"/>
                        </a:rPr>
                        <a:t>Provenance, rights, split, labels and baseline</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Reproduction</a:t>
                      </a:r>
                    </a:p>
                  </a:txBody>
                  <a:tcPr marL="91440" marR="91440" marT="45720" marB="45720">
                    <a:solidFill>
                      <a:srgbClr val="EEF3F5"/>
                    </a:solidFill>
                  </a:tcPr>
                </a:tc>
                <a:tc>
                  <a:txBody>
                    <a:bodyPr/>
                    <a:lstStyle/>
                    <a:p>
                      <a:r>
                        <a:rPr sz="1800" b="0">
                          <a:solidFill>
                            <a:srgbClr val="142C3E"/>
                          </a:solidFill>
                          <a:latin typeface="Arial"/>
                          <a:ea typeface="Arial"/>
                          <a:cs typeface="Arial"/>
                        </a:rPr>
                        <a:t>Code, configuration, seed, dependencies and output</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Operational evaluation</a:t>
                      </a:r>
                    </a:p>
                  </a:txBody>
                  <a:tcPr marL="91440" marR="91440" marT="45720" marB="45720">
                    <a:solidFill>
                      <a:srgbClr val="FFFFFF"/>
                    </a:solidFill>
                  </a:tcPr>
                </a:tc>
                <a:tc>
                  <a:txBody>
                    <a:bodyPr/>
                    <a:lstStyle/>
                    <a:p>
                      <a:r>
                        <a:rPr sz="1800" b="0">
                          <a:solidFill>
                            <a:srgbClr val="142C3E"/>
                          </a:solidFill>
                          <a:latin typeface="Arial"/>
                          <a:ea typeface="Arial"/>
                          <a:cs typeface="Arial"/>
                        </a:rPr>
                        <a:t>Cost, failure cases, utility and uncertainty</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Product integration</a:t>
                      </a:r>
                    </a:p>
                  </a:txBody>
                  <a:tcPr marL="91440" marR="91440" marT="45720" marB="45720">
                    <a:solidFill>
                      <a:srgbClr val="EEF3F5"/>
                    </a:solidFill>
                  </a:tcPr>
                </a:tc>
                <a:tc>
                  <a:txBody>
                    <a:bodyPr/>
                    <a:lstStyle/>
                    <a:p>
                      <a:r>
                        <a:rPr sz="1800" b="0">
                          <a:solidFill>
                            <a:srgbClr val="142C3E"/>
                          </a:solidFill>
                          <a:latin typeface="Arial"/>
                          <a:ea typeface="Arial"/>
                          <a:cs typeface="Arial"/>
                        </a:rPr>
                        <a:t>Feature flag, monitoring and rollback</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Approval</a:t>
                      </a:r>
                    </a:p>
                  </a:txBody>
                  <a:tcPr marL="91440" marR="91440" marT="45720" marB="45720">
                    <a:solidFill>
                      <a:srgbClr val="FFFFFF"/>
                    </a:solidFill>
                  </a:tcPr>
                </a:tc>
                <a:tc>
                  <a:txBody>
                    <a:bodyPr/>
                    <a:lstStyle/>
                    <a:p>
                      <a:r>
                        <a:rPr sz="1800" b="0">
                          <a:solidFill>
                            <a:srgbClr val="142C3E"/>
                          </a:solidFill>
                          <a:latin typeface="Arial"/>
                          <a:ea typeface="Arial"/>
                          <a:cs typeface="Arial"/>
                        </a:rPr>
                        <a:t>Research, security and product-owner review</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40495392-B589-4CA1-BC58-5E398F33490C}"/>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61</a:t>
            </a:r>
          </a:p>
        </p:txBody>
      </p:sp>
    </p:spTree>
    <p:extLst>
      <p:ext uri="{BB962C8B-B14F-4D97-AF65-F5344CB8AC3E}">
        <p14:creationId xmlns:p14="http://schemas.microsoft.com/office/powerpoint/2010/main" val="479348220"/>
      </p:ext>
    </p:extLst>
  </p:cSld>
</p:sld>
</file>

<file path=ppt/slides/slide62.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8B9A3C5-C51F-4318-BAC4-570B55361425}"/>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Current evidence and developments</a:t>
            </a:r>
          </a:p>
        </p:txBody>
      </p:sp>
      <p:graphicFrame>
        <p:nvGraphicFramePr>
          <p:cNvPr id="6" name=""/>
          <p:cNvGraphicFramePr/>
          <p:nvPr/>
        </p:nvGraphicFramePr>
        <p:xfrm>
          <a:off xmlns:a="http://schemas.openxmlformats.org/drawingml/2006/main" x="685800" y="1590675"/>
          <a:ext xmlns:a="http://schemas.openxmlformats.org/drawingml/2006/main" cx="10820400" cy="4286250"/>
        </p:xfrm>
        <a:graphic xmlns:a="http://schemas.openxmlformats.org/drawingml/2006/main">
          <a:graphicData uri="http://schemas.openxmlformats.org/drawingml/2006/table">
            <a:tbl>
              <a:tblPr/>
              <a:tblGrid>
                <a:gridCol w="3476625"/>
                <a:gridCol w="7343775"/>
              </a:tblGrid>
              <a:tr h="476250">
                <a:tc>
                  <a:txBody>
                    <a:bodyPr/>
                    <a:lstStyle/>
                    <a:p>
                      <a:r>
                        <a:rPr sz="1800" b="1">
                          <a:solidFill>
                            <a:srgbClr val="FFFFFF"/>
                          </a:solidFill>
                          <a:latin typeface="Arial"/>
                          <a:ea typeface="Arial"/>
                          <a:cs typeface="Arial"/>
                        </a:rPr>
                        <a:t>Source</a:t>
                      </a:r>
                    </a:p>
                  </a:txBody>
                  <a:tcPr marL="91440" marR="91440" marT="45720" marB="45720">
                    <a:solidFill>
                      <a:srgbClr val="102938"/>
                    </a:solidFill>
                  </a:tcPr>
                </a:tc>
                <a:tc>
                  <a:txBody>
                    <a:bodyPr/>
                    <a:lstStyle/>
                    <a:p>
                      <a:r>
                        <a:rPr sz="1800" b="1">
                          <a:solidFill>
                            <a:srgbClr val="FFFFFF"/>
                          </a:solidFill>
                          <a:latin typeface="Arial"/>
                          <a:ea typeface="Arial"/>
                          <a:cs typeface="Arial"/>
                        </a:rPr>
                        <a:t>Relevance</a:t>
                      </a:r>
                    </a:p>
                  </a:txBody>
                  <a:tcPr marL="91440" marR="91440" marT="45720" marB="45720">
                    <a:solidFill>
                      <a:srgbClr val="102938"/>
                    </a:solidFill>
                  </a:tcPr>
                </a:tc>
              </a:tr>
              <a:tr h="762000">
                <a:tc>
                  <a:txBody>
                    <a:bodyPr/>
                    <a:lstStyle/>
                    <a:p>
                      <a:r>
                        <a:rPr sz="1800" b="1">
                          <a:solidFill>
                            <a:srgbClr val="142C3E"/>
                          </a:solidFill>
                          <a:latin typeface="Arial"/>
                          <a:ea typeface="Arial"/>
                          <a:cs typeface="Arial"/>
                        </a:rPr>
                        <a:t>NetBird Draft Mode, September 2026</a:t>
                      </a:r>
                    </a:p>
                  </a:txBody>
                  <a:tcPr marL="91440" marR="91440" marT="45720" marB="45720">
                    <a:solidFill>
                      <a:srgbClr val="FFFFFF"/>
                    </a:solidFill>
                  </a:tcPr>
                </a:tc>
                <a:tc>
                  <a:txBody>
                    <a:bodyPr/>
                    <a:lstStyle/>
                    <a:p>
                      <a:r>
                        <a:rPr sz="1800" b="0">
                          <a:solidFill>
                            <a:srgbClr val="142C3E"/>
                          </a:solidFill>
                          <a:latin typeface="Arial"/>
                          <a:ea typeface="Arial"/>
                          <a:cs typeface="Arial"/>
                        </a:rPr>
                        <a:t>Reviewable changes and policy UX</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NetBird Norsk Helsenett case, August 2026</a:t>
                      </a:r>
                    </a:p>
                  </a:txBody>
                  <a:tcPr marL="91440" marR="91440" marT="45720" marB="45720">
                    <a:solidFill>
                      <a:srgbClr val="EEF3F5"/>
                    </a:solidFill>
                  </a:tcPr>
                </a:tc>
                <a:tc>
                  <a:txBody>
                    <a:bodyPr/>
                    <a:lstStyle/>
                    <a:p>
                      <a:r>
                        <a:rPr sz="1800" b="0">
                          <a:solidFill>
                            <a:srgbClr val="142C3E"/>
                          </a:solidFill>
                          <a:latin typeface="Arial"/>
                          <a:ea typeface="Arial"/>
                          <a:cs typeface="Arial"/>
                        </a:rPr>
                        <a:t>Organisational provisioning and support needs</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AgentFlow, August 2026</a:t>
                      </a:r>
                    </a:p>
                  </a:txBody>
                  <a:tcPr marL="91440" marR="91440" marT="45720" marB="45720">
                    <a:solidFill>
                      <a:srgbClr val="FFFFFF"/>
                    </a:solidFill>
                  </a:tcPr>
                </a:tc>
                <a:tc>
                  <a:txBody>
                    <a:bodyPr/>
                    <a:lstStyle/>
                    <a:p>
                      <a:r>
                        <a:rPr sz="1800" b="0">
                          <a:solidFill>
                            <a:srgbClr val="142C3E"/>
                          </a:solidFill>
                          <a:latin typeface="Arial"/>
                          <a:ea typeface="Arial"/>
                          <a:cs typeface="Arial"/>
                        </a:rPr>
                        <a:t>Policy and data-flow research</a:t>
                      </a:r>
                    </a:p>
                  </a:txBody>
                  <a:tcPr marL="91440" marR="91440" marT="45720" marB="45720">
                    <a:solidFill>
                      <a:srgbClr val="FFFFFF"/>
                    </a:solidFill>
                  </a:tcPr>
                </a:tc>
              </a:tr>
              <a:tr h="762000">
                <a:tc>
                  <a:txBody>
                    <a:bodyPr/>
                    <a:lstStyle/>
                    <a:p>
                      <a:r>
                        <a:rPr sz="1800" b="1">
                          <a:solidFill>
                            <a:srgbClr val="142C3E"/>
                          </a:solidFill>
                          <a:latin typeface="Arial"/>
                          <a:ea typeface="Arial"/>
                          <a:cs typeface="Arial"/>
                        </a:rPr>
                        <a:t>AgentLAB / AMA-Bench, February 2026</a:t>
                      </a:r>
                    </a:p>
                  </a:txBody>
                  <a:tcPr marL="91440" marR="91440" marT="45720" marB="45720">
                    <a:solidFill>
                      <a:srgbClr val="EEF3F5"/>
                    </a:solidFill>
                  </a:tcPr>
                </a:tc>
                <a:tc>
                  <a:txBody>
                    <a:bodyPr/>
                    <a:lstStyle/>
                    <a:p>
                      <a:r>
                        <a:rPr sz="1800" b="0">
                          <a:solidFill>
                            <a:srgbClr val="142C3E"/>
                          </a:solidFill>
                          <a:latin typeface="Arial"/>
                          <a:ea typeface="Arial"/>
                          <a:cs typeface="Arial"/>
                        </a:rPr>
                        <a:t>Long-horizon attacks and memory evaluation</a:t>
                      </a:r>
                    </a:p>
                  </a:txBody>
                  <a:tcPr marL="91440" marR="91440" marT="45720" marB="45720">
                    <a:solidFill>
                      <a:srgbClr val="EEF3F5"/>
                    </a:solidFill>
                  </a:tcPr>
                </a:tc>
              </a:tr>
              <a:tr h="762000">
                <a:tc>
                  <a:txBody>
                    <a:bodyPr/>
                    <a:lstStyle/>
                    <a:p>
                      <a:r>
                        <a:rPr sz="1800" b="1">
                          <a:solidFill>
                            <a:srgbClr val="142C3E"/>
                          </a:solidFill>
                          <a:latin typeface="Arial"/>
                          <a:ea typeface="Arial"/>
                          <a:cs typeface="Arial"/>
                        </a:rPr>
                        <a:t>Field training study, IEEE S&amp;P 2025</a:t>
                      </a:r>
                    </a:p>
                  </a:txBody>
                  <a:tcPr marL="91440" marR="91440" marT="45720" marB="45720">
                    <a:solidFill>
                      <a:srgbClr val="FFFFFF"/>
                    </a:solidFill>
                  </a:tcPr>
                </a:tc>
                <a:tc>
                  <a:txBody>
                    <a:bodyPr/>
                    <a:lstStyle/>
                    <a:p>
                      <a:r>
                        <a:rPr sz="1800" b="0">
                          <a:solidFill>
                            <a:srgbClr val="142C3E"/>
                          </a:solidFill>
                          <a:latin typeface="Arial"/>
                          <a:ea typeface="Arial"/>
                          <a:cs typeface="Arial"/>
                        </a:rPr>
                        <a:t>Controlled evaluation of learning effectiveness</a:t>
                      </a:r>
                    </a:p>
                  </a:txBody>
                  <a:tcPr marL="91440" marR="91440" marT="45720" marB="45720">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D26411E9-EDF0-446D-8197-9E2E5B8B3079}"/>
              </a:ext>
            </a:extLst>
          </p:cNvPr>
          <p:cNvSpPr>
            <a:spLocks xmlns:a="http://schemas.openxmlformats.org/drawingml/2006/main" noGrp="1"/>
          </p:cNvSpPr>
          <p:nvPr/>
        </p:nvSpPr>
        <p:spPr>
          <a:xfrm xmlns:a="http://schemas.openxmlformats.org/drawingml/2006/main">
            <a:off x="704850" y="6000750"/>
            <a:ext cx="10382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574"/>
                </a:solidFill>
                <a:latin typeface="Arial"/>
                <a:ea typeface="Arial"/>
                <a:cs typeface="Arial"/>
              </a:defRPr>
            </a:pPr>
            <a:r>
              <a:rPr sz="1425" b="0">
                <a:solidFill>
                  <a:srgbClr val="566574"/>
                </a:solidFill>
                <a:latin typeface="Arial"/>
                <a:ea typeface="Arial"/>
                <a:cs typeface="Arial"/>
              </a:rPr>
              <a:t>Sources and URLs appear in speaker notes. Vendor cases and preprints retain their limitations.</a:t>
            </a:r>
          </a:p>
        </p:txBody>
      </p:sp>
      <p:sp>
        <p:nvSpPr>
          <p:cNvPr id="4" name="">
            <a:extLst xmlns:a="http://schemas.openxmlformats.org/drawingml/2006/main">
              <a:ext uri="{FF2B5EF4-FFF2-40B4-BE49-F238E27FC236}">
                <a16:creationId xmlns:a16="http://schemas.microsoft.com/office/drawing/2014/main" id="{E94E4CA1-B087-4148-8D67-6C4DFA71E99B}"/>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62</a:t>
            </a:r>
          </a:p>
        </p:txBody>
      </p:sp>
    </p:spTree>
    <p:extLst>
      <p:ext uri="{BB962C8B-B14F-4D97-AF65-F5344CB8AC3E}">
        <p14:creationId xmlns:p14="http://schemas.microsoft.com/office/powerpoint/2010/main" val="1925380636"/>
      </p:ext>
    </p:extLst>
  </p:cSld>
</p:sld>
</file>

<file path=ppt/slides/slide63.xml><?xml version="1.0" encoding="utf-8"?>
<p:sld xmlns:p="http://schemas.openxmlformats.org/presentationml/2006/main">
  <p:cSld>
    <p:bg>
      <p:bgPr>
        <a:solidFill xmlns:a="http://schemas.openxmlformats.org/drawingml/2006/main">
          <a:srgbClr val="F8F9FA"/>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2C797C1-41C9-4830-B1C7-6D66F0C890D3}"/>
              </a:ext>
            </a:extLst>
          </p:cNvPr>
          <p:cNvSpPr>
            <a:spLocks xmlns:a="http://schemas.openxmlformats.org/drawingml/2006/main" noGrp="1"/>
          </p:cNvSpPr>
          <p:nvPr/>
        </p:nvSpPr>
        <p:spPr>
          <a:xfrm xmlns:a="http://schemas.openxmlformats.org/drawingml/2006/main">
            <a:off x="609600" y="409575"/>
            <a:ext cx="10953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E"/>
                </a:solidFill>
                <a:latin typeface="Arial"/>
                <a:ea typeface="Arial"/>
                <a:cs typeface="Arial"/>
              </a:defRPr>
            </a:pPr>
            <a:r>
              <a:rPr sz="3300" b="1">
                <a:solidFill>
                  <a:srgbClr val="142C3E"/>
                </a:solidFill>
                <a:latin typeface="Arial"/>
                <a:ea typeface="Arial"/>
                <a:cs typeface="Arial"/>
              </a:rPr>
              <a:t>Documentation and team follow-through</a:t>
            </a:r>
          </a:p>
        </p:txBody>
      </p:sp>
      <p:sp>
        <p:nvSpPr>
          <p:cNvPr id="2" name="">
            <a:extLst xmlns:a="http://schemas.openxmlformats.org/drawingml/2006/main">
              <a:ext uri="{FF2B5EF4-FFF2-40B4-BE49-F238E27FC236}">
                <a16:creationId xmlns:a16="http://schemas.microsoft.com/office/drawing/2014/main" id="{E66095C8-B4B6-4D51-8014-C381163666F5}"/>
              </a:ext>
            </a:extLst>
          </p:cNvPr>
          <p:cNvSpPr>
            <a:spLocks xmlns:a="http://schemas.openxmlformats.org/drawingml/2006/main" noGrp="1"/>
          </p:cNvSpPr>
          <p:nvPr/>
        </p:nvSpPr>
        <p:spPr>
          <a:xfrm xmlns:a="http://schemas.openxmlformats.org/drawingml/2006/main">
            <a:off x="685800" y="16668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Implementation handbook</a:t>
            </a:r>
          </a:p>
        </p:txBody>
      </p:sp>
      <p:sp>
        <p:nvSpPr>
          <p:cNvPr id="3" name="">
            <a:extLst xmlns:a="http://schemas.openxmlformats.org/drawingml/2006/main">
              <a:ext uri="{FF2B5EF4-FFF2-40B4-BE49-F238E27FC236}">
                <a16:creationId xmlns:a16="http://schemas.microsoft.com/office/drawing/2014/main" id="{042A5942-5153-4D79-8146-A8963CDE7244}"/>
              </a:ext>
            </a:extLst>
          </p:cNvPr>
          <p:cNvSpPr>
            <a:spLocks xmlns:a="http://schemas.openxmlformats.org/drawingml/2006/main" noGrp="1"/>
          </p:cNvSpPr>
          <p:nvPr/>
        </p:nvSpPr>
        <p:spPr>
          <a:xfrm xmlns:a="http://schemas.openxmlformats.org/drawingml/2006/main">
            <a:off x="3905250" y="16668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The index links 19 documents covering product, research and operations.</a:t>
            </a:r>
          </a:p>
        </p:txBody>
      </p:sp>
      <p:sp>
        <p:nvSpPr>
          <p:cNvPr id="4" name="">
            <a:extLst xmlns:a="http://schemas.openxmlformats.org/drawingml/2006/main">
              <a:ext uri="{FF2B5EF4-FFF2-40B4-BE49-F238E27FC236}">
                <a16:creationId xmlns:a16="http://schemas.microsoft.com/office/drawing/2014/main" id="{41AAB4BB-92B8-4CC8-9A5D-712D3B17023F}"/>
              </a:ext>
            </a:extLst>
          </p:cNvPr>
          <p:cNvSpPr>
            <a:spLocks xmlns:a="http://schemas.openxmlformats.org/drawingml/2006/main" noGrp="1"/>
          </p:cNvSpPr>
          <p:nvPr/>
        </p:nvSpPr>
        <p:spPr>
          <a:xfrm xmlns:a="http://schemas.openxmlformats.org/drawingml/2006/main">
            <a:off x="685800" y="26955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Source traceability</a:t>
            </a:r>
          </a:p>
        </p:txBody>
      </p:sp>
      <p:sp>
        <p:nvSpPr>
          <p:cNvPr id="5" name="">
            <a:extLst xmlns:a="http://schemas.openxmlformats.org/drawingml/2006/main">
              <a:ext uri="{FF2B5EF4-FFF2-40B4-BE49-F238E27FC236}">
                <a16:creationId xmlns:a16="http://schemas.microsoft.com/office/drawing/2014/main" id="{10B3F6FE-792E-41B9-B97F-E6B8C24B46D3}"/>
              </a:ext>
            </a:extLst>
          </p:cNvPr>
          <p:cNvSpPr>
            <a:spLocks xmlns:a="http://schemas.openxmlformats.org/drawingml/2006/main" noGrp="1"/>
          </p:cNvSpPr>
          <p:nvPr/>
        </p:nvSpPr>
        <p:spPr>
          <a:xfrm xmlns:a="http://schemas.openxmlformats.org/drawingml/2006/main">
            <a:off x="3905250" y="26955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All 13 layers, five squad products and original work packages have a destination.</a:t>
            </a:r>
          </a:p>
        </p:txBody>
      </p:sp>
      <p:sp>
        <p:nvSpPr>
          <p:cNvPr id="6" name="">
            <a:extLst xmlns:a="http://schemas.openxmlformats.org/drawingml/2006/main">
              <a:ext uri="{FF2B5EF4-FFF2-40B4-BE49-F238E27FC236}">
                <a16:creationId xmlns:a16="http://schemas.microsoft.com/office/drawing/2014/main" id="{37E35CFD-F9D5-4A11-B119-CC9C34B10B04}"/>
              </a:ext>
            </a:extLst>
          </p:cNvPr>
          <p:cNvSpPr>
            <a:spLocks xmlns:a="http://schemas.openxmlformats.org/drawingml/2006/main" noGrp="1"/>
          </p:cNvSpPr>
          <p:nvPr/>
        </p:nvSpPr>
        <p:spPr>
          <a:xfrm xmlns:a="http://schemas.openxmlformats.org/drawingml/2006/main">
            <a:off x="685800" y="37242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Delivery control</a:t>
            </a:r>
          </a:p>
        </p:txBody>
      </p:sp>
      <p:sp>
        <p:nvSpPr>
          <p:cNvPr id="7" name="">
            <a:extLst xmlns:a="http://schemas.openxmlformats.org/drawingml/2006/main">
              <a:ext uri="{FF2B5EF4-FFF2-40B4-BE49-F238E27FC236}">
                <a16:creationId xmlns:a16="http://schemas.microsoft.com/office/drawing/2014/main" id="{BACBF810-531D-4472-BBB1-A106D30C5A57}"/>
              </a:ext>
            </a:extLst>
          </p:cNvPr>
          <p:cNvSpPr>
            <a:spLocks xmlns:a="http://schemas.openxmlformats.org/drawingml/2006/main" noGrp="1"/>
          </p:cNvSpPr>
          <p:nvPr/>
        </p:nvSpPr>
        <p:spPr>
          <a:xfrm xmlns:a="http://schemas.openxmlformats.org/drawingml/2006/main">
            <a:off x="3905250" y="37242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Task IDs, owner roles, dependencies and gate evidence guide implementation.</a:t>
            </a:r>
          </a:p>
        </p:txBody>
      </p:sp>
      <p:sp>
        <p:nvSpPr>
          <p:cNvPr id="8" name="">
            <a:extLst xmlns:a="http://schemas.openxmlformats.org/drawingml/2006/main">
              <a:ext uri="{FF2B5EF4-FFF2-40B4-BE49-F238E27FC236}">
                <a16:creationId xmlns:a16="http://schemas.microsoft.com/office/drawing/2014/main" id="{E433FD60-8695-4689-8AF6-02A945D84537}"/>
              </a:ext>
            </a:extLst>
          </p:cNvPr>
          <p:cNvSpPr>
            <a:spLocks xmlns:a="http://schemas.openxmlformats.org/drawingml/2006/main" noGrp="1"/>
          </p:cNvSpPr>
          <p:nvPr/>
        </p:nvSpPr>
        <p:spPr>
          <a:xfrm xmlns:a="http://schemas.openxmlformats.org/drawingml/2006/main">
            <a:off x="685800" y="4752975"/>
            <a:ext cx="29813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D87"/>
                </a:solidFill>
                <a:latin typeface="Arial"/>
                <a:ea typeface="Arial"/>
                <a:cs typeface="Arial"/>
              </a:defRPr>
            </a:pPr>
            <a:r>
              <a:rPr sz="2025" b="1">
                <a:solidFill>
                  <a:srgbClr val="087D87"/>
                </a:solidFill>
                <a:latin typeface="Arial"/>
                <a:ea typeface="Arial"/>
                <a:cs typeface="Arial"/>
              </a:rPr>
              <a:t>Team cadence</a:t>
            </a:r>
          </a:p>
        </p:txBody>
      </p:sp>
      <p:sp>
        <p:nvSpPr>
          <p:cNvPr id="9" name="">
            <a:extLst xmlns:a="http://schemas.openxmlformats.org/drawingml/2006/main">
              <a:ext uri="{FF2B5EF4-FFF2-40B4-BE49-F238E27FC236}">
                <a16:creationId xmlns:a16="http://schemas.microsoft.com/office/drawing/2014/main" id="{3CA9D1BA-FED5-432B-8B2F-C2214C2B6F92}"/>
              </a:ext>
            </a:extLst>
          </p:cNvPr>
          <p:cNvSpPr>
            <a:spLocks xmlns:a="http://schemas.openxmlformats.org/drawingml/2006/main" noGrp="1"/>
          </p:cNvSpPr>
          <p:nvPr/>
        </p:nvSpPr>
        <p:spPr>
          <a:xfrm xmlns:a="http://schemas.openxmlformats.org/drawingml/2006/main">
            <a:off x="3905250" y="4752975"/>
            <a:ext cx="75533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E"/>
                </a:solidFill>
                <a:latin typeface="Arial"/>
                <a:ea typeface="Arial"/>
                <a:cs typeface="Arial"/>
              </a:defRPr>
            </a:pPr>
            <a:r>
              <a:rPr sz="2100" b="0">
                <a:solidFill>
                  <a:srgbClr val="142C3E"/>
                </a:solidFill>
                <a:latin typeface="Arial"/>
                <a:ea typeface="Arial"/>
                <a:cs typeface="Arial"/>
              </a:rPr>
              <a:t>Two-week product reviews, monthly research/commercial reviews and release sign-off.</a:t>
            </a:r>
          </a:p>
        </p:txBody>
      </p:sp>
      <p:sp>
        <p:nvSpPr>
          <p:cNvPr id="10" name="">
            <a:extLst xmlns:a="http://schemas.openxmlformats.org/drawingml/2006/main">
              <a:ext uri="{FF2B5EF4-FFF2-40B4-BE49-F238E27FC236}">
                <a16:creationId xmlns:a16="http://schemas.microsoft.com/office/drawing/2014/main" id="{A6B8EC95-B2C1-43A0-93B9-7553644C45DD}"/>
              </a:ext>
            </a:extLst>
          </p:cNvPr>
          <p:cNvSpPr>
            <a:spLocks xmlns:a="http://schemas.openxmlformats.org/drawingml/2006/main" noGrp="1"/>
          </p:cNvSpPr>
          <p:nvPr/>
        </p:nvSpPr>
        <p:spPr>
          <a:xfrm xmlns:a="http://schemas.openxmlformats.org/drawingml/2006/main">
            <a:off x="11382375" y="64008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574"/>
                </a:solidFill>
                <a:latin typeface="Arial"/>
                <a:ea typeface="Arial"/>
                <a:cs typeface="Arial"/>
              </a:defRPr>
            </a:pPr>
            <a:r>
              <a:rPr sz="1275" b="0">
                <a:solidFill>
                  <a:srgbClr val="566574"/>
                </a:solidFill>
                <a:latin typeface="Arial"/>
                <a:ea typeface="Arial"/>
                <a:cs typeface="Arial"/>
              </a:rPr>
              <a:t>63</a:t>
            </a:r>
          </a:p>
        </p:txBody>
      </p:sp>
    </p:spTree>
    <p:extLst>
      <p:ext uri="{BB962C8B-B14F-4D97-AF65-F5344CB8AC3E}">
        <p14:creationId xmlns:p14="http://schemas.microsoft.com/office/powerpoint/2010/main" val="2818291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2026-09-18T16:20:17.4930000Z</dcterms:created>
  <dcterms:modified xsi:type="dcterms:W3CDTF">2026-09-18T16:20:17.4940000Z</dcterms:modified>
</coreProperties>
</file>